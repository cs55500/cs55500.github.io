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1456" r:id="rId3"/>
    <p:sldId id="1400" r:id="rId4"/>
    <p:sldId id="3227" r:id="rId5"/>
    <p:sldId id="3228" r:id="rId6"/>
    <p:sldId id="1418" r:id="rId7"/>
    <p:sldId id="3229" r:id="rId8"/>
    <p:sldId id="3230" r:id="rId9"/>
    <p:sldId id="1501" r:id="rId10"/>
    <p:sldId id="1507" r:id="rId11"/>
    <p:sldId id="1508" r:id="rId12"/>
    <p:sldId id="1403" r:id="rId13"/>
    <p:sldId id="3232" r:id="rId14"/>
    <p:sldId id="1294" r:id="rId15"/>
    <p:sldId id="1273" r:id="rId16"/>
    <p:sldId id="1428" r:id="rId17"/>
    <p:sldId id="1502" r:id="rId18"/>
    <p:sldId id="3233" r:id="rId19"/>
    <p:sldId id="1347" r:id="rId20"/>
    <p:sldId id="1505" r:id="rId21"/>
    <p:sldId id="1506" r:id="rId22"/>
    <p:sldId id="4009" r:id="rId23"/>
    <p:sldId id="1350" r:id="rId24"/>
    <p:sldId id="1504" r:id="rId25"/>
    <p:sldId id="1509" r:id="rId26"/>
    <p:sldId id="675" r:id="rId27"/>
    <p:sldId id="676" r:id="rId28"/>
    <p:sldId id="1510" r:id="rId29"/>
    <p:sldId id="677" r:id="rId30"/>
    <p:sldId id="736" r:id="rId31"/>
    <p:sldId id="1511" r:id="rId32"/>
    <p:sldId id="3258" r:id="rId33"/>
    <p:sldId id="3990" r:id="rId34"/>
    <p:sldId id="4003" r:id="rId35"/>
    <p:sldId id="4002" r:id="rId36"/>
    <p:sldId id="4008" r:id="rId37"/>
    <p:sldId id="4001" r:id="rId38"/>
    <p:sldId id="1497" r:id="rId39"/>
    <p:sldId id="1512" r:id="rId40"/>
    <p:sldId id="3256" r:id="rId41"/>
    <p:sldId id="325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997"/>
    <p:restoredTop sz="82695"/>
  </p:normalViewPr>
  <p:slideViewPr>
    <p:cSldViewPr snapToGrid="0">
      <p:cViewPr varScale="1">
        <p:scale>
          <a:sx n="88" d="100"/>
          <a:sy n="88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EF505-6EAF-FB49-A762-3623A236B6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EE442-FF26-4249-9E11-24F08F9FD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8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same kind of problems with </a:t>
            </a:r>
            <a:r>
              <a:rPr lang="en-US" baseline="0" dirty="0" err="1"/>
              <a:t>fhe</a:t>
            </a:r>
            <a:endParaRPr lang="en-US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9D860B-1DDC-4E03-B271-7CC96398A2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99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iteration is incorrect because you only recover </a:t>
            </a:r>
            <a:r>
              <a:rPr lang="en-US" dirty="0" err="1"/>
              <a:t>e+m</a:t>
            </a:r>
            <a:r>
              <a:rPr lang="en-US" dirty="0"/>
              <a:t> upon decrypting</a:t>
            </a:r>
          </a:p>
          <a:p>
            <a:r>
              <a:rPr lang="en-US" dirty="0"/>
              <a:t>Solution: “error correct” or “make sure that m is a large number compared to 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C13DC-EB30-4E7B-9A79-FF6A33A169FE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0755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C9D860B-1DDC-4E03-B271-7CC96398A2A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93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C9D860B-1DDC-4E03-B271-7CC96398A2A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77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C9D860B-1DDC-4E03-B271-7CC96398A2A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472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640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212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9975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665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042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249"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37742066" indent="-37287152" defTabSz="908249"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2pPr>
            <a:lvl3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3pPr>
            <a:lvl4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4pPr>
            <a:lvl5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454914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909828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1364742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1819656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marL="0" marR="0" lvl="0" indent="0" algn="r" defTabSz="90824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5EB689-7D14-4F7D-9C4A-FA78C5284BC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w York" charset="0"/>
                <a:ea typeface="ＭＳ Ｐゴシック" pitchFamily="34" charset="-128"/>
                <a:cs typeface="Arial" charset="0"/>
              </a:rPr>
              <a:pPr marL="0" marR="0" lvl="0" indent="0" algn="r" defTabSz="90824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 York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7712" cy="34178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2" y="4342017"/>
            <a:ext cx="5027096" cy="411598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Comic Sans MS" pitchFamily="66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637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249"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1pPr>
            <a:lvl2pPr marL="37742066" indent="-37287152" defTabSz="908249"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2pPr>
            <a:lvl3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3pPr>
            <a:lvl4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4pPr>
            <a:lvl5pPr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5pPr>
            <a:lvl6pPr marL="454914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6pPr>
            <a:lvl7pPr marL="909828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7pPr>
            <a:lvl8pPr marL="1364742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8pPr>
            <a:lvl9pPr marL="1819656" eaLnBrk="0" fontAlgn="base" hangingPunct="0">
              <a:spcBef>
                <a:spcPct val="0"/>
              </a:spcBef>
              <a:spcAft>
                <a:spcPct val="0"/>
              </a:spcAft>
              <a:defRPr sz="2400" baseline="30000">
                <a:solidFill>
                  <a:srgbClr val="00279F"/>
                </a:solidFill>
                <a:latin typeface="Comic Sans MS" pitchFamily="66" charset="0"/>
                <a:ea typeface="ＭＳ Ｐゴシック" pitchFamily="34" charset="-128"/>
              </a:defRPr>
            </a:lvl9pPr>
          </a:lstStyle>
          <a:p>
            <a:pPr marL="0" marR="0" lvl="0" indent="0" algn="r" defTabSz="90824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5EB689-7D14-4F7D-9C4A-FA78C5284BC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w York" charset="0"/>
                <a:ea typeface="ＭＳ Ｐゴシック" pitchFamily="34" charset="-128"/>
                <a:cs typeface="Arial" charset="0"/>
              </a:rPr>
              <a:pPr marL="0" marR="0" lvl="0" indent="0" algn="r" defTabSz="908249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ew York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2150"/>
            <a:ext cx="6075362" cy="34178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452" y="4342017"/>
            <a:ext cx="5027096" cy="411598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Comic Sans MS" pitchFamily="66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8987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n is a security parameter</a:t>
            </a:r>
            <a:endParaRPr lang="en-CA" altLang="en-US">
              <a:latin typeface="Arial" panose="020B0604020202020204" pitchFamily="34" charset="0"/>
            </a:endParaRPr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8476F9-B6DC-4424-AFD5-983D28E74F3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593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43AA87-90BF-49A7-94A5-EF67FCE1416B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273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>
            <a:extLst>
              <a:ext uri="{FF2B5EF4-FFF2-40B4-BE49-F238E27FC236}">
                <a16:creationId xmlns:a16="http://schemas.microsoft.com/office/drawing/2014/main" id="{6AAC548C-5E95-E143-BBC7-25628C5596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>
            <a:extLst>
              <a:ext uri="{FF2B5EF4-FFF2-40B4-BE49-F238E27FC236}">
                <a16:creationId xmlns:a16="http://schemas.microsoft.com/office/drawing/2014/main" id="{008BB0B6-FAC3-0646-819D-3BEB55003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3908" name="Slide Number Placeholder 3">
            <a:extLst>
              <a:ext uri="{FF2B5EF4-FFF2-40B4-BE49-F238E27FC236}">
                <a16:creationId xmlns:a16="http://schemas.microsoft.com/office/drawing/2014/main" id="{D45F985D-1BCB-3640-9B08-BC9FE310D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127F41-FB7C-3840-ABBB-C68D7061CDB3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57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41F526E8-BA04-924F-BFA7-88DD62A9D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03250D8B-39AB-834A-B19B-DA1EDBCA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F458112B-CCE9-C04A-B15F-5354FCB86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88E94-D565-FA4F-91DA-7086B6D53B3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682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41F526E8-BA04-924F-BFA7-88DD62A9D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03250D8B-39AB-834A-B19B-DA1EDBCA4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F458112B-CCE9-C04A-B15F-5354FCB86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888E94-D565-FA4F-91DA-7086B6D53B3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268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>
            <a:extLst>
              <a:ext uri="{FF2B5EF4-FFF2-40B4-BE49-F238E27FC236}">
                <a16:creationId xmlns:a16="http://schemas.microsoft.com/office/drawing/2014/main" id="{596F8DAA-FA33-8949-A028-DE41A644D4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>
            <a:extLst>
              <a:ext uri="{FF2B5EF4-FFF2-40B4-BE49-F238E27FC236}">
                <a16:creationId xmlns:a16="http://schemas.microsoft.com/office/drawing/2014/main" id="{529B7059-7F9C-EF47-B008-DDC4EB99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5956" name="Slide Number Placeholder 3">
            <a:extLst>
              <a:ext uri="{FF2B5EF4-FFF2-40B4-BE49-F238E27FC236}">
                <a16:creationId xmlns:a16="http://schemas.microsoft.com/office/drawing/2014/main" id="{EBDBA524-EF2B-6B41-BFA2-5C737C5FC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926212-B4A6-DE42-B245-9A0AE536AE40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0690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EB5814E3-8F65-B844-A2DE-45D370305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1BFD3F9D-FDA7-1844-8A3E-E7EA06C14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BB7FBC11-DBB4-0940-AE0D-CEB696FBA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C2325-F8ED-7348-B527-6D441C7FCBE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334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EB5814E3-8F65-B844-A2DE-45D370305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1BFD3F9D-FDA7-1844-8A3E-E7EA06C14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BB7FBC11-DBB4-0940-AE0D-CEB696FBA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C2325-F8ED-7348-B527-6D441C7FCBE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758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EB5814E3-8F65-B844-A2DE-45D370305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1BFD3F9D-FDA7-1844-8A3E-E7EA06C14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BB7FBC11-DBB4-0940-AE0D-CEB696FBA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5C2325-F8ED-7348-B527-6D441C7FCBE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01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293B7-C54E-4CA1-A045-A8C2DD1C01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862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293B7-C54E-4CA1-A045-A8C2DD1C01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875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293B7-C54E-4CA1-A045-A8C2DD1C01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8806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293B7-C54E-4CA1-A045-A8C2DD1C01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649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A293B7-C54E-4CA1-A045-A8C2DD1C01E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1566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784DC5D4-8A52-0D4C-8F25-48E9A83473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A1303DE0-3159-FC4E-A1DE-03CC4AE1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05CB8FBF-7022-4142-9355-C4A322F4C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1FAF26-30AD-1E4B-A6FF-AEE3AA71FA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5585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784DC5D4-8A52-0D4C-8F25-48E9A83473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A1303DE0-3159-FC4E-A1DE-03CC4AE1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05CB8FBF-7022-4142-9355-C4A322F4C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1FAF26-30AD-1E4B-A6FF-AEE3AA71FA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068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784DC5D4-8A52-0D4C-8F25-48E9A83473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A1303DE0-3159-FC4E-A1DE-03CC4AE1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05CB8FBF-7022-4142-9355-C4A322F4C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1FAF26-30AD-1E4B-A6FF-AEE3AA71FA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7716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784DC5D4-8A52-0D4C-8F25-48E9A83473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A1303DE0-3159-FC4E-A1DE-03CC4AE1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CA" altLang="en-US" dirty="0">
              <a:latin typeface="Arial" panose="020B0604020202020204" pitchFamily="34" charset="0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05CB8FBF-7022-4142-9355-C4A322F4C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1FAF26-30AD-1E4B-A6FF-AEE3AA71FA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77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050-01B2-37F8-373D-B64596BC9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A97C6-0EF9-8C7F-76FA-BDBDD0063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9A3DA-BDD6-2ADC-2EF2-CC3DCABA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A4BDF-32C9-5A8F-7547-9B6F2E14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05C4-57D2-2419-BC2E-5A7EB55D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1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71EB-EFD9-94EF-E1EA-6DE00D26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F61DC-2E54-CA73-0208-3B68CC702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E79D6-7D9F-4141-B140-A5C1D046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56E8C-11B1-819B-8323-BC248634D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6DDE6-A837-DE9D-E87E-7875FB0B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75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EE15-3A02-B021-661C-67E86CDD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6AEE1-7B25-B002-5DDA-571BC0B8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75105-D48C-35A0-A260-06018BC1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F7A1E-892A-39DD-AEF8-13F2E2B9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AE0C5-A382-4F2F-A346-019C7B63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74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0B2E1-1C3A-A301-979A-D02799B1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A747-0DF4-6B1B-1943-AA3190145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9BE52-4488-4817-911D-F666ED34B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F6E93-D42E-CEDA-4FAE-EB0288659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75133-320C-9555-99D5-54717D0E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57D41-93DB-1EC4-5A39-1E076162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8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189E-4A6A-14FC-2B83-7807974A9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FB5CA-38A6-7668-F76B-86B79992B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A1988-0428-6DEA-5350-28A8F1A8E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B36BE7-B202-BA99-83AE-E9B8B89FA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D94B8-D1A6-17A9-5004-0A1294D10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CFF401-FFBE-F31C-DF4D-91CED0F3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E590C-5149-0079-4E31-38B344A8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ADA1B-8FA3-07FC-CBFA-37E3AF82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5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A624-BC42-6ED6-F1DA-E6A39368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393AD-5264-A917-41DC-49A28479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74E13-6E2F-0688-3F40-27C641F3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8D6C3-FD94-5CD1-A07E-6F8946F09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6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DC785-81A4-9BCF-20FF-982ADCEA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02103-9930-D049-2738-DE773CB1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522C7-787A-0C3D-E76B-30F3FDED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26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7136-8B86-17E6-D5F8-BC27C2ED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C6AA-09AB-431A-7F65-75311BD9A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180B9-0CD4-AFE0-D582-C64088051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F22BA-C36A-9964-0BD8-8750C67F5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95639-F09C-7C0F-F59A-F66B7F15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A49E0-B55B-14D9-04FE-F26FFADB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C7A7-E2DA-1A48-4204-35048E2F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6FFA6-46DD-BA2E-8F84-1F971144F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AA6F9-F40F-7CD7-B14B-1899D4753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819A6-9025-F679-E064-ADD23B60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ECC58-8BB3-04E3-E73E-8FC9C9199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9D8B5-26EF-699B-DEC1-A9747CBF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0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3710-7953-413E-A729-A66BEC85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BCA2D-BC4E-B1F8-D383-10D447F7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C0CA8-F00D-EFE1-B580-EB78A3F9D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8ABF2-E15F-77D6-FACE-9080DB75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E4C9B-2891-967B-D948-8239812E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59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8445A-220F-6B86-0A9B-1F7BCB60D1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709EB-F95D-B839-1C67-25CDB8DE0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5C9BD-1C84-B0B9-66A1-C7BEED10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35827-B101-B8DF-3CE9-9DEBD4B3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28A1-B0C5-6232-42A2-99187D7D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21D671-6389-2B32-BFDD-7D8EFC13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885C4-555D-ED68-52ED-C153B2186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D8EED-6EF5-465C-2533-8DA435E02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DCA05-C01A-464A-B4FC-AD243AD53EE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2747C-1114-BCFC-E4EA-B1D1A14C7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61DD-D476-EAAA-5646-E00B0D79D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FD5FD-9941-8641-A42C-3B9A9E008B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s55500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gif"/><Relationship Id="rId9" Type="http://schemas.openxmlformats.org/officeDocument/2006/relationships/image" Target="../media/image8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2.png"/><Relationship Id="rId4" Type="http://schemas.openxmlformats.org/officeDocument/2006/relationships/image" Target="../media/image9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95.png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97.jpeg"/><Relationship Id="rId10" Type="http://schemas.openxmlformats.org/officeDocument/2006/relationships/image" Target="NULL"/><Relationship Id="rId4" Type="http://schemas.openxmlformats.org/officeDocument/2006/relationships/image" Target="../media/image96.png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jpe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jpe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8DBD-4C8F-ADB2-3054-869B80709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743765"/>
            <a:ext cx="100584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Purdue CS555: </a:t>
            </a:r>
            <a:r>
              <a:rPr lang="en-US" dirty="0"/>
              <a:t>Cryptography</a:t>
            </a:r>
            <a:br>
              <a:rPr lang="en-US" dirty="0"/>
            </a:br>
            <a:r>
              <a:rPr lang="en-US" dirty="0"/>
              <a:t>Lecture 23 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https://65610.csail.mit.edu/2024/</a:t>
            </a:r>
            <a:r>
              <a:rPr lang="en-US" sz="2400" dirty="0" err="1"/>
              <a:t>lec</a:t>
            </a:r>
            <a:r>
              <a:rPr lang="en-US" sz="2400" dirty="0"/>
              <a:t>/l08-fhe.pdf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25513-29FC-0E55-1D49-6505414EF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en-US" dirty="0"/>
              <a:t>Instructor: Hanshen Xiao</a:t>
            </a:r>
          </a:p>
          <a:p>
            <a:r>
              <a:rPr lang="en-US" dirty="0"/>
              <a:t>Teaching Assistant: Justin He</a:t>
            </a:r>
          </a:p>
          <a:p>
            <a:r>
              <a:rPr lang="en-US" dirty="0"/>
              <a:t>course website: </a:t>
            </a:r>
            <a:r>
              <a:rPr lang="en-US" dirty="0">
                <a:hlinkClick r:id="rId2"/>
              </a:rPr>
              <a:t>https://cs55500.github.io/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0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title"/>
          </p:nvPr>
        </p:nvSpPr>
        <p:spPr>
          <a:xfrm>
            <a:off x="1828800" y="152400"/>
            <a:ext cx="8610600" cy="1143000"/>
          </a:xfrm>
        </p:spPr>
        <p:txBody>
          <a:bodyPr/>
          <a:lstStyle/>
          <a:p>
            <a:r>
              <a:rPr lang="en-US" sz="4800" b="1" dirty="0">
                <a:latin typeface="Calibri" pitchFamily="34" charset="0"/>
              </a:rPr>
              <a:t>OWF and PRG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833707" y="1690255"/>
            <a:ext cx="4590047" cy="938626"/>
            <a:chOff x="-812990" y="4944212"/>
            <a:chExt cx="4590047" cy="938626"/>
          </a:xfrm>
        </p:grpSpPr>
        <p:sp>
          <p:nvSpPr>
            <p:cNvPr id="28" name="Rounded Rectangle 27"/>
            <p:cNvSpPr/>
            <p:nvPr/>
          </p:nvSpPr>
          <p:spPr>
            <a:xfrm>
              <a:off x="-812990" y="4944212"/>
              <a:ext cx="4243494" cy="93862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CA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-566343" y="5021176"/>
              <a:ext cx="4343400" cy="726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36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g</a:t>
              </a:r>
              <a:r>
                <a:rPr lang="en-US" sz="3600" baseline="-250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A</a:t>
              </a:r>
              <a:r>
                <a:rPr lang="en-US" sz="3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(</a:t>
              </a:r>
              <a:r>
                <a:rPr lang="en-US" sz="36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s,e</a:t>
              </a:r>
              <a:r>
                <a:rPr lang="en-US" sz="3600" dirty="0">
                  <a:solidFill>
                    <a:srgbClr val="000000"/>
                  </a:solidFill>
                  <a:latin typeface="Arial" charset="0"/>
                  <a:cs typeface="Arial" charset="0"/>
                </a:rPr>
                <a:t>) = </a:t>
              </a:r>
              <a:r>
                <a:rPr lang="en-US" sz="3600" b="1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As</a:t>
              </a:r>
              <a:r>
                <a:rPr lang="en-US" sz="3600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+</a:t>
              </a:r>
              <a:r>
                <a:rPr lang="en-US" sz="3200" i="1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e</a:t>
              </a:r>
              <a:endParaRPr lang="en-US" sz="3600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828800" y="3789040"/>
            <a:ext cx="899160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 err="1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  <a:r>
              <a:rPr lang="en-US" sz="2800" baseline="-25000" dirty="0" err="1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 is a one-way function (assuming LWE)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 err="1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  <a:r>
              <a:rPr lang="en-US" sz="2800" baseline="-25000" dirty="0" err="1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 is a pseudo-random generator (decisional LWE)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  <a:r>
              <a:rPr lang="en-US" sz="2800" baseline="-25000" dirty="0" err="1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charset="0"/>
                <a:cs typeface="Arial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s also a trapdoor function…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Arial" charset="0"/>
                <a:cs typeface="Arial" charset="0"/>
              </a:rPr>
              <a:t>also a homomorphic commitment…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69B38C-1641-DB40-97A1-1160811F0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6779" y="3227304"/>
                <a:ext cx="4610100" cy="457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/>
                      </a:rPr>
                      <m:t>𝒆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charset="0"/>
                    <a:cs typeface="Arial" charset="0"/>
                  </a:rPr>
                  <a:t>: random “small” error vector)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69B38C-1641-DB40-97A1-1160811F0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6779" y="3227304"/>
                <a:ext cx="4610100" cy="457199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431E64-3AAC-1F49-9CD5-E855A7A2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1765" y="2795137"/>
                <a:ext cx="4332174" cy="4571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(</a:t>
                </a:r>
                <a:r>
                  <a:rPr lang="en-US" sz="1600" b="1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A</a:t>
                </a:r>
                <a:r>
                  <a:rPr lang="en-US" sz="16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𝑛𝑋𝑚</m:t>
                        </m:r>
                      </m:sup>
                    </m:sSubSup>
                  </m:oMath>
                </a14:m>
                <a:endParaRPr lang="en-US" sz="1600" dirty="0">
                  <a:solidFill>
                    <a:srgbClr val="000000"/>
                  </a:solidFill>
                  <a:latin typeface="Arial" charset="0"/>
                  <a:ea typeface="Cambria Math" panose="02040503050406030204" pitchFamily="18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b="1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s</a:t>
                </a:r>
                <a:r>
                  <a:rPr lang="en-US" sz="16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rgbClr val="000000"/>
                    </a:solidFill>
                    <a:latin typeface="Arial" charset="0"/>
                    <a:cs typeface="Arial" charset="0"/>
                  </a:rPr>
                  <a:t> random “small” secret vector   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E431E64-3AAC-1F49-9CD5-E855A7A2F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765" y="2795137"/>
                <a:ext cx="4332174" cy="457199"/>
              </a:xfrm>
              <a:prstGeom prst="rect">
                <a:avLst/>
              </a:prstGeom>
              <a:blipFill>
                <a:blip r:embed="rId4"/>
                <a:stretch>
                  <a:fillRect l="-877" t="-21622" b="-270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213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274638"/>
            <a:ext cx="90678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</a:rPr>
              <a:t>Basic (Secret-key) Encryption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2133600" y="2061369"/>
                <a:ext cx="8458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Secret key </a:t>
                </a:r>
                <a:r>
                  <a:rPr lang="en-US" sz="2400" dirty="0" err="1">
                    <a:solidFill>
                      <a:srgbClr val="000000"/>
                    </a:solidFill>
                    <a:latin typeface="Arial"/>
                    <a:cs typeface="Arial"/>
                  </a:rPr>
                  <a:t>sk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 = Uniformly random vector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  <a:cs typeface="Arial"/>
                  </a:rPr>
                  <a:t>s</a:t>
                </a:r>
                <a:r>
                  <a:rPr lang="en-US" sz="24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𝑞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𝑛</m:t>
                        </m:r>
                      </m:sup>
                    </m:sSubSup>
                  </m:oMath>
                </a14:m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2061369"/>
                <a:ext cx="8458200" cy="571500"/>
              </a:xfrm>
              <a:prstGeom prst="rect">
                <a:avLst/>
              </a:prstGeom>
              <a:blipFill>
                <a:blip r:embed="rId3"/>
                <a:stretch>
                  <a:fillRect l="-1049" t="-217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2133600" y="2514600"/>
                <a:ext cx="8458200" cy="2209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80000"/>
                  </a:lnSpc>
                  <a:buNone/>
                  <a:defRPr/>
                </a:pPr>
                <a:endParaRPr lang="en-US" sz="2000" dirty="0">
                  <a:solidFill>
                    <a:srgbClr val="000000"/>
                  </a:solidFill>
                  <a:latin typeface="Arial"/>
                  <a:cs typeface="Arial"/>
                </a:endParaRPr>
              </a:p>
              <a:p>
                <a:pPr lvl="0"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Encryption </a:t>
                </a:r>
                <a:r>
                  <a:rPr lang="en-US" sz="2400" dirty="0" err="1">
                    <a:solidFill>
                      <a:srgbClr val="000000"/>
                    </a:solidFill>
                    <a:latin typeface="Arial"/>
                    <a:cs typeface="Arial"/>
                  </a:rPr>
                  <a:t>Enc</a:t>
                </a:r>
                <a:r>
                  <a:rPr lang="en-US" sz="2400" b="1" baseline="-25000" dirty="0" err="1">
                    <a:solidFill>
                      <a:srgbClr val="000000"/>
                    </a:solidFill>
                    <a:latin typeface="Arial"/>
                    <a:cs typeface="Arial"/>
                  </a:rPr>
                  <a:t>s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𝜇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):  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/>
                  </a:rPr>
                  <a:t>//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𝜇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 {0,1}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/>
                  </a:rPr>
                  <a:t> </a:t>
                </a:r>
                <a:b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</a:br>
                <a:r>
                  <a:rPr lang="en-US" sz="2000" dirty="0">
                    <a:solidFill>
                      <a:srgbClr val="000000"/>
                    </a:solidFill>
                    <a:latin typeface="Arial"/>
                    <a:cs typeface="Arial"/>
                  </a:rPr>
                  <a:t>	</a:t>
                </a:r>
              </a:p>
              <a:p>
                <a:pPr lvl="1"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Sample uniformly random 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  <a:cs typeface="Arial"/>
                  </a:rPr>
                  <a:t>a</a:t>
                </a:r>
                <a:r>
                  <a:rPr lang="en-US" sz="2400" b="1" i="1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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𝑞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itchFamily="18" charset="2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, “small” noise e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  <a:cs typeface="Arial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</a:t>
                </a:r>
                <a:r>
                  <a:rPr lang="en-US" sz="2400" b="1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itchFamily="18" charset="2"/>
                      </a:rPr>
                      <m:t>𝑍</m:t>
                    </m:r>
                  </m:oMath>
                </a14:m>
                <a:br>
                  <a:rPr lang="en-US" sz="2400" baseline="-25000" dirty="0">
                    <a:solidFill>
                      <a:srgbClr val="000000"/>
                    </a:solidFill>
                    <a:latin typeface="Arial"/>
                    <a:cs typeface="Arial"/>
                  </a:rPr>
                </a:b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 </a:t>
                </a:r>
              </a:p>
              <a:p>
                <a:pPr lvl="1"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The ciphertext 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 =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dirty="0">
                    <a:solidFill>
                      <a:srgbClr val="0000FF"/>
                    </a:solidFill>
                    <a:latin typeface="Arial"/>
                    <a:cs typeface="Arial"/>
                  </a:rPr>
                  <a:t>(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a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, b = 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  <a:sym typeface="Symbol" pitchFamily="18" charset="2"/>
                  </a:rPr>
                  <a:t>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a, s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  <a:sym typeface="Symbol" pitchFamily="18" charset="2"/>
                  </a:rPr>
                  <a:t>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+ e +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𝜇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  <a:latin typeface="Arial"/>
                    <a:cs typeface="Arial"/>
                  </a:rPr>
                  <a:t>)</a:t>
                </a:r>
                <a:endParaRPr lang="en-US" sz="2000" b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3600" y="2514600"/>
                <a:ext cx="8458200" cy="2209800"/>
              </a:xfrm>
              <a:prstGeom prst="rect">
                <a:avLst/>
              </a:prstGeom>
              <a:blipFill>
                <a:blip r:embed="rId4"/>
                <a:stretch>
                  <a:fillRect l="-1049" b="-5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6" name="Rectangle 5"/>
          <p:cNvSpPr>
            <a:spLocks noChangeArrowheads="1"/>
          </p:cNvSpPr>
          <p:nvPr/>
        </p:nvSpPr>
        <p:spPr bwMode="auto">
          <a:xfrm>
            <a:off x="2057400" y="1905000"/>
            <a:ext cx="8305800" cy="47244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879976" y="1524000"/>
            <a:ext cx="4786436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1800" dirty="0">
                <a:solidFill>
                  <a:srgbClr val="000000"/>
                </a:solidFill>
                <a:latin typeface="Arial"/>
                <a:cs typeface="Arial"/>
              </a:rPr>
              <a:t>n = security parameter, q = “small” modulus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78468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[Regev05]</a:t>
            </a:r>
            <a:endParaRPr 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133600" y="5143500"/>
            <a:ext cx="84582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Decryption</a:t>
            </a: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"/>
                <a:cs typeface="Arial"/>
              </a:rPr>
              <a:t>Dec</a:t>
            </a:r>
            <a:r>
              <a:rPr lang="en-US" sz="2400" baseline="-25000" dirty="0" err="1">
                <a:solidFill>
                  <a:srgbClr val="000000"/>
                </a:solidFill>
                <a:latin typeface="Arial"/>
                <a:cs typeface="Arial"/>
              </a:rPr>
              <a:t>sk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c</a:t>
            </a: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): Output </a:t>
            </a:r>
            <a:r>
              <a:rPr lang="en-US" sz="2400" dirty="0" err="1">
                <a:solidFill>
                  <a:srgbClr val="0000FF"/>
                </a:solidFill>
                <a:latin typeface="Arial"/>
                <a:cs typeface="Arial"/>
              </a:rPr>
              <a:t>Round</a:t>
            </a:r>
            <a:r>
              <a:rPr lang="en-US" sz="2400" baseline="-25000" dirty="0" err="1">
                <a:solidFill>
                  <a:srgbClr val="0000FF"/>
                </a:solidFill>
                <a:latin typeface="Arial"/>
                <a:cs typeface="Arial"/>
              </a:rPr>
              <a:t>q</a:t>
            </a:r>
            <a:r>
              <a:rPr lang="en-US" sz="2400" baseline="-25000" dirty="0">
                <a:solidFill>
                  <a:srgbClr val="0000FF"/>
                </a:solidFill>
                <a:latin typeface="Arial"/>
                <a:cs typeface="Arial"/>
              </a:rPr>
              <a:t>/2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(b − </a:t>
            </a:r>
            <a:r>
              <a:rPr lang="en-US" sz="2400" b="1" dirty="0">
                <a:solidFill>
                  <a:srgbClr val="0000FF"/>
                </a:solidFill>
                <a:latin typeface="Arial"/>
                <a:cs typeface="Arial"/>
                <a:sym typeface="Symbol" pitchFamily="18" charset="2"/>
              </a:rPr>
              <a:t></a:t>
            </a:r>
            <a:r>
              <a:rPr lang="en-US" sz="2400" b="1" dirty="0">
                <a:solidFill>
                  <a:srgbClr val="0000FF"/>
                </a:solidFill>
                <a:latin typeface="Arial"/>
                <a:cs typeface="Arial"/>
              </a:rPr>
              <a:t>a, s</a:t>
            </a:r>
            <a:r>
              <a:rPr lang="en-US" sz="2400" b="1" dirty="0">
                <a:solidFill>
                  <a:srgbClr val="0000FF"/>
                </a:solidFill>
                <a:latin typeface="Arial"/>
                <a:cs typeface="Arial"/>
                <a:sym typeface="Symbol" pitchFamily="18" charset="2"/>
              </a:rPr>
              <a:t> </a:t>
            </a:r>
            <a:r>
              <a:rPr lang="en-US" sz="2400" dirty="0">
                <a:solidFill>
                  <a:srgbClr val="0000FF"/>
                </a:solidFill>
                <a:latin typeface="Arial"/>
                <a:cs typeface="Arial"/>
                <a:sym typeface="Symbol" pitchFamily="18" charset="2"/>
              </a:rPr>
              <a:t>mod q)</a:t>
            </a:r>
            <a:endParaRPr lang="en-US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819400" y="6096000"/>
            <a:ext cx="5410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// correctness as long as |e| &lt; q/4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3ADFD7-AEDE-494D-8E6B-44C5ACC1DA5D}"/>
              </a:ext>
            </a:extLst>
          </p:cNvPr>
          <p:cNvSpPr/>
          <p:nvPr/>
        </p:nvSpPr>
        <p:spPr>
          <a:xfrm>
            <a:off x="8229600" y="4149080"/>
            <a:ext cx="67471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A9D7A-7585-1C41-A5EE-070FF2CA6715}"/>
              </a:ext>
            </a:extLst>
          </p:cNvPr>
          <p:cNvSpPr/>
          <p:nvPr/>
        </p:nvSpPr>
        <p:spPr>
          <a:xfrm>
            <a:off x="6376786" y="5445224"/>
            <a:ext cx="123138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8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Grp="1" noChangeArrowheads="1"/>
          </p:cNvSpPr>
          <p:nvPr>
            <p:ph type="title"/>
          </p:nvPr>
        </p:nvSpPr>
        <p:spPr>
          <a:xfrm>
            <a:off x="983432" y="2132856"/>
            <a:ext cx="10363200" cy="172819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891637"/>
                </a:solidFill>
                <a:latin typeface="Calibri" pitchFamily="34" charset="0"/>
              </a:rPr>
              <a:t>Homomorphic Encryption</a:t>
            </a:r>
          </a:p>
        </p:txBody>
      </p:sp>
    </p:spTree>
    <p:extLst>
      <p:ext uri="{BB962C8B-B14F-4D97-AF65-F5344CB8AC3E}">
        <p14:creationId xmlns:p14="http://schemas.microsoft.com/office/powerpoint/2010/main" val="192647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44624"/>
            <a:ext cx="10363200" cy="1143000"/>
          </a:xfrm>
        </p:spPr>
        <p:txBody>
          <a:bodyPr/>
          <a:lstStyle/>
          <a:p>
            <a:r>
              <a:rPr lang="en-US" b="1" dirty="0">
                <a:solidFill>
                  <a:srgbClr val="891637"/>
                </a:solidFill>
                <a:latin typeface="Calibri" pitchFamily="34" charset="0"/>
              </a:rPr>
              <a:t>Application 1. Secure Outsourcing</a:t>
            </a:r>
          </a:p>
        </p:txBody>
      </p:sp>
      <p:pic>
        <p:nvPicPr>
          <p:cNvPr id="3" name="Picture 3" descr="stick">
            <a:extLst>
              <a:ext uri="{FF2B5EF4-FFF2-40B4-BE49-F238E27FC236}">
                <a16:creationId xmlns:a16="http://schemas.microsoft.com/office/drawing/2014/main" id="{99CCD26A-0A19-1D44-9BF1-C52B56A06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85" y="2151112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3" descr="Cloud 06">
            <a:extLst>
              <a:ext uri="{FF2B5EF4-FFF2-40B4-BE49-F238E27FC236}">
                <a16:creationId xmlns:a16="http://schemas.microsoft.com/office/drawing/2014/main" id="{6950B334-2687-DF40-B1DD-0ACB81D9B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984" y="2074913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 descr="TAC TowerDrive">
            <a:extLst>
              <a:ext uri="{FF2B5EF4-FFF2-40B4-BE49-F238E27FC236}">
                <a16:creationId xmlns:a16="http://schemas.microsoft.com/office/drawing/2014/main" id="{C490EEE7-FDB9-594A-8BE0-4048ECA68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84" y="2478138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5" descr="TAC TowerDrive">
            <a:extLst>
              <a:ext uri="{FF2B5EF4-FFF2-40B4-BE49-F238E27FC236}">
                <a16:creationId xmlns:a16="http://schemas.microsoft.com/office/drawing/2014/main" id="{DA9F636C-01FD-7B4A-AE38-5C231C73E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848" y="2501951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6" descr="TAC TowerDrive">
            <a:extLst>
              <a:ext uri="{FF2B5EF4-FFF2-40B4-BE49-F238E27FC236}">
                <a16:creationId xmlns:a16="http://schemas.microsoft.com/office/drawing/2014/main" id="{8E1DD8CB-BAD2-CC4F-9FFB-90DFE42FA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1384" y="2489251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TAC TowerDrive">
            <a:extLst>
              <a:ext uri="{FF2B5EF4-FFF2-40B4-BE49-F238E27FC236}">
                <a16:creationId xmlns:a16="http://schemas.microsoft.com/office/drawing/2014/main" id="{40EB4B19-8973-7243-A1C3-FBBF4F2F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848" y="2478138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9" descr="TAC TowerDrive">
            <a:extLst>
              <a:ext uri="{FF2B5EF4-FFF2-40B4-BE49-F238E27FC236}">
                <a16:creationId xmlns:a16="http://schemas.microsoft.com/office/drawing/2014/main" id="{108DCAC2-EB54-E44E-A775-1764E3380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384" y="2455913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1">
            <a:extLst>
              <a:ext uri="{FF2B5EF4-FFF2-40B4-BE49-F238E27FC236}">
                <a16:creationId xmlns:a16="http://schemas.microsoft.com/office/drawing/2014/main" id="{DC5AD880-EDC9-364C-9DA4-1376EBE5D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984" y="3827512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/>
              <a:t>Client</a:t>
            </a:r>
          </a:p>
        </p:txBody>
      </p:sp>
      <p:sp>
        <p:nvSpPr>
          <p:cNvPr id="11" name="Rectangle 42">
            <a:extLst>
              <a:ext uri="{FF2B5EF4-FFF2-40B4-BE49-F238E27FC236}">
                <a16:creationId xmlns:a16="http://schemas.microsoft.com/office/drawing/2014/main" id="{45AC7054-774F-954B-9C01-EE81B027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784" y="3827512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/>
              <a:t>Server (the Cloud)</a:t>
            </a:r>
          </a:p>
        </p:txBody>
      </p:sp>
      <p:sp>
        <p:nvSpPr>
          <p:cNvPr id="12" name="Rectangle 58">
            <a:extLst>
              <a:ext uri="{FF2B5EF4-FFF2-40B4-BE49-F238E27FC236}">
                <a16:creationId xmlns:a16="http://schemas.microsoft.com/office/drawing/2014/main" id="{BD80B82D-78F5-054C-AB34-661B2B4D8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784" y="1541512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/>
              <a:t>Input: </a:t>
            </a:r>
            <a:r>
              <a:rPr lang="en-US" altLang="en-US" sz="24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13" name="Rectangle 59">
            <a:extLst>
              <a:ext uri="{FF2B5EF4-FFF2-40B4-BE49-F238E27FC236}">
                <a16:creationId xmlns:a16="http://schemas.microsoft.com/office/drawing/2014/main" id="{D56064BE-F2CD-C243-B1A9-B086FB2E5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384" y="1541512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/>
              <a:t>Program: </a:t>
            </a:r>
            <a:r>
              <a:rPr lang="en-US" altLang="en-US" sz="2400" b="1">
                <a:solidFill>
                  <a:srgbClr val="0000CC"/>
                </a:solidFill>
              </a:rPr>
              <a:t>P</a:t>
            </a:r>
          </a:p>
        </p:txBody>
      </p:sp>
      <p:sp>
        <p:nvSpPr>
          <p:cNvPr id="14" name="Line 69">
            <a:extLst>
              <a:ext uri="{FF2B5EF4-FFF2-40B4-BE49-F238E27FC236}">
                <a16:creationId xmlns:a16="http://schemas.microsoft.com/office/drawing/2014/main" id="{4F3077DB-1107-8E42-B640-83070AF81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6584" y="2760712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73">
            <a:extLst>
              <a:ext uri="{FF2B5EF4-FFF2-40B4-BE49-F238E27FC236}">
                <a16:creationId xmlns:a16="http://schemas.microsoft.com/office/drawing/2014/main" id="{062F3E40-1222-3940-8010-94821DACC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0384" y="3598912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74">
            <a:extLst>
              <a:ext uri="{FF2B5EF4-FFF2-40B4-BE49-F238E27FC236}">
                <a16:creationId xmlns:a16="http://schemas.microsoft.com/office/drawing/2014/main" id="{46456CA8-2644-0E45-AF8E-F701AAB84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5184" y="3141712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Enc</a:t>
            </a:r>
            <a:r>
              <a:rPr lang="en-US" altLang="en-US" sz="2400">
                <a:solidFill>
                  <a:srgbClr val="0000CC"/>
                </a:solidFill>
              </a:rPr>
              <a:t>(P(x))</a:t>
            </a:r>
          </a:p>
        </p:txBody>
      </p:sp>
      <p:sp>
        <p:nvSpPr>
          <p:cNvPr id="17" name="Rectangle 87">
            <a:extLst>
              <a:ext uri="{FF2B5EF4-FFF2-40B4-BE49-F238E27FC236}">
                <a16:creationId xmlns:a16="http://schemas.microsoft.com/office/drawing/2014/main" id="{EFEB6AD5-F179-2A43-B8AA-FC870F524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584" y="2227312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Enc</a:t>
            </a:r>
            <a:r>
              <a:rPr lang="en-US" altLang="en-US" sz="2400">
                <a:solidFill>
                  <a:srgbClr val="0000CC"/>
                </a:solidFill>
              </a:rPr>
              <a:t>(x) </a:t>
            </a:r>
          </a:p>
        </p:txBody>
      </p:sp>
      <p:sp>
        <p:nvSpPr>
          <p:cNvPr id="18" name="Rectangle 90">
            <a:extLst>
              <a:ext uri="{FF2B5EF4-FFF2-40B4-BE49-F238E27FC236}">
                <a16:creationId xmlns:a16="http://schemas.microsoft.com/office/drawing/2014/main" id="{9DAAEFEE-5018-924E-92C2-552DBC3E0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655" y="4912928"/>
            <a:ext cx="7315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400" b="1" dirty="0">
                <a:solidFill>
                  <a:srgbClr val="FF0000"/>
                </a:solidFill>
              </a:rPr>
              <a:t>A Special Case: </a:t>
            </a:r>
            <a:r>
              <a:rPr lang="en-US" altLang="en-US" sz="2400" dirty="0"/>
              <a:t>Encrypted Database Lookup</a:t>
            </a:r>
            <a:endParaRPr lang="en-US" altLang="en-US" sz="2000" dirty="0"/>
          </a:p>
        </p:txBody>
      </p:sp>
      <p:sp>
        <p:nvSpPr>
          <p:cNvPr id="19" name="Rectangle 91">
            <a:extLst>
              <a:ext uri="{FF2B5EF4-FFF2-40B4-BE49-F238E27FC236}">
                <a16:creationId xmlns:a16="http://schemas.microsoft.com/office/drawing/2014/main" id="{F04866C5-3D61-7643-8E86-867912157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855" y="5598728"/>
            <a:ext cx="7315200" cy="1085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Char char="–"/>
            </a:pPr>
            <a:r>
              <a:rPr lang="en-US" altLang="en-US" sz="2400" dirty="0"/>
              <a:t> also called “private information retrieval”</a:t>
            </a:r>
          </a:p>
        </p:txBody>
      </p:sp>
      <p:sp>
        <p:nvSpPr>
          <p:cNvPr id="20" name="Rectangle 101">
            <a:extLst>
              <a:ext uri="{FF2B5EF4-FFF2-40B4-BE49-F238E27FC236}">
                <a16:creationId xmlns:a16="http://schemas.microsoft.com/office/drawing/2014/main" id="{06A49B8F-95B0-BA4A-A465-CC76753A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384" y="2227312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0000CC"/>
                </a:solidFill>
              </a:rPr>
              <a:t>x </a:t>
            </a:r>
          </a:p>
        </p:txBody>
      </p:sp>
      <p:sp>
        <p:nvSpPr>
          <p:cNvPr id="21" name="Rectangle 102">
            <a:extLst>
              <a:ext uri="{FF2B5EF4-FFF2-40B4-BE49-F238E27FC236}">
                <a16:creationId xmlns:a16="http://schemas.microsoft.com/office/drawing/2014/main" id="{A477B899-4853-E749-AD7E-5D6789FAE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784" y="3141712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>
                <a:solidFill>
                  <a:srgbClr val="0000CC"/>
                </a:solidFill>
              </a:rPr>
              <a:t>P(x)</a:t>
            </a:r>
          </a:p>
        </p:txBody>
      </p:sp>
      <p:grpSp>
        <p:nvGrpSpPr>
          <p:cNvPr id="22" name="Group 115">
            <a:extLst>
              <a:ext uri="{FF2B5EF4-FFF2-40B4-BE49-F238E27FC236}">
                <a16:creationId xmlns:a16="http://schemas.microsoft.com/office/drawing/2014/main" id="{8798C0F7-693D-4A42-AE59-3C20E0B71F03}"/>
              </a:ext>
            </a:extLst>
          </p:cNvPr>
          <p:cNvGrpSpPr>
            <a:grpSpLocks/>
          </p:cNvGrpSpPr>
          <p:nvPr/>
        </p:nvGrpSpPr>
        <p:grpSpPr bwMode="auto">
          <a:xfrm>
            <a:off x="5247184" y="1770112"/>
            <a:ext cx="2590800" cy="1752600"/>
            <a:chOff x="2448" y="1008"/>
            <a:chExt cx="1632" cy="1104"/>
          </a:xfrm>
        </p:grpSpPr>
        <p:sp>
          <p:nvSpPr>
            <p:cNvPr id="23" name="Rectangle 111">
              <a:extLst>
                <a:ext uri="{FF2B5EF4-FFF2-40B4-BE49-F238E27FC236}">
                  <a16:creationId xmlns:a16="http://schemas.microsoft.com/office/drawing/2014/main" id="{86F9AF6D-32EC-614C-B40B-FCBD8D12F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536"/>
              <a:ext cx="384" cy="384"/>
            </a:xfrm>
            <a:prstGeom prst="rect">
              <a:avLst/>
            </a:prstGeom>
            <a:blipFill>
              <a:blip r:embed="rId6"/>
              <a:tile tx="0" ty="0" sx="100000" sy="100000" flip="none" algn="tl"/>
            </a:blip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112">
              <a:extLst>
                <a:ext uri="{FF2B5EF4-FFF2-40B4-BE49-F238E27FC236}">
                  <a16:creationId xmlns:a16="http://schemas.microsoft.com/office/drawing/2014/main" id="{01C87B91-0E6C-3D49-953E-F8AC3D832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1120"/>
              <a:ext cx="720" cy="320"/>
            </a:xfrm>
            <a:custGeom>
              <a:avLst/>
              <a:gdLst>
                <a:gd name="T0" fmla="*/ 0 w 576"/>
                <a:gd name="T1" fmla="*/ 128 h 320"/>
                <a:gd name="T2" fmla="*/ 432 w 576"/>
                <a:gd name="T3" fmla="*/ 32 h 320"/>
                <a:gd name="T4" fmla="*/ 576 w 576"/>
                <a:gd name="T5" fmla="*/ 320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320">
                  <a:moveTo>
                    <a:pt x="0" y="128"/>
                  </a:moveTo>
                  <a:cubicBezTo>
                    <a:pt x="168" y="64"/>
                    <a:pt x="336" y="0"/>
                    <a:pt x="432" y="32"/>
                  </a:cubicBezTo>
                  <a:cubicBezTo>
                    <a:pt x="528" y="64"/>
                    <a:pt x="552" y="192"/>
                    <a:pt x="576" y="32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13">
              <a:extLst>
                <a:ext uri="{FF2B5EF4-FFF2-40B4-BE49-F238E27FC236}">
                  <a16:creationId xmlns:a16="http://schemas.microsoft.com/office/drawing/2014/main" id="{3FB6B8FD-6386-6241-80DB-88210700B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008"/>
              <a:ext cx="672" cy="448"/>
            </a:xfrm>
            <a:custGeom>
              <a:avLst/>
              <a:gdLst>
                <a:gd name="T0" fmla="*/ 672 w 672"/>
                <a:gd name="T1" fmla="*/ 64 h 448"/>
                <a:gd name="T2" fmla="*/ 192 w 672"/>
                <a:gd name="T3" fmla="*/ 64 h 448"/>
                <a:gd name="T4" fmla="*/ 0 w 672"/>
                <a:gd name="T5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72" h="448">
                  <a:moveTo>
                    <a:pt x="672" y="64"/>
                  </a:moveTo>
                  <a:cubicBezTo>
                    <a:pt x="488" y="32"/>
                    <a:pt x="304" y="0"/>
                    <a:pt x="192" y="64"/>
                  </a:cubicBezTo>
                  <a:cubicBezTo>
                    <a:pt x="80" y="128"/>
                    <a:pt x="40" y="288"/>
                    <a:pt x="0" y="44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4">
              <a:extLst>
                <a:ext uri="{FF2B5EF4-FFF2-40B4-BE49-F238E27FC236}">
                  <a16:creationId xmlns:a16="http://schemas.microsoft.com/office/drawing/2014/main" id="{AAF78133-DC43-0848-B9B8-92201A220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968"/>
              <a:ext cx="288" cy="144"/>
            </a:xfrm>
            <a:custGeom>
              <a:avLst/>
              <a:gdLst>
                <a:gd name="T0" fmla="*/ 288 w 288"/>
                <a:gd name="T1" fmla="*/ 0 h 216"/>
                <a:gd name="T2" fmla="*/ 144 w 288"/>
                <a:gd name="T3" fmla="*/ 192 h 216"/>
                <a:gd name="T4" fmla="*/ 0 w 288"/>
                <a:gd name="T5" fmla="*/ 144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216">
                  <a:moveTo>
                    <a:pt x="288" y="0"/>
                  </a:moveTo>
                  <a:cubicBezTo>
                    <a:pt x="240" y="84"/>
                    <a:pt x="192" y="168"/>
                    <a:pt x="144" y="192"/>
                  </a:cubicBezTo>
                  <a:cubicBezTo>
                    <a:pt x="96" y="216"/>
                    <a:pt x="48" y="180"/>
                    <a:pt x="0" y="14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27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44624"/>
            <a:ext cx="10363200" cy="15633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891637"/>
                </a:solidFill>
                <a:latin typeface="Calibri" pitchFamily="34" charset="0"/>
              </a:rPr>
              <a:t>Application 2. Secure Collaboration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979DBAD-1292-B846-A59B-70446F52A735}"/>
              </a:ext>
            </a:extLst>
          </p:cNvPr>
          <p:cNvGrpSpPr/>
          <p:nvPr/>
        </p:nvGrpSpPr>
        <p:grpSpPr>
          <a:xfrm>
            <a:off x="7968208" y="1881628"/>
            <a:ext cx="1237764" cy="1115325"/>
            <a:chOff x="902959" y="596449"/>
            <a:chExt cx="3922312" cy="4774826"/>
          </a:xfrm>
        </p:grpSpPr>
        <p:pic>
          <p:nvPicPr>
            <p:cNvPr id="37" name="Picture 36" descr="Hospital.png">
              <a:extLst>
                <a:ext uri="{FF2B5EF4-FFF2-40B4-BE49-F238E27FC236}">
                  <a16:creationId xmlns:a16="http://schemas.microsoft.com/office/drawing/2014/main" id="{285EA805-2C0C-B34C-81B0-FDA090120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959" y="2308379"/>
              <a:ext cx="3672796" cy="3062896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771C416-4F8E-564C-91BD-FA964CBC395D}"/>
                </a:ext>
              </a:extLst>
            </p:cNvPr>
            <p:cNvGrpSpPr/>
            <p:nvPr/>
          </p:nvGrpSpPr>
          <p:grpSpPr>
            <a:xfrm>
              <a:off x="1274574" y="4863385"/>
              <a:ext cx="3005582" cy="309638"/>
              <a:chOff x="2317301" y="4128690"/>
              <a:chExt cx="3070416" cy="793842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C058E7D-F41D-9142-B7F6-A70C49C6A2E7}"/>
                  </a:ext>
                </a:extLst>
              </p:cNvPr>
              <p:cNvSpPr/>
              <p:nvPr/>
            </p:nvSpPr>
            <p:spPr>
              <a:xfrm>
                <a:off x="2317301" y="4128690"/>
                <a:ext cx="353728" cy="73273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0CE71A63-C279-A147-8F5F-C4766AB9096F}"/>
                  </a:ext>
                </a:extLst>
              </p:cNvPr>
              <p:cNvSpPr/>
              <p:nvPr/>
            </p:nvSpPr>
            <p:spPr>
              <a:xfrm>
                <a:off x="3024758" y="4207853"/>
                <a:ext cx="243629" cy="51415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0BE74D5C-3FC1-5B41-9259-11CA7CF7DC35}"/>
                  </a:ext>
                </a:extLst>
              </p:cNvPr>
              <p:cNvSpPr/>
              <p:nvPr/>
            </p:nvSpPr>
            <p:spPr>
              <a:xfrm>
                <a:off x="3813686" y="4128690"/>
                <a:ext cx="329992" cy="732735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4B1D30E7-FA25-3B46-AA39-9BB24D1B652A}"/>
                  </a:ext>
                </a:extLst>
              </p:cNvPr>
              <p:cNvSpPr/>
              <p:nvPr/>
            </p:nvSpPr>
            <p:spPr>
              <a:xfrm flipH="1">
                <a:off x="3446105" y="4217365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5F68EE1-1A5A-F842-9BAF-5C658F1051B1}"/>
                  </a:ext>
                </a:extLst>
              </p:cNvPr>
              <p:cNvSpPr/>
              <p:nvPr/>
            </p:nvSpPr>
            <p:spPr>
              <a:xfrm>
                <a:off x="3446105" y="4128690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70056D3D-05EB-764F-9FA6-E72FCCDC7B35}"/>
                  </a:ext>
                </a:extLst>
              </p:cNvPr>
              <p:cNvSpPr/>
              <p:nvPr/>
            </p:nvSpPr>
            <p:spPr>
              <a:xfrm>
                <a:off x="4143679" y="4246037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958D157-A3CF-2446-A60E-A541473F9D55}"/>
                  </a:ext>
                </a:extLst>
              </p:cNvPr>
              <p:cNvSpPr/>
              <p:nvPr/>
            </p:nvSpPr>
            <p:spPr>
              <a:xfrm flipH="1">
                <a:off x="4224848" y="4246038"/>
                <a:ext cx="145863" cy="475970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solidFill>
                <a:srgbClr val="FAC09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56A2FAA-EA11-874D-8DC8-AC450C605654}"/>
                  </a:ext>
                </a:extLst>
              </p:cNvPr>
              <p:cNvSpPr/>
              <p:nvPr/>
            </p:nvSpPr>
            <p:spPr>
              <a:xfrm>
                <a:off x="5057725" y="4189798"/>
                <a:ext cx="329992" cy="73273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solidFill>
                <a:srgbClr val="00800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D3A2F78-5870-214E-B3E3-C6FCCC0055C6}"/>
                </a:ext>
              </a:extLst>
            </p:cNvPr>
            <p:cNvGrpSpPr/>
            <p:nvPr/>
          </p:nvGrpSpPr>
          <p:grpSpPr>
            <a:xfrm>
              <a:off x="1274571" y="4484231"/>
              <a:ext cx="3005582" cy="319075"/>
              <a:chOff x="2306150" y="4128690"/>
              <a:chExt cx="3070416" cy="818038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6A8D2943-FF58-324F-A752-F3C5F89FBCEA}"/>
                  </a:ext>
                </a:extLst>
              </p:cNvPr>
              <p:cNvSpPr/>
              <p:nvPr/>
            </p:nvSpPr>
            <p:spPr>
              <a:xfrm>
                <a:off x="2306150" y="4128690"/>
                <a:ext cx="353728" cy="73273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5A4577B7-A351-0B4B-968A-68EC3A4D0507}"/>
                  </a:ext>
                </a:extLst>
              </p:cNvPr>
              <p:cNvSpPr/>
              <p:nvPr/>
            </p:nvSpPr>
            <p:spPr>
              <a:xfrm>
                <a:off x="3024758" y="4207853"/>
                <a:ext cx="243629" cy="51415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8E73EDB-75FB-204E-81BF-F4D03F067F14}"/>
                  </a:ext>
                </a:extLst>
              </p:cNvPr>
              <p:cNvSpPr/>
              <p:nvPr/>
            </p:nvSpPr>
            <p:spPr>
              <a:xfrm>
                <a:off x="3813686" y="4128690"/>
                <a:ext cx="329992" cy="732735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solidFill>
                <a:srgbClr val="008000"/>
              </a:solidFill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502C17E-4DDE-6B47-88E0-96E398A3F6CA}"/>
                  </a:ext>
                </a:extLst>
              </p:cNvPr>
              <p:cNvSpPr/>
              <p:nvPr/>
            </p:nvSpPr>
            <p:spPr>
              <a:xfrm flipH="1">
                <a:off x="3446105" y="4217365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7F79123-C6A4-114C-A3AB-6A2F0E22952F}"/>
                  </a:ext>
                </a:extLst>
              </p:cNvPr>
              <p:cNvSpPr/>
              <p:nvPr/>
            </p:nvSpPr>
            <p:spPr>
              <a:xfrm>
                <a:off x="3446105" y="4128690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5D462954-D591-F847-B247-2727156565EF}"/>
                  </a:ext>
                </a:extLst>
              </p:cNvPr>
              <p:cNvSpPr/>
              <p:nvPr/>
            </p:nvSpPr>
            <p:spPr>
              <a:xfrm>
                <a:off x="4143679" y="4246037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7D96558-4CB1-FE44-94E2-55799F22F1FD}"/>
                  </a:ext>
                </a:extLst>
              </p:cNvPr>
              <p:cNvSpPr/>
              <p:nvPr/>
            </p:nvSpPr>
            <p:spPr>
              <a:xfrm flipH="1">
                <a:off x="4224848" y="4246038"/>
                <a:ext cx="145863" cy="475970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06665B74-EFFE-B440-ADCC-4E2E9116302D}"/>
                  </a:ext>
                </a:extLst>
              </p:cNvPr>
              <p:cNvSpPr/>
              <p:nvPr/>
            </p:nvSpPr>
            <p:spPr>
              <a:xfrm>
                <a:off x="5046574" y="4213994"/>
                <a:ext cx="329992" cy="73273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EEF4DE2-6A0C-3943-9051-470425CB2CBB}"/>
                </a:ext>
              </a:extLst>
            </p:cNvPr>
            <p:cNvGrpSpPr/>
            <p:nvPr/>
          </p:nvGrpSpPr>
          <p:grpSpPr>
            <a:xfrm>
              <a:off x="1285488" y="4189785"/>
              <a:ext cx="2994664" cy="325325"/>
              <a:chOff x="2317301" y="4128690"/>
              <a:chExt cx="3059263" cy="834065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FFB499A-FA38-1545-B0DE-F7B4D805CECF}"/>
                  </a:ext>
                </a:extLst>
              </p:cNvPr>
              <p:cNvSpPr/>
              <p:nvPr/>
            </p:nvSpPr>
            <p:spPr>
              <a:xfrm>
                <a:off x="2317301" y="4230021"/>
                <a:ext cx="353728" cy="73273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03E2CFA3-E2B7-2448-BAC8-F0C171FB4C1F}"/>
                  </a:ext>
                </a:extLst>
              </p:cNvPr>
              <p:cNvSpPr/>
              <p:nvPr/>
            </p:nvSpPr>
            <p:spPr>
              <a:xfrm>
                <a:off x="3024758" y="4207853"/>
                <a:ext cx="243629" cy="514154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363F7B9B-41D8-B34D-9983-097680A241D6}"/>
                  </a:ext>
                </a:extLst>
              </p:cNvPr>
              <p:cNvSpPr/>
              <p:nvPr/>
            </p:nvSpPr>
            <p:spPr>
              <a:xfrm>
                <a:off x="3813686" y="4128690"/>
                <a:ext cx="329992" cy="732735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4784D015-1476-ED4B-85EF-DA88886529EE}"/>
                  </a:ext>
                </a:extLst>
              </p:cNvPr>
              <p:cNvSpPr/>
              <p:nvPr/>
            </p:nvSpPr>
            <p:spPr>
              <a:xfrm flipH="1">
                <a:off x="3446105" y="4217365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A6CBE85-185B-6843-964D-2A262155FD33}"/>
                  </a:ext>
                </a:extLst>
              </p:cNvPr>
              <p:cNvSpPr/>
              <p:nvPr/>
            </p:nvSpPr>
            <p:spPr>
              <a:xfrm>
                <a:off x="3446105" y="4128690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4878156-81ED-0A43-ABF7-B6F43ACC43B2}"/>
                  </a:ext>
                </a:extLst>
              </p:cNvPr>
              <p:cNvSpPr/>
              <p:nvPr/>
            </p:nvSpPr>
            <p:spPr>
              <a:xfrm>
                <a:off x="4143679" y="4246037"/>
                <a:ext cx="227032" cy="593317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AA60344-7554-D349-B8FC-E82F087E5755}"/>
                  </a:ext>
                </a:extLst>
              </p:cNvPr>
              <p:cNvSpPr/>
              <p:nvPr/>
            </p:nvSpPr>
            <p:spPr>
              <a:xfrm flipH="1">
                <a:off x="4224848" y="4246038"/>
                <a:ext cx="145863" cy="475970"/>
              </a:xfrm>
              <a:custGeom>
                <a:avLst/>
                <a:gdLst>
                  <a:gd name="connsiteX0" fmla="*/ 47345 w 258996"/>
                  <a:gd name="connsiteY0" fmla="*/ 29782 h 823570"/>
                  <a:gd name="connsiteX1" fmla="*/ 60573 w 258996"/>
                  <a:gd name="connsiteY1" fmla="*/ 162080 h 823570"/>
                  <a:gd name="connsiteX2" fmla="*/ 87030 w 258996"/>
                  <a:gd name="connsiteY2" fmla="*/ 214999 h 823570"/>
                  <a:gd name="connsiteX3" fmla="*/ 153171 w 258996"/>
                  <a:gd name="connsiteY3" fmla="*/ 294378 h 823570"/>
                  <a:gd name="connsiteX4" fmla="*/ 192855 w 258996"/>
                  <a:gd name="connsiteY4" fmla="*/ 400217 h 823570"/>
                  <a:gd name="connsiteX5" fmla="*/ 232540 w 258996"/>
                  <a:gd name="connsiteY5" fmla="*/ 532515 h 823570"/>
                  <a:gd name="connsiteX6" fmla="*/ 219312 w 258996"/>
                  <a:gd name="connsiteY6" fmla="*/ 717732 h 823570"/>
                  <a:gd name="connsiteX7" fmla="*/ 192855 w 258996"/>
                  <a:gd name="connsiteY7" fmla="*/ 744192 h 823570"/>
                  <a:gd name="connsiteX8" fmla="*/ 166399 w 258996"/>
                  <a:gd name="connsiteY8" fmla="*/ 783881 h 823570"/>
                  <a:gd name="connsiteX9" fmla="*/ 192855 w 258996"/>
                  <a:gd name="connsiteY9" fmla="*/ 823570 h 823570"/>
                  <a:gd name="connsiteX10" fmla="*/ 258996 w 258996"/>
                  <a:gd name="connsiteY10" fmla="*/ 744192 h 823570"/>
                  <a:gd name="connsiteX11" fmla="*/ 232540 w 258996"/>
                  <a:gd name="connsiteY11" fmla="*/ 598664 h 823570"/>
                  <a:gd name="connsiteX12" fmla="*/ 206084 w 258996"/>
                  <a:gd name="connsiteY12" fmla="*/ 558974 h 823570"/>
                  <a:gd name="connsiteX13" fmla="*/ 192855 w 258996"/>
                  <a:gd name="connsiteY13" fmla="*/ 506055 h 823570"/>
                  <a:gd name="connsiteX14" fmla="*/ 179627 w 258996"/>
                  <a:gd name="connsiteY14" fmla="*/ 439906 h 823570"/>
                  <a:gd name="connsiteX15" fmla="*/ 126714 w 258996"/>
                  <a:gd name="connsiteY15" fmla="*/ 373757 h 823570"/>
                  <a:gd name="connsiteX16" fmla="*/ 60573 w 258996"/>
                  <a:gd name="connsiteY16" fmla="*/ 254689 h 823570"/>
                  <a:gd name="connsiteX17" fmla="*/ 20889 w 258996"/>
                  <a:gd name="connsiteY17" fmla="*/ 228229 h 823570"/>
                  <a:gd name="connsiteX18" fmla="*/ 20889 w 258996"/>
                  <a:gd name="connsiteY18" fmla="*/ 3322 h 823570"/>
                  <a:gd name="connsiteX19" fmla="*/ 47345 w 258996"/>
                  <a:gd name="connsiteY19" fmla="*/ 43012 h 823570"/>
                  <a:gd name="connsiteX20" fmla="*/ 47345 w 258996"/>
                  <a:gd name="connsiteY20" fmla="*/ 29782 h 823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8996" h="823570">
                    <a:moveTo>
                      <a:pt x="47345" y="29782"/>
                    </a:moveTo>
                    <a:cubicBezTo>
                      <a:pt x="49550" y="49627"/>
                      <a:pt x="51288" y="118744"/>
                      <a:pt x="60573" y="162080"/>
                    </a:cubicBezTo>
                    <a:cubicBezTo>
                      <a:pt x="64705" y="181364"/>
                      <a:pt x="77246" y="197876"/>
                      <a:pt x="87030" y="214999"/>
                    </a:cubicBezTo>
                    <a:cubicBezTo>
                      <a:pt x="111588" y="257980"/>
                      <a:pt x="116687" y="257891"/>
                      <a:pt x="153171" y="294378"/>
                    </a:cubicBezTo>
                    <a:cubicBezTo>
                      <a:pt x="161266" y="314618"/>
                      <a:pt x="185942" y="372560"/>
                      <a:pt x="192855" y="400217"/>
                    </a:cubicBezTo>
                    <a:cubicBezTo>
                      <a:pt x="222663" y="519462"/>
                      <a:pt x="185143" y="414006"/>
                      <a:pt x="232540" y="532515"/>
                    </a:cubicBezTo>
                    <a:cubicBezTo>
                      <a:pt x="228131" y="594254"/>
                      <a:pt x="230718" y="656896"/>
                      <a:pt x="219312" y="717732"/>
                    </a:cubicBezTo>
                    <a:cubicBezTo>
                      <a:pt x="217014" y="729991"/>
                      <a:pt x="200646" y="734452"/>
                      <a:pt x="192855" y="744192"/>
                    </a:cubicBezTo>
                    <a:cubicBezTo>
                      <a:pt x="182923" y="756608"/>
                      <a:pt x="175218" y="770651"/>
                      <a:pt x="166399" y="783881"/>
                    </a:cubicBezTo>
                    <a:cubicBezTo>
                      <a:pt x="175218" y="797111"/>
                      <a:pt x="176956" y="823570"/>
                      <a:pt x="192855" y="823570"/>
                    </a:cubicBezTo>
                    <a:cubicBezTo>
                      <a:pt x="209832" y="823570"/>
                      <a:pt x="251016" y="756164"/>
                      <a:pt x="258996" y="744192"/>
                    </a:cubicBezTo>
                    <a:cubicBezTo>
                      <a:pt x="254436" y="707708"/>
                      <a:pt x="252932" y="639453"/>
                      <a:pt x="232540" y="598664"/>
                    </a:cubicBezTo>
                    <a:cubicBezTo>
                      <a:pt x="225430" y="584442"/>
                      <a:pt x="214903" y="572204"/>
                      <a:pt x="206084" y="558974"/>
                    </a:cubicBezTo>
                    <a:cubicBezTo>
                      <a:pt x="201674" y="541334"/>
                      <a:pt x="196799" y="523805"/>
                      <a:pt x="192855" y="506055"/>
                    </a:cubicBezTo>
                    <a:cubicBezTo>
                      <a:pt x="187978" y="484104"/>
                      <a:pt x="187522" y="460961"/>
                      <a:pt x="179627" y="439906"/>
                    </a:cubicBezTo>
                    <a:cubicBezTo>
                      <a:pt x="169615" y="413203"/>
                      <a:pt x="146086" y="393132"/>
                      <a:pt x="126714" y="373757"/>
                    </a:cubicBezTo>
                    <a:cubicBezTo>
                      <a:pt x="112930" y="332399"/>
                      <a:pt x="99561" y="280685"/>
                      <a:pt x="60573" y="254689"/>
                    </a:cubicBezTo>
                    <a:lnTo>
                      <a:pt x="20889" y="228229"/>
                    </a:lnTo>
                    <a:cubicBezTo>
                      <a:pt x="-189" y="143911"/>
                      <a:pt x="-13010" y="116332"/>
                      <a:pt x="20889" y="3322"/>
                    </a:cubicBezTo>
                    <a:cubicBezTo>
                      <a:pt x="25457" y="-11907"/>
                      <a:pt x="39165" y="29378"/>
                      <a:pt x="47345" y="43012"/>
                    </a:cubicBezTo>
                    <a:cubicBezTo>
                      <a:pt x="52418" y="51468"/>
                      <a:pt x="45140" y="9937"/>
                      <a:pt x="47345" y="29782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FC337ED-80C9-9442-A587-25EA19D78DA0}"/>
                  </a:ext>
                </a:extLst>
              </p:cNvPr>
              <p:cNvSpPr/>
              <p:nvPr/>
            </p:nvSpPr>
            <p:spPr>
              <a:xfrm>
                <a:off x="5046572" y="4189798"/>
                <a:ext cx="329992" cy="732736"/>
              </a:xfrm>
              <a:custGeom>
                <a:avLst/>
                <a:gdLst>
                  <a:gd name="connsiteX0" fmla="*/ 198423 w 489444"/>
                  <a:gd name="connsiteY0" fmla="*/ 626174 h 1062758"/>
                  <a:gd name="connsiteX1" fmla="*/ 238108 w 489444"/>
                  <a:gd name="connsiteY1" fmla="*/ 560025 h 1062758"/>
                  <a:gd name="connsiteX2" fmla="*/ 264564 w 489444"/>
                  <a:gd name="connsiteY2" fmla="*/ 480646 h 1062758"/>
                  <a:gd name="connsiteX3" fmla="*/ 277792 w 489444"/>
                  <a:gd name="connsiteY3" fmla="*/ 440957 h 1062758"/>
                  <a:gd name="connsiteX4" fmla="*/ 304249 w 489444"/>
                  <a:gd name="connsiteY4" fmla="*/ 388038 h 1062758"/>
                  <a:gd name="connsiteX5" fmla="*/ 304249 w 489444"/>
                  <a:gd name="connsiteY5" fmla="*/ 4373 h 1062758"/>
                  <a:gd name="connsiteX6" fmla="*/ 264564 w 489444"/>
                  <a:gd name="connsiteY6" fmla="*/ 17603 h 1062758"/>
                  <a:gd name="connsiteX7" fmla="*/ 224880 w 489444"/>
                  <a:gd name="connsiteY7" fmla="*/ 123441 h 1062758"/>
                  <a:gd name="connsiteX8" fmla="*/ 211651 w 489444"/>
                  <a:gd name="connsiteY8" fmla="*/ 176361 h 1062758"/>
                  <a:gd name="connsiteX9" fmla="*/ 198423 w 489444"/>
                  <a:gd name="connsiteY9" fmla="*/ 216050 h 1062758"/>
                  <a:gd name="connsiteX10" fmla="*/ 185195 w 489444"/>
                  <a:gd name="connsiteY10" fmla="*/ 573255 h 1062758"/>
                  <a:gd name="connsiteX11" fmla="*/ 145510 w 489444"/>
                  <a:gd name="connsiteY11" fmla="*/ 599714 h 1062758"/>
                  <a:gd name="connsiteX12" fmla="*/ 132282 w 489444"/>
                  <a:gd name="connsiteY12" fmla="*/ 639404 h 1062758"/>
                  <a:gd name="connsiteX13" fmla="*/ 92597 w 489444"/>
                  <a:gd name="connsiteY13" fmla="*/ 718783 h 1062758"/>
                  <a:gd name="connsiteX14" fmla="*/ 92597 w 489444"/>
                  <a:gd name="connsiteY14" fmla="*/ 1049528 h 1062758"/>
                  <a:gd name="connsiteX15" fmla="*/ 119054 w 489444"/>
                  <a:gd name="connsiteY15" fmla="*/ 1009838 h 1062758"/>
                  <a:gd name="connsiteX16" fmla="*/ 145510 w 489444"/>
                  <a:gd name="connsiteY16" fmla="*/ 956919 h 1062758"/>
                  <a:gd name="connsiteX17" fmla="*/ 158739 w 489444"/>
                  <a:gd name="connsiteY17" fmla="*/ 877540 h 1062758"/>
                  <a:gd name="connsiteX18" fmla="*/ 185195 w 489444"/>
                  <a:gd name="connsiteY18" fmla="*/ 612944 h 1062758"/>
                  <a:gd name="connsiteX19" fmla="*/ 198423 w 489444"/>
                  <a:gd name="connsiteY19" fmla="*/ 560025 h 1062758"/>
                  <a:gd name="connsiteX20" fmla="*/ 238108 w 489444"/>
                  <a:gd name="connsiteY20" fmla="*/ 586485 h 1062758"/>
                  <a:gd name="connsiteX21" fmla="*/ 251336 w 489444"/>
                  <a:gd name="connsiteY21" fmla="*/ 652634 h 1062758"/>
                  <a:gd name="connsiteX22" fmla="*/ 264564 w 489444"/>
                  <a:gd name="connsiteY22" fmla="*/ 692323 h 1062758"/>
                  <a:gd name="connsiteX23" fmla="*/ 304249 w 489444"/>
                  <a:gd name="connsiteY23" fmla="*/ 824621 h 1062758"/>
                  <a:gd name="connsiteX24" fmla="*/ 330705 w 489444"/>
                  <a:gd name="connsiteY24" fmla="*/ 864311 h 1062758"/>
                  <a:gd name="connsiteX25" fmla="*/ 370390 w 489444"/>
                  <a:gd name="connsiteY25" fmla="*/ 930460 h 1062758"/>
                  <a:gd name="connsiteX26" fmla="*/ 396846 w 489444"/>
                  <a:gd name="connsiteY26" fmla="*/ 1009838 h 1062758"/>
                  <a:gd name="connsiteX27" fmla="*/ 476216 w 489444"/>
                  <a:gd name="connsiteY27" fmla="*/ 1062758 h 1062758"/>
                  <a:gd name="connsiteX28" fmla="*/ 489444 w 489444"/>
                  <a:gd name="connsiteY28" fmla="*/ 983379 h 1062758"/>
                  <a:gd name="connsiteX29" fmla="*/ 476216 w 489444"/>
                  <a:gd name="connsiteY29" fmla="*/ 877540 h 1062758"/>
                  <a:gd name="connsiteX30" fmla="*/ 396846 w 489444"/>
                  <a:gd name="connsiteY30" fmla="*/ 837851 h 1062758"/>
                  <a:gd name="connsiteX31" fmla="*/ 343933 w 489444"/>
                  <a:gd name="connsiteY31" fmla="*/ 811391 h 1062758"/>
                  <a:gd name="connsiteX32" fmla="*/ 264564 w 489444"/>
                  <a:gd name="connsiteY32" fmla="*/ 771702 h 1062758"/>
                  <a:gd name="connsiteX33" fmla="*/ 238108 w 489444"/>
                  <a:gd name="connsiteY33" fmla="*/ 692323 h 1062758"/>
                  <a:gd name="connsiteX34" fmla="*/ 145510 w 489444"/>
                  <a:gd name="connsiteY34" fmla="*/ 599714 h 1062758"/>
                  <a:gd name="connsiteX35" fmla="*/ 105826 w 489444"/>
                  <a:gd name="connsiteY35" fmla="*/ 560025 h 1062758"/>
                  <a:gd name="connsiteX36" fmla="*/ 39685 w 489444"/>
                  <a:gd name="connsiteY36" fmla="*/ 493876 h 1062758"/>
                  <a:gd name="connsiteX37" fmla="*/ 13228 w 489444"/>
                  <a:gd name="connsiteY37" fmla="*/ 401267 h 1062758"/>
                  <a:gd name="connsiteX38" fmla="*/ 0 w 489444"/>
                  <a:gd name="connsiteY38" fmla="*/ 348348 h 1062758"/>
                  <a:gd name="connsiteX39" fmla="*/ 13228 w 489444"/>
                  <a:gd name="connsiteY39" fmla="*/ 96982 h 1062758"/>
                  <a:gd name="connsiteX40" fmla="*/ 52913 w 489444"/>
                  <a:gd name="connsiteY40" fmla="*/ 123441 h 1062758"/>
                  <a:gd name="connsiteX41" fmla="*/ 66141 w 489444"/>
                  <a:gd name="connsiteY41" fmla="*/ 163131 h 1062758"/>
                  <a:gd name="connsiteX42" fmla="*/ 105826 w 489444"/>
                  <a:gd name="connsiteY42" fmla="*/ 242510 h 1062758"/>
                  <a:gd name="connsiteX43" fmla="*/ 119054 w 489444"/>
                  <a:gd name="connsiteY43" fmla="*/ 321889 h 1062758"/>
                  <a:gd name="connsiteX44" fmla="*/ 145510 w 489444"/>
                  <a:gd name="connsiteY44" fmla="*/ 401267 h 1062758"/>
                  <a:gd name="connsiteX45" fmla="*/ 158739 w 489444"/>
                  <a:gd name="connsiteY45" fmla="*/ 546795 h 1062758"/>
                  <a:gd name="connsiteX46" fmla="*/ 171967 w 489444"/>
                  <a:gd name="connsiteY46" fmla="*/ 586485 h 1062758"/>
                  <a:gd name="connsiteX47" fmla="*/ 198423 w 489444"/>
                  <a:gd name="connsiteY47" fmla="*/ 626174 h 1062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489444" h="1062758">
                    <a:moveTo>
                      <a:pt x="198423" y="626174"/>
                    </a:moveTo>
                    <a:cubicBezTo>
                      <a:pt x="209447" y="621764"/>
                      <a:pt x="227469" y="583434"/>
                      <a:pt x="238108" y="560025"/>
                    </a:cubicBezTo>
                    <a:cubicBezTo>
                      <a:pt x="249648" y="534634"/>
                      <a:pt x="255745" y="507106"/>
                      <a:pt x="264564" y="480646"/>
                    </a:cubicBezTo>
                    <a:cubicBezTo>
                      <a:pt x="268973" y="467416"/>
                      <a:pt x="271556" y="453430"/>
                      <a:pt x="277792" y="440957"/>
                    </a:cubicBezTo>
                    <a:lnTo>
                      <a:pt x="304249" y="388038"/>
                    </a:lnTo>
                    <a:cubicBezTo>
                      <a:pt x="328378" y="243243"/>
                      <a:pt x="340545" y="204023"/>
                      <a:pt x="304249" y="4373"/>
                    </a:cubicBezTo>
                    <a:cubicBezTo>
                      <a:pt x="301755" y="-9346"/>
                      <a:pt x="277792" y="13193"/>
                      <a:pt x="264564" y="17603"/>
                    </a:cubicBezTo>
                    <a:cubicBezTo>
                      <a:pt x="230611" y="153433"/>
                      <a:pt x="276758" y="-14917"/>
                      <a:pt x="224880" y="123441"/>
                    </a:cubicBezTo>
                    <a:cubicBezTo>
                      <a:pt x="218496" y="140466"/>
                      <a:pt x="216646" y="158878"/>
                      <a:pt x="211651" y="176361"/>
                    </a:cubicBezTo>
                    <a:cubicBezTo>
                      <a:pt x="207820" y="189770"/>
                      <a:pt x="202832" y="202820"/>
                      <a:pt x="198423" y="216050"/>
                    </a:cubicBezTo>
                    <a:cubicBezTo>
                      <a:pt x="194014" y="335118"/>
                      <a:pt x="201473" y="455222"/>
                      <a:pt x="185195" y="573255"/>
                    </a:cubicBezTo>
                    <a:cubicBezTo>
                      <a:pt x="183023" y="589005"/>
                      <a:pt x="155441" y="587298"/>
                      <a:pt x="145510" y="599714"/>
                    </a:cubicBezTo>
                    <a:cubicBezTo>
                      <a:pt x="136799" y="610604"/>
                      <a:pt x="138518" y="626930"/>
                      <a:pt x="132282" y="639404"/>
                    </a:cubicBezTo>
                    <a:cubicBezTo>
                      <a:pt x="80992" y="741999"/>
                      <a:pt x="125851" y="619012"/>
                      <a:pt x="92597" y="718783"/>
                    </a:cubicBezTo>
                    <a:cubicBezTo>
                      <a:pt x="71220" y="847061"/>
                      <a:pt x="60308" y="877298"/>
                      <a:pt x="92597" y="1049528"/>
                    </a:cubicBezTo>
                    <a:cubicBezTo>
                      <a:pt x="95527" y="1065156"/>
                      <a:pt x="111166" y="1023643"/>
                      <a:pt x="119054" y="1009838"/>
                    </a:cubicBezTo>
                    <a:cubicBezTo>
                      <a:pt x="128838" y="992715"/>
                      <a:pt x="136691" y="974559"/>
                      <a:pt x="145510" y="956919"/>
                    </a:cubicBezTo>
                    <a:cubicBezTo>
                      <a:pt x="149920" y="930459"/>
                      <a:pt x="155605" y="904181"/>
                      <a:pt x="158739" y="877540"/>
                    </a:cubicBezTo>
                    <a:cubicBezTo>
                      <a:pt x="168268" y="796534"/>
                      <a:pt x="172585" y="694922"/>
                      <a:pt x="185195" y="612944"/>
                    </a:cubicBezTo>
                    <a:cubicBezTo>
                      <a:pt x="187959" y="594973"/>
                      <a:pt x="194014" y="577665"/>
                      <a:pt x="198423" y="560025"/>
                    </a:cubicBezTo>
                    <a:cubicBezTo>
                      <a:pt x="211651" y="568845"/>
                      <a:pt x="230221" y="572680"/>
                      <a:pt x="238108" y="586485"/>
                    </a:cubicBezTo>
                    <a:cubicBezTo>
                      <a:pt x="249263" y="606009"/>
                      <a:pt x="245883" y="630819"/>
                      <a:pt x="251336" y="652634"/>
                    </a:cubicBezTo>
                    <a:cubicBezTo>
                      <a:pt x="254718" y="666163"/>
                      <a:pt x="260733" y="678914"/>
                      <a:pt x="264564" y="692323"/>
                    </a:cubicBezTo>
                    <a:cubicBezTo>
                      <a:pt x="273808" y="724681"/>
                      <a:pt x="288529" y="801038"/>
                      <a:pt x="304249" y="824621"/>
                    </a:cubicBezTo>
                    <a:cubicBezTo>
                      <a:pt x="313068" y="837851"/>
                      <a:pt x="323595" y="850089"/>
                      <a:pt x="330705" y="864311"/>
                    </a:cubicBezTo>
                    <a:cubicBezTo>
                      <a:pt x="365047" y="933005"/>
                      <a:pt x="318715" y="878779"/>
                      <a:pt x="370390" y="930460"/>
                    </a:cubicBezTo>
                    <a:cubicBezTo>
                      <a:pt x="379209" y="956919"/>
                      <a:pt x="373641" y="994366"/>
                      <a:pt x="396846" y="1009838"/>
                    </a:cubicBezTo>
                    <a:lnTo>
                      <a:pt x="476216" y="1062758"/>
                    </a:lnTo>
                    <a:cubicBezTo>
                      <a:pt x="480625" y="1036298"/>
                      <a:pt x="489444" y="1010204"/>
                      <a:pt x="489444" y="983379"/>
                    </a:cubicBezTo>
                    <a:cubicBezTo>
                      <a:pt x="489444" y="947825"/>
                      <a:pt x="489419" y="910552"/>
                      <a:pt x="476216" y="877540"/>
                    </a:cubicBezTo>
                    <a:cubicBezTo>
                      <a:pt x="467450" y="855623"/>
                      <a:pt x="414321" y="845341"/>
                      <a:pt x="396846" y="837851"/>
                    </a:cubicBezTo>
                    <a:cubicBezTo>
                      <a:pt x="378721" y="830082"/>
                      <a:pt x="362058" y="819160"/>
                      <a:pt x="343933" y="811391"/>
                    </a:cubicBezTo>
                    <a:cubicBezTo>
                      <a:pt x="267257" y="778525"/>
                      <a:pt x="340832" y="822552"/>
                      <a:pt x="264564" y="771702"/>
                    </a:cubicBezTo>
                    <a:cubicBezTo>
                      <a:pt x="255745" y="745242"/>
                      <a:pt x="257828" y="712046"/>
                      <a:pt x="238108" y="692323"/>
                    </a:cubicBezTo>
                    <a:lnTo>
                      <a:pt x="145510" y="599714"/>
                    </a:lnTo>
                    <a:cubicBezTo>
                      <a:pt x="132282" y="586484"/>
                      <a:pt x="116203" y="575592"/>
                      <a:pt x="105826" y="560025"/>
                    </a:cubicBezTo>
                    <a:cubicBezTo>
                      <a:pt x="70550" y="507107"/>
                      <a:pt x="92598" y="529156"/>
                      <a:pt x="39685" y="493876"/>
                    </a:cubicBezTo>
                    <a:cubicBezTo>
                      <a:pt x="-1684" y="328391"/>
                      <a:pt x="51194" y="534165"/>
                      <a:pt x="13228" y="401267"/>
                    </a:cubicBezTo>
                    <a:cubicBezTo>
                      <a:pt x="8234" y="383784"/>
                      <a:pt x="4409" y="365988"/>
                      <a:pt x="0" y="348348"/>
                    </a:cubicBezTo>
                    <a:cubicBezTo>
                      <a:pt x="4409" y="264559"/>
                      <a:pt x="-5987" y="178657"/>
                      <a:pt x="13228" y="96982"/>
                    </a:cubicBezTo>
                    <a:cubicBezTo>
                      <a:pt x="16869" y="81506"/>
                      <a:pt x="42982" y="111025"/>
                      <a:pt x="52913" y="123441"/>
                    </a:cubicBezTo>
                    <a:cubicBezTo>
                      <a:pt x="61624" y="134331"/>
                      <a:pt x="59905" y="150657"/>
                      <a:pt x="66141" y="163131"/>
                    </a:cubicBezTo>
                    <a:cubicBezTo>
                      <a:pt x="117431" y="265726"/>
                      <a:pt x="72572" y="142739"/>
                      <a:pt x="105826" y="242510"/>
                    </a:cubicBezTo>
                    <a:cubicBezTo>
                      <a:pt x="110235" y="268970"/>
                      <a:pt x="112549" y="295865"/>
                      <a:pt x="119054" y="321889"/>
                    </a:cubicBezTo>
                    <a:cubicBezTo>
                      <a:pt x="125818" y="348947"/>
                      <a:pt x="145510" y="401267"/>
                      <a:pt x="145510" y="401267"/>
                    </a:cubicBezTo>
                    <a:cubicBezTo>
                      <a:pt x="149920" y="449776"/>
                      <a:pt x="151851" y="498575"/>
                      <a:pt x="158739" y="546795"/>
                    </a:cubicBezTo>
                    <a:cubicBezTo>
                      <a:pt x="160711" y="560600"/>
                      <a:pt x="168136" y="573076"/>
                      <a:pt x="171967" y="586485"/>
                    </a:cubicBezTo>
                    <a:cubicBezTo>
                      <a:pt x="192792" y="659383"/>
                      <a:pt x="187399" y="630584"/>
                      <a:pt x="198423" y="626174"/>
                    </a:cubicBezTo>
                    <a:close/>
                  </a:path>
                </a:pathLst>
              </a:custGeom>
              <a:grpFill/>
              <a:ln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 sz="135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1CAC40A-D7B5-9144-8C37-291C29D7A69A}"/>
                </a:ext>
              </a:extLst>
            </p:cNvPr>
            <p:cNvSpPr/>
            <p:nvPr/>
          </p:nvSpPr>
          <p:spPr>
            <a:xfrm>
              <a:off x="1615143" y="596449"/>
              <a:ext cx="3210128" cy="1630524"/>
            </a:xfrm>
            <a:prstGeom prst="rect">
              <a:avLst/>
            </a:prstGeom>
          </p:spPr>
          <p:txBody>
            <a:bodyPr wrap="none" lIns="57143" tIns="28571" rIns="57143" bIns="28571">
              <a:spAutoFit/>
            </a:bodyPr>
            <a:lstStyle/>
            <a:p>
              <a:pPr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/>
                  <a:cs typeface="Calibri"/>
                </a:rPr>
                <a:t>Hospital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533C0FD8-940A-224C-9F16-BE16D6798D82}"/>
              </a:ext>
            </a:extLst>
          </p:cNvPr>
          <p:cNvGrpSpPr/>
          <p:nvPr/>
        </p:nvGrpSpPr>
        <p:grpSpPr>
          <a:xfrm>
            <a:off x="2810422" y="3172906"/>
            <a:ext cx="1800201" cy="1552238"/>
            <a:chOff x="395535" y="4757082"/>
            <a:chExt cx="1800201" cy="155223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4162C53-94F8-1446-9CD9-A27C68CFB278}"/>
                </a:ext>
              </a:extLst>
            </p:cNvPr>
            <p:cNvSpPr/>
            <p:nvPr/>
          </p:nvSpPr>
          <p:spPr>
            <a:xfrm>
              <a:off x="395535" y="4797152"/>
              <a:ext cx="1688483" cy="1512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0F6D6521-DBBC-414D-A5FA-9D5F151C5B4D}"/>
                </a:ext>
              </a:extLst>
            </p:cNvPr>
            <p:cNvSpPr/>
            <p:nvPr/>
          </p:nvSpPr>
          <p:spPr>
            <a:xfrm>
              <a:off x="395536" y="4797152"/>
              <a:ext cx="1688482" cy="3281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E055BA7-5C51-BF42-913D-3411F4C3D834}"/>
                </a:ext>
              </a:extLst>
            </p:cNvPr>
            <p:cNvCxnSpPr/>
            <p:nvPr/>
          </p:nvCxnSpPr>
          <p:spPr>
            <a:xfrm>
              <a:off x="971600" y="4797152"/>
              <a:ext cx="0" cy="151216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2755734-2277-5940-98D3-6A47EC75B62F}"/>
                </a:ext>
              </a:extLst>
            </p:cNvPr>
            <p:cNvSpPr txBox="1"/>
            <p:nvPr/>
          </p:nvSpPr>
          <p:spPr>
            <a:xfrm>
              <a:off x="395536" y="4757082"/>
              <a:ext cx="862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80000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/>
                  <a:cs typeface=""/>
                </a:rPr>
                <a:t>ID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7C778B5-4D1E-F24D-910C-442E48B1329A}"/>
                </a:ext>
              </a:extLst>
            </p:cNvPr>
            <p:cNvSpPr txBox="1"/>
            <p:nvPr/>
          </p:nvSpPr>
          <p:spPr>
            <a:xfrm>
              <a:off x="1044934" y="4757082"/>
              <a:ext cx="1150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80000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/>
                  <a:cs typeface=""/>
                </a:rPr>
                <a:t>Genome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572B93B-DF2C-BE42-A624-9DCFE38589AE}"/>
              </a:ext>
            </a:extLst>
          </p:cNvPr>
          <p:cNvGrpSpPr/>
          <p:nvPr/>
        </p:nvGrpSpPr>
        <p:grpSpPr>
          <a:xfrm>
            <a:off x="7554962" y="3172906"/>
            <a:ext cx="2329659" cy="1552238"/>
            <a:chOff x="6804248" y="4725144"/>
            <a:chExt cx="2329659" cy="1552238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3A36CC3-13BD-6E4E-AF2B-A85C7836FE56}"/>
                </a:ext>
              </a:extLst>
            </p:cNvPr>
            <p:cNvSpPr/>
            <p:nvPr/>
          </p:nvSpPr>
          <p:spPr>
            <a:xfrm>
              <a:off x="6804248" y="4765214"/>
              <a:ext cx="2160240" cy="1512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A141087-B0E5-B849-AAAD-672C1A19A33E}"/>
                </a:ext>
              </a:extLst>
            </p:cNvPr>
            <p:cNvSpPr/>
            <p:nvPr/>
          </p:nvSpPr>
          <p:spPr>
            <a:xfrm>
              <a:off x="6804248" y="4765214"/>
              <a:ext cx="2160239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81A5019-682E-044F-8CB8-6E1B7ED3AB67}"/>
                </a:ext>
              </a:extLst>
            </p:cNvPr>
            <p:cNvCxnSpPr/>
            <p:nvPr/>
          </p:nvCxnSpPr>
          <p:spPr>
            <a:xfrm>
              <a:off x="7380313" y="4765214"/>
              <a:ext cx="0" cy="151216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CF854D4-74A7-2846-BB32-C98A3DFADFE3}"/>
                </a:ext>
              </a:extLst>
            </p:cNvPr>
            <p:cNvSpPr txBox="1"/>
            <p:nvPr/>
          </p:nvSpPr>
          <p:spPr>
            <a:xfrm>
              <a:off x="6804249" y="4725144"/>
              <a:ext cx="8627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80000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/>
                  <a:cs typeface=""/>
                </a:rPr>
                <a:t>ID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E60B8E2-323A-7440-9442-FF56D0A4205A}"/>
                </a:ext>
              </a:extLst>
            </p:cNvPr>
            <p:cNvSpPr txBox="1"/>
            <p:nvPr/>
          </p:nvSpPr>
          <p:spPr>
            <a:xfrm>
              <a:off x="7453647" y="4757082"/>
              <a:ext cx="16802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SzPct val="80000"/>
                <a:defRPr/>
              </a:pPr>
              <a:r>
                <a:rPr lang="en-US" sz="2000" dirty="0">
                  <a:solidFill>
                    <a:prstClr val="black"/>
                  </a:solidFill>
                  <a:latin typeface="Calibri"/>
                  <a:cs typeface=""/>
                </a:rPr>
                <a:t>Phenotype</a:t>
              </a:r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30F7AA77-F2CD-E14E-A53B-313DD3FC0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978" y="1786259"/>
            <a:ext cx="2154931" cy="1106986"/>
          </a:xfrm>
          <a:prstGeom prst="rect">
            <a:avLst/>
          </a:prstGeom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9F47C8A-5D99-4449-8E62-9934B5E35F15}"/>
              </a:ext>
            </a:extLst>
          </p:cNvPr>
          <p:cNvCxnSpPr>
            <a:cxnSpLocks/>
          </p:cNvCxnSpPr>
          <p:nvPr/>
        </p:nvCxnSpPr>
        <p:spPr>
          <a:xfrm>
            <a:off x="5088546" y="3969060"/>
            <a:ext cx="2039611" cy="0"/>
          </a:xfrm>
          <a:prstGeom prst="straightConnector1">
            <a:avLst/>
          </a:prstGeom>
          <a:noFill/>
          <a:ln w="127000" cap="flat" cmpd="sng" algn="ctr">
            <a:solidFill>
              <a:sysClr val="windowText" lastClr="000000"/>
            </a:solidFill>
            <a:prstDash val="solid"/>
            <a:headEnd type="triangle"/>
            <a:tailEnd type="triangle" w="med" len="med"/>
          </a:ln>
          <a:effectLst/>
        </p:spPr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C7DB69C-7044-3D4C-8FEE-C58C9C201FA3}"/>
              </a:ext>
            </a:extLst>
          </p:cNvPr>
          <p:cNvSpPr txBox="1"/>
          <p:nvPr/>
        </p:nvSpPr>
        <p:spPr>
          <a:xfrm>
            <a:off x="1769412" y="5487616"/>
            <a:ext cx="8848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0000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  <a:cs typeface=""/>
              </a:rPr>
              <a:t>“Parties learn the genotype-phenotype correlations and nothing else”</a:t>
            </a:r>
          </a:p>
          <a:p>
            <a:pPr>
              <a:buSzPct val="80000"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  <a:cs typeface=""/>
              </a:rPr>
              <a:t>(MPC)</a:t>
            </a:r>
          </a:p>
          <a:p>
            <a:pPr>
              <a:buSzPct val="80000"/>
              <a:defRPr/>
            </a:pPr>
            <a:endParaRPr lang="en-US" sz="2400" dirty="0">
              <a:solidFill>
                <a:prstClr val="black"/>
              </a:solidFill>
              <a:latin typeface="Calibri"/>
              <a:cs typeface="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882859A-FDA4-DB4B-BCFE-8D7D0692179E}"/>
              </a:ext>
            </a:extLst>
          </p:cNvPr>
          <p:cNvSpPr/>
          <p:nvPr/>
        </p:nvSpPr>
        <p:spPr>
          <a:xfrm>
            <a:off x="1727004" y="5474168"/>
            <a:ext cx="8804604" cy="44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555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23644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Homomorphic Encryption: Syntax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90061F8A-350A-9746-8E3F-4C343089BA4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10408" y="1844824"/>
                <a:ext cx="8316416" cy="160515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𝑠𝑘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𝑒𝑘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𝐺𝑒𝑛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PPT Key generation algorithm generates a secret key </a:t>
                </a:r>
                <a:r>
                  <a:rPr lang="en-US" sz="2400" dirty="0">
                    <a:solidFill>
                      <a:srgbClr val="0000FF"/>
                    </a:solidFill>
                    <a:latin typeface="+mn-lt"/>
                    <a:ea typeface="American Typewriter" charset="0"/>
                    <a:cs typeface="American Typewriter" charset="0"/>
                  </a:rPr>
                  <a:t>as well as a (public) evaluation key</a:t>
                </a:r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.</a:t>
                </a:r>
              </a:p>
            </p:txBody>
          </p:sp>
        </mc:Choice>
        <mc:Fallback>
          <p:sp>
            <p:nvSpPr>
              <p:cNvPr id="4" name="Rectangle 63">
                <a:extLst>
                  <a:ext uri="{FF2B5EF4-FFF2-40B4-BE49-F238E27FC236}">
                    <a16:creationId xmlns:a16="http://schemas.microsoft.com/office/drawing/2014/main" id="{90061F8A-350A-9746-8E3F-4C343089B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408" y="1844824"/>
                <a:ext cx="8316416" cy="1605156"/>
              </a:xfrm>
              <a:prstGeom prst="rect">
                <a:avLst/>
              </a:prstGeom>
              <a:blipFill>
                <a:blip r:embed="rId3"/>
                <a:stretch>
                  <a:fillRect l="-1374" r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850EC10B-B4A8-6646-9CE7-CAF8E0685EA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3284984"/>
                <a:ext cx="8316416" cy="110514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𝐸𝑛𝑐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Encryption algorithm uses the secret key to encrypt message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.</a:t>
                </a:r>
              </a:p>
            </p:txBody>
          </p:sp>
        </mc:Choice>
        <mc:Fallback>
          <p:sp>
            <p:nvSpPr>
              <p:cNvPr id="5" name="Rectangle 63">
                <a:extLst>
                  <a:ext uri="{FF2B5EF4-FFF2-40B4-BE49-F238E27FC236}">
                    <a16:creationId xmlns:a16="http://schemas.microsoft.com/office/drawing/2014/main" id="{850EC10B-B4A8-6646-9CE7-CAF8E0685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3284984"/>
                <a:ext cx="8316416" cy="1105140"/>
              </a:xfrm>
              <a:prstGeom prst="rect">
                <a:avLst/>
              </a:prstGeom>
              <a:blipFill>
                <a:blip r:embed="rId4"/>
                <a:stretch>
                  <a:fillRect l="-1220" t="-10227"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F80F46AD-85D7-524F-B131-EE159D09AE1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5805264"/>
                <a:ext cx="8316416" cy="913052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𝐷𝑒𝑐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Decryption algorithm uses the secret key to decrypt ciphertext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.</a:t>
                </a:r>
              </a:p>
            </p:txBody>
          </p:sp>
        </mc:Choice>
        <mc:Fallback>
          <p:sp>
            <p:nvSpPr>
              <p:cNvPr id="6" name="Rectangle 63">
                <a:extLst>
                  <a:ext uri="{FF2B5EF4-FFF2-40B4-BE49-F238E27FC236}">
                    <a16:creationId xmlns:a16="http://schemas.microsoft.com/office/drawing/2014/main" id="{F80F46AD-85D7-524F-B131-EE159D09A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5805264"/>
                <a:ext cx="8316416" cy="913052"/>
              </a:xfrm>
              <a:prstGeom prst="rect">
                <a:avLst/>
              </a:prstGeom>
              <a:blipFill>
                <a:blip r:embed="rId5"/>
                <a:stretch>
                  <a:fillRect l="-1220" t="-21918" r="-1677" b="-35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28D54FA8-605A-104C-BDE1-B1D33F2ECC9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44080" y="1268760"/>
                <a:ext cx="8316416" cy="722152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2800" i="1" dirty="0">
                    <a:ea typeface="Cambria Math" panose="02040503050406030204" pitchFamily="18" charset="0"/>
                    <a:cs typeface="American Typewriter" charset="0"/>
                  </a:rPr>
                  <a:t>4-tuple of PPT algorithms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𝐺𝑒𝑛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𝐸𝑛𝑐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𝐷𝑒𝑐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,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𝐸𝑣𝑎𝑙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)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  <a:r>
                  <a:rPr lang="en-US" sz="2800" dirty="0" err="1">
                    <a:latin typeface="+mn-lt"/>
                    <a:ea typeface="American Typewriter" charset="0"/>
                    <a:cs typeface="American Typewriter" charset="0"/>
                  </a:rPr>
                  <a:t>s.t.</a:t>
                </a:r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</p:txBody>
          </p:sp>
        </mc:Choice>
        <mc:Fallback>
          <p:sp>
            <p:nvSpPr>
              <p:cNvPr id="9" name="Rectangle 63">
                <a:extLst>
                  <a:ext uri="{FF2B5EF4-FFF2-40B4-BE49-F238E27FC236}">
                    <a16:creationId xmlns:a16="http://schemas.microsoft.com/office/drawing/2014/main" id="{28D54FA8-605A-104C-BDE1-B1D33F2EC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080" y="1268760"/>
                <a:ext cx="8316416" cy="722152"/>
              </a:xfrm>
              <a:prstGeom prst="rect">
                <a:avLst/>
              </a:prstGeom>
              <a:blipFill>
                <a:blip r:embed="rId6"/>
                <a:stretch>
                  <a:fillRect l="-1524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ubtitle 1">
            <a:extLst>
              <a:ext uri="{FF2B5EF4-FFF2-40B4-BE49-F238E27FC236}">
                <a16:creationId xmlns:a16="http://schemas.microsoft.com/office/drawing/2014/main" id="{5D04ECC6-8718-E94A-AB0F-91EAD40855DB}"/>
              </a:ext>
            </a:extLst>
          </p:cNvPr>
          <p:cNvSpPr txBox="1">
            <a:spLocks/>
          </p:cNvSpPr>
          <p:nvPr/>
        </p:nvSpPr>
        <p:spPr>
          <a:xfrm>
            <a:off x="1559496" y="620688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(can be either secret-key or public-key </a:t>
            </a:r>
            <a:r>
              <a:rPr lang="en-US" sz="2800" dirty="0" err="1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enc</a:t>
            </a:r>
            <a:r>
              <a:rPr lang="en-US" sz="2800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)</a:t>
            </a:r>
            <a:endParaRPr lang="en-US" sz="28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63">
                <a:extLst>
                  <a:ext uri="{FF2B5EF4-FFF2-40B4-BE49-F238E27FC236}">
                    <a16:creationId xmlns:a16="http://schemas.microsoft.com/office/drawing/2014/main" id="{6BC95727-3CCD-584D-AFB7-E10CB467D0D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4509120"/>
                <a:ext cx="8316416" cy="113158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𝑐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′←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𝐸𝑣𝑎𝑙</m:t>
                    </m:r>
                    <m:d>
                      <m:d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𝑒𝑘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𝑓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solidFill>
                      <a:srgbClr val="0000FF"/>
                    </a:solidFill>
                    <a:latin typeface="+mn-lt"/>
                    <a:ea typeface="American Typewriter" charset="0"/>
                    <a:cs typeface="American Typewriter" charset="0"/>
                  </a:rPr>
                  <a:t>Homomorphic evaluation algorithm uses the evaluation key to produce an “evaluated ciphertext”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rgbClr val="0000FF"/>
                    </a:solidFill>
                    <a:latin typeface="+mn-lt"/>
                    <a:ea typeface="American Typewriter" charset="0"/>
                    <a:cs typeface="American Typewriter" charset="0"/>
                  </a:rPr>
                  <a:t>.</a:t>
                </a:r>
              </a:p>
            </p:txBody>
          </p:sp>
        </mc:Choice>
        <mc:Fallback>
          <p:sp>
            <p:nvSpPr>
              <p:cNvPr id="19" name="Rectangle 63">
                <a:extLst>
                  <a:ext uri="{FF2B5EF4-FFF2-40B4-BE49-F238E27FC236}">
                    <a16:creationId xmlns:a16="http://schemas.microsoft.com/office/drawing/2014/main" id="{6BC95727-3CCD-584D-AFB7-E10CB467D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4509120"/>
                <a:ext cx="8316416" cy="1131586"/>
              </a:xfrm>
              <a:prstGeom prst="rect">
                <a:avLst/>
              </a:prstGeom>
              <a:blipFill>
                <a:blip r:embed="rId7"/>
                <a:stretch>
                  <a:fillRect l="-1220" t="-8889" r="-167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81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Homomorphic Encryption: Correctness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63">
                <a:extLst>
                  <a:ext uri="{FF2B5EF4-FFF2-40B4-BE49-F238E27FC236}">
                    <a16:creationId xmlns:a16="http://schemas.microsoft.com/office/drawing/2014/main" id="{6BC95727-3CCD-584D-AFB7-E10CB467D0D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572943" y="1574413"/>
                <a:ext cx="8316416" cy="113158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𝐷𝑒𝑐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𝑠𝑘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𝐸𝑣𝑎𝑙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𝑒𝑘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𝐸𝑛𝑐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</p:txBody>
          </p:sp>
        </mc:Choice>
        <mc:Fallback>
          <p:sp>
            <p:nvSpPr>
              <p:cNvPr id="19" name="Rectangle 63">
                <a:extLst>
                  <a:ext uri="{FF2B5EF4-FFF2-40B4-BE49-F238E27FC236}">
                    <a16:creationId xmlns:a16="http://schemas.microsoft.com/office/drawing/2014/main" id="{6BC95727-3CCD-584D-AFB7-E10CB467D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43" y="1574413"/>
                <a:ext cx="8316416" cy="113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3650" y="3140968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50" y="3140968"/>
                <a:ext cx="539552" cy="483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EB4D6A-B6E9-A04E-B662-11E607C1E6E9}"/>
              </a:ext>
            </a:extLst>
          </p:cNvPr>
          <p:cNvCxnSpPr/>
          <p:nvPr/>
        </p:nvCxnSpPr>
        <p:spPr>
          <a:xfrm>
            <a:off x="4433730" y="3429000"/>
            <a:ext cx="252028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E95800-8035-0342-900C-34F609BCC1C2}"/>
              </a:ext>
            </a:extLst>
          </p:cNvPr>
          <p:cNvCxnSpPr>
            <a:cxnSpLocks/>
          </p:cNvCxnSpPr>
          <p:nvPr/>
        </p:nvCxnSpPr>
        <p:spPr>
          <a:xfrm>
            <a:off x="3901648" y="3933056"/>
            <a:ext cx="0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4ACB86-42A6-744E-9C18-8689FF9B30A5}"/>
              </a:ext>
            </a:extLst>
          </p:cNvPr>
          <p:cNvCxnSpPr>
            <a:cxnSpLocks/>
          </p:cNvCxnSpPr>
          <p:nvPr/>
        </p:nvCxnSpPr>
        <p:spPr>
          <a:xfrm flipV="1">
            <a:off x="7602082" y="3933056"/>
            <a:ext cx="0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2F0AD69-5980-D94C-A680-171C444009E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459456" y="5517232"/>
            <a:ext cx="2494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046735DE-DAF3-F946-B3E0-5A506F664AE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353610" y="5275475"/>
                <a:ext cx="1105846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𝑐</m:t>
                      </m:r>
                    </m:oMath>
                  </m:oMathPara>
                </a14:m>
                <a:endParaRPr lang="en-US" sz="2800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17" name="Rectangle 63">
                <a:extLst>
                  <a:ext uri="{FF2B5EF4-FFF2-40B4-BE49-F238E27FC236}">
                    <a16:creationId xmlns:a16="http://schemas.microsoft.com/office/drawing/2014/main" id="{046735DE-DAF3-F946-B3E0-5A506F664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10" y="5275475"/>
                <a:ext cx="1105846" cy="483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CC2901EF-CB60-9149-892A-BD8DC7007C5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895836" y="4169622"/>
                <a:ext cx="1105846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merican Typewriter" charset="0"/>
                            </a:rPr>
                            <m:t>𝑬𝒏𝒄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𝒑𝒌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20" name="Rectangle 63">
                <a:extLst>
                  <a:ext uri="{FF2B5EF4-FFF2-40B4-BE49-F238E27FC236}">
                    <a16:creationId xmlns:a16="http://schemas.microsoft.com/office/drawing/2014/main" id="{CC2901EF-CB60-9149-892A-BD8DC7007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836" y="4169622"/>
                <a:ext cx="1105846" cy="483514"/>
              </a:xfrm>
              <a:prstGeom prst="rect">
                <a:avLst/>
              </a:prstGeom>
              <a:blipFill>
                <a:blip r:embed="rId6"/>
                <a:stretch>
                  <a:fillRect l="-9195" r="-1149"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63">
                <a:extLst>
                  <a:ext uri="{FF2B5EF4-FFF2-40B4-BE49-F238E27FC236}">
                    <a16:creationId xmlns:a16="http://schemas.microsoft.com/office/drawing/2014/main" id="{B0B795A7-9AF2-EA49-9E9C-D83BCE1B284E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702115" y="4169622"/>
                <a:ext cx="1105846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merican Typewriter" charset="0"/>
                            </a:rPr>
                            <m:t>𝑬𝒏𝒄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merican Typewriter" charset="0"/>
                            </a:rPr>
                            <m:t>𝒔</m:t>
                          </m:r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21" name="Rectangle 63">
                <a:extLst>
                  <a:ext uri="{FF2B5EF4-FFF2-40B4-BE49-F238E27FC236}">
                    <a16:creationId xmlns:a16="http://schemas.microsoft.com/office/drawing/2014/main" id="{B0B795A7-9AF2-EA49-9E9C-D83BCE1B2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115" y="4169622"/>
                <a:ext cx="1105846" cy="483514"/>
              </a:xfrm>
              <a:prstGeom prst="rect">
                <a:avLst/>
              </a:prstGeom>
              <a:blipFill>
                <a:blip r:embed="rId7"/>
                <a:stretch>
                  <a:fillRect l="-681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63">
                <a:extLst>
                  <a:ext uri="{FF2B5EF4-FFF2-40B4-BE49-F238E27FC236}">
                    <a16:creationId xmlns:a16="http://schemas.microsoft.com/office/drawing/2014/main" id="{6158F960-265A-C346-BADE-57FE8C99A33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750532" y="5736880"/>
                <a:ext cx="1912403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American Typewriter" charset="0"/>
                              <a:cs typeface="American Typewriter" charset="0"/>
                            </a:rPr>
                            <m:t>𝑬𝒗𝒂𝒍</m:t>
                          </m:r>
                        </m:e>
                        <m:sub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22" name="Rectangle 63">
                <a:extLst>
                  <a:ext uri="{FF2B5EF4-FFF2-40B4-BE49-F238E27FC236}">
                    <a16:creationId xmlns:a16="http://schemas.microsoft.com/office/drawing/2014/main" id="{6158F960-265A-C346-BADE-57FE8C99A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532" y="5736880"/>
                <a:ext cx="1912403" cy="483514"/>
              </a:xfrm>
              <a:prstGeom prst="rect">
                <a:avLst/>
              </a:prstGeom>
              <a:blipFill>
                <a:blip r:embed="rId8"/>
                <a:stretch>
                  <a:fillRect b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38FB11D1-D15C-C94F-8D0F-310A093A8C11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149192" y="5275475"/>
                <a:ext cx="1105846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𝑐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′</m:t>
                      </m:r>
                    </m:oMath>
                  </m:oMathPara>
                </a14:m>
                <a:endParaRPr lang="en-US" sz="2800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38FB11D1-D15C-C94F-8D0F-310A093A8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192" y="5275475"/>
                <a:ext cx="1105846" cy="483514"/>
              </a:xfrm>
              <a:prstGeom prst="rect">
                <a:avLst/>
              </a:prstGeom>
              <a:blipFill>
                <a:blip r:embed="rId9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B189CFBD-589B-C540-8124-A07D4C559F9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7332306" y="3115235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𝑓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B189CFBD-589B-C540-8124-A07D4C55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306" y="3115235"/>
                <a:ext cx="539552" cy="483514"/>
              </a:xfrm>
              <a:prstGeom prst="rect">
                <a:avLst/>
              </a:prstGeom>
              <a:blipFill>
                <a:blip r:embed="rId10"/>
                <a:stretch>
                  <a:fillRect l="-53488" r="-39535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F2CF4F26-74E4-1A49-AD54-223B03B71B52}"/>
              </a:ext>
            </a:extLst>
          </p:cNvPr>
          <p:cNvSpPr/>
          <p:nvPr/>
        </p:nvSpPr>
        <p:spPr>
          <a:xfrm>
            <a:off x="2207569" y="4653136"/>
            <a:ext cx="7681791" cy="1944216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AFFEF5-732A-D94D-ABDD-30023DDC1D0F}"/>
              </a:ext>
            </a:extLst>
          </p:cNvPr>
          <p:cNvSpPr/>
          <p:nvPr/>
        </p:nvSpPr>
        <p:spPr>
          <a:xfrm>
            <a:off x="2237285" y="6165756"/>
            <a:ext cx="1828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mbria Math" panose="02040503050406030204" pitchFamily="18" charset="0"/>
                <a:cs typeface="American Typewriter" charset="0"/>
              </a:rPr>
              <a:t>Ciphertext world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76362-37F7-EE4F-9F27-6F201128161C}"/>
              </a:ext>
            </a:extLst>
          </p:cNvPr>
          <p:cNvSpPr/>
          <p:nvPr/>
        </p:nvSpPr>
        <p:spPr>
          <a:xfrm>
            <a:off x="2268315" y="2702549"/>
            <a:ext cx="1655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ea typeface="Cambria Math" panose="02040503050406030204" pitchFamily="18" charset="0"/>
                <a:cs typeface="American Typewriter" charset="0"/>
              </a:rPr>
              <a:t>Plaintext world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BDBDDC-F5CE-484F-8CC3-4AC0C664AE33}"/>
              </a:ext>
            </a:extLst>
          </p:cNvPr>
          <p:cNvSpPr/>
          <p:nvPr/>
        </p:nvSpPr>
        <p:spPr>
          <a:xfrm>
            <a:off x="2207569" y="2689987"/>
            <a:ext cx="7681791" cy="1944216"/>
          </a:xfrm>
          <a:prstGeom prst="rect">
            <a:avLst/>
          </a:prstGeom>
          <a:solidFill>
            <a:srgbClr val="0000FF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8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Homomorphic Encryption: Security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latin typeface="+mn-lt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3" descr="stick">
            <a:extLst>
              <a:ext uri="{FF2B5EF4-FFF2-40B4-BE49-F238E27FC236}">
                <a16:creationId xmlns:a16="http://schemas.microsoft.com/office/drawing/2014/main" id="{9BA7044D-2145-9640-9715-C6D7B2B0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3" descr="Cloud 06">
            <a:extLst>
              <a:ext uri="{FF2B5EF4-FFF2-40B4-BE49-F238E27FC236}">
                <a16:creationId xmlns:a16="http://schemas.microsoft.com/office/drawing/2014/main" id="{2FEF7118-D4DE-C141-8A4E-862BBE9C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4" descr="TAC TowerDrive">
            <a:extLst>
              <a:ext uri="{FF2B5EF4-FFF2-40B4-BE49-F238E27FC236}">
                <a16:creationId xmlns:a16="http://schemas.microsoft.com/office/drawing/2014/main" id="{91D77048-DE17-7F47-9CEA-B908DFF9D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5" descr="TAC TowerDrive">
            <a:extLst>
              <a:ext uri="{FF2B5EF4-FFF2-40B4-BE49-F238E27FC236}">
                <a16:creationId xmlns:a16="http://schemas.microsoft.com/office/drawing/2014/main" id="{6B202469-48DF-5649-9570-F0539FF88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6" descr="TAC TowerDrive">
            <a:extLst>
              <a:ext uri="{FF2B5EF4-FFF2-40B4-BE49-F238E27FC236}">
                <a16:creationId xmlns:a16="http://schemas.microsoft.com/office/drawing/2014/main" id="{131D391A-D616-CC45-B928-ECE08E10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1" descr="TAC TowerDrive">
            <a:extLst>
              <a:ext uri="{FF2B5EF4-FFF2-40B4-BE49-F238E27FC236}">
                <a16:creationId xmlns:a16="http://schemas.microsoft.com/office/drawing/2014/main" id="{525D024A-F747-4D44-8210-EE759A53C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39" descr="TAC TowerDrive">
            <a:extLst>
              <a:ext uri="{FF2B5EF4-FFF2-40B4-BE49-F238E27FC236}">
                <a16:creationId xmlns:a16="http://schemas.microsoft.com/office/drawing/2014/main" id="{C6069C13-D03F-5D47-8B73-1736FEDBF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41">
            <a:extLst>
              <a:ext uri="{FF2B5EF4-FFF2-40B4-BE49-F238E27FC236}">
                <a16:creationId xmlns:a16="http://schemas.microsoft.com/office/drawing/2014/main" id="{08B5E478-02D3-D04E-9151-D33051878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/>
              <a:t>Client</a:t>
            </a:r>
          </a:p>
        </p:txBody>
      </p:sp>
      <p:sp>
        <p:nvSpPr>
          <p:cNvPr id="32" name="Rectangle 42">
            <a:extLst>
              <a:ext uri="{FF2B5EF4-FFF2-40B4-BE49-F238E27FC236}">
                <a16:creationId xmlns:a16="http://schemas.microsoft.com/office/drawing/2014/main" id="{38DF6451-7F7E-5144-9A33-77222C7D5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/>
              <a:t>Server (the Cloud)</a:t>
            </a:r>
          </a:p>
        </p:txBody>
      </p:sp>
      <p:sp>
        <p:nvSpPr>
          <p:cNvPr id="33" name="Rectangle 58">
            <a:extLst>
              <a:ext uri="{FF2B5EF4-FFF2-40B4-BE49-F238E27FC236}">
                <a16:creationId xmlns:a16="http://schemas.microsoft.com/office/drawing/2014/main" id="{1255DCE8-BFFF-8F41-A239-0CB813E6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9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/>
              <a:t>Input: </a:t>
            </a:r>
            <a:r>
              <a:rPr lang="en-US" altLang="en-US" sz="24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34" name="Rectangle 59">
            <a:extLst>
              <a:ext uri="{FF2B5EF4-FFF2-40B4-BE49-F238E27FC236}">
                <a16:creationId xmlns:a16="http://schemas.microsoft.com/office/drawing/2014/main" id="{66FD0D27-1C94-6941-8CDA-1359E1548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 dirty="0"/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35" name="Line 69">
            <a:extLst>
              <a:ext uri="{FF2B5EF4-FFF2-40B4-BE49-F238E27FC236}">
                <a16:creationId xmlns:a16="http://schemas.microsoft.com/office/drawing/2014/main" id="{7CFF6877-3BF2-3444-B3A5-975DBA6DB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73">
            <a:extLst>
              <a:ext uri="{FF2B5EF4-FFF2-40B4-BE49-F238E27FC236}">
                <a16:creationId xmlns:a16="http://schemas.microsoft.com/office/drawing/2014/main" id="{3949A919-F0D8-D143-BDE4-6FFDD571D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576" y="3382888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Rectangle 74">
            <a:extLst>
              <a:ext uri="{FF2B5EF4-FFF2-40B4-BE49-F238E27FC236}">
                <a16:creationId xmlns:a16="http://schemas.microsoft.com/office/drawing/2014/main" id="{5805A462-3D81-CA46-BCF8-9E5E4D23A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376" y="29256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(f(x))</a:t>
            </a: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D7B839E2-32FF-D14B-BCDA-B0EE670E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Arial" panose="020B0604020202020204" pitchFamily="34" charset="0"/>
              <a:buNone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46" name="Rectangle 63">
            <a:extLst>
              <a:ext uri="{FF2B5EF4-FFF2-40B4-BE49-F238E27FC236}">
                <a16:creationId xmlns:a16="http://schemas.microsoft.com/office/drawing/2014/main" id="{98D7DA12-E28C-D146-B43D-AE4BDDA8D9B8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509120"/>
            <a:ext cx="8316416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Security against the “curious cloud” = standard </a:t>
            </a:r>
            <a:r>
              <a:rPr lang="en-US" sz="2800" b="1" dirty="0">
                <a:ea typeface="Cambria Math" panose="02040503050406030204" pitchFamily="18" charset="0"/>
                <a:cs typeface="American Typewriter" charset="0"/>
              </a:rPr>
              <a:t>IND-security </a:t>
            </a:r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of secret-key encryption  </a:t>
            </a:r>
            <a:endParaRPr lang="en-US" sz="2400" dirty="0">
              <a:latin typeface="+mn-lt"/>
              <a:ea typeface="American Typewriter" charset="0"/>
              <a:cs typeface="American Typewriter" charset="0"/>
            </a:endParaRPr>
          </a:p>
        </p:txBody>
      </p:sp>
      <p:sp>
        <p:nvSpPr>
          <p:cNvPr id="48" name="Rectangle 63">
            <a:extLst>
              <a:ext uri="{FF2B5EF4-FFF2-40B4-BE49-F238E27FC236}">
                <a16:creationId xmlns:a16="http://schemas.microsoft.com/office/drawing/2014/main" id="{EE3502E4-FFCF-6947-BD79-C362FDE1C72F}"/>
              </a:ext>
            </a:extLst>
          </p:cNvPr>
          <p:cNvSpPr txBox="1">
            <a:spLocks noChangeArrowheads="1"/>
          </p:cNvSpPr>
          <p:nvPr/>
        </p:nvSpPr>
        <p:spPr>
          <a:xfrm>
            <a:off x="1955032" y="5661992"/>
            <a:ext cx="8568952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i="1" dirty="0">
                <a:ea typeface="Cambria Math" panose="02040503050406030204" pitchFamily="18" charset="0"/>
                <a:cs typeface="American Typewriter" charset="0"/>
              </a:rPr>
              <a:t>Key Point</a:t>
            </a:r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: </a:t>
            </a:r>
            <a:r>
              <a:rPr lang="en-US" sz="2800" dirty="0" err="1">
                <a:ea typeface="Cambria Math" panose="02040503050406030204" pitchFamily="18" charset="0"/>
                <a:cs typeface="American Typewriter" charset="0"/>
              </a:rPr>
              <a:t>Eval</a:t>
            </a:r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 is an entirely public algorithm with public inputs. </a:t>
            </a:r>
            <a:endParaRPr lang="en-US" sz="2400" dirty="0">
              <a:latin typeface="+mn-lt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12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188640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Here is a homomorphic encryption scheme…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63">
                <a:extLst>
                  <a:ext uri="{FF2B5EF4-FFF2-40B4-BE49-F238E27FC236}">
                    <a16:creationId xmlns:a16="http://schemas.microsoft.com/office/drawing/2014/main" id="{0A7F6E3A-9749-B24E-B70A-6405043325C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10408" y="620688"/>
                <a:ext cx="8316416" cy="160515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𝑠𝑘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merican Typewriter" charset="0"/>
                          </a:rPr>
                          <m:t>,−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𝐺𝑒𝑛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Use any old secret key </a:t>
                </a:r>
                <a:r>
                  <a:rPr lang="en-US" sz="2400" dirty="0" err="1">
                    <a:latin typeface="+mn-lt"/>
                    <a:ea typeface="American Typewriter" charset="0"/>
                    <a:cs typeface="American Typewriter" charset="0"/>
                  </a:rPr>
                  <a:t>enc</a:t>
                </a:r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 scheme.</a:t>
                </a:r>
              </a:p>
            </p:txBody>
          </p:sp>
        </mc:Choice>
        <mc:Fallback>
          <p:sp>
            <p:nvSpPr>
              <p:cNvPr id="21" name="Rectangle 63">
                <a:extLst>
                  <a:ext uri="{FF2B5EF4-FFF2-40B4-BE49-F238E27FC236}">
                    <a16:creationId xmlns:a16="http://schemas.microsoft.com/office/drawing/2014/main" id="{0A7F6E3A-9749-B24E-B70A-640504332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408" y="620688"/>
                <a:ext cx="8316416" cy="1605156"/>
              </a:xfrm>
              <a:prstGeom prst="rect">
                <a:avLst/>
              </a:prstGeom>
              <a:blipFill>
                <a:blip r:embed="rId3"/>
                <a:stretch>
                  <a:fillRect l="-1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63">
                <a:extLst>
                  <a:ext uri="{FF2B5EF4-FFF2-40B4-BE49-F238E27FC236}">
                    <a16:creationId xmlns:a16="http://schemas.microsoft.com/office/drawing/2014/main" id="{649028BF-B09A-3541-9B94-2D3D7A69CF93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2060848"/>
                <a:ext cx="8316416" cy="110514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𝐸𝑛𝑐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Just the secret key encryption algorithm…</a:t>
                </a:r>
              </a:p>
            </p:txBody>
          </p:sp>
        </mc:Choice>
        <mc:Fallback>
          <p:sp>
            <p:nvSpPr>
              <p:cNvPr id="22" name="Rectangle 63">
                <a:extLst>
                  <a:ext uri="{FF2B5EF4-FFF2-40B4-BE49-F238E27FC236}">
                    <a16:creationId xmlns:a16="http://schemas.microsoft.com/office/drawing/2014/main" id="{649028BF-B09A-3541-9B94-2D3D7A69C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2060848"/>
                <a:ext cx="8316416" cy="1105140"/>
              </a:xfrm>
              <a:prstGeom prst="rect">
                <a:avLst/>
              </a:prstGeom>
              <a:blipFill>
                <a:blip r:embed="rId4"/>
                <a:stretch>
                  <a:fillRect l="-1220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80A843D7-DA45-A643-B00D-7F220465247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4437112"/>
                <a:ext cx="8316416" cy="151216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𝑚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𝐷𝑒𝑐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Parse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𝑐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||</m:t>
                    </m:r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 as a ciphertext concatenated with a function description. Decrypt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 and compute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.</a:t>
                </a:r>
              </a:p>
            </p:txBody>
          </p:sp>
        </mc:Choice>
        <mc:Fallback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80A843D7-DA45-A643-B00D-7F220465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4437112"/>
                <a:ext cx="8316416" cy="1512168"/>
              </a:xfrm>
              <a:prstGeom prst="rect">
                <a:avLst/>
              </a:prstGeom>
              <a:blipFill>
                <a:blip r:embed="rId5"/>
                <a:stretch>
                  <a:fillRect l="-1220" b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C2480299-3506-194F-AE6B-DD2A6C9DFFD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07568" y="3284984"/>
                <a:ext cx="8316416" cy="113158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𝑐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′←</m:t>
                    </m:r>
                    <m:r>
                      <a:rPr lang="en-US" sz="28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𝐸𝑣𝑎𝑙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𝑒𝑘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American Typewriter" charset="0"/>
                            <a:cs typeface="American Typewriter" charset="0"/>
                          </a:rPr>
                          <m:t>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8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latin typeface="+mn-lt"/>
                    <a:ea typeface="American Typewriter" charset="0"/>
                    <a:cs typeface="American Typewriter" charset="0"/>
                  </a:rPr>
                  <a:t> </a:t>
                </a:r>
              </a:p>
              <a:p>
                <a:pPr algn="l"/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merican Typewriter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 || </m:t>
                    </m:r>
                    <m:r>
                      <a:rPr lang="en-US" sz="2400" i="1">
                        <a:latin typeface="Cambria Math" panose="02040503050406030204" pitchFamily="18" charset="0"/>
                        <a:ea typeface="American Typewriter" charset="0"/>
                        <a:cs typeface="American Typewriter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.  So </a:t>
                </a:r>
                <a:r>
                  <a:rPr lang="en-US" sz="2400" dirty="0" err="1">
                    <a:latin typeface="+mn-lt"/>
                    <a:ea typeface="American Typewriter" charset="0"/>
                    <a:cs typeface="American Typewriter" charset="0"/>
                  </a:rPr>
                  <a:t>Eval</a:t>
                </a:r>
                <a:r>
                  <a:rPr lang="en-US" sz="2400" dirty="0">
                    <a:latin typeface="+mn-lt"/>
                    <a:ea typeface="American Typewriter" charset="0"/>
                    <a:cs typeface="American Typewriter" charset="0"/>
                  </a:rPr>
                  <a:t> is basically the identity function!!</a:t>
                </a:r>
              </a:p>
            </p:txBody>
          </p:sp>
        </mc:Choice>
        <mc:Fallback>
          <p:sp>
            <p:nvSpPr>
              <p:cNvPr id="24" name="Rectangle 63">
                <a:extLst>
                  <a:ext uri="{FF2B5EF4-FFF2-40B4-BE49-F238E27FC236}">
                    <a16:creationId xmlns:a16="http://schemas.microsoft.com/office/drawing/2014/main" id="{C2480299-3506-194F-AE6B-DD2A6C9DF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3284984"/>
                <a:ext cx="8316416" cy="1131586"/>
              </a:xfrm>
              <a:prstGeom prst="rect">
                <a:avLst/>
              </a:prstGeom>
              <a:blipFill>
                <a:blip r:embed="rId6"/>
                <a:stretch>
                  <a:fillRect l="-1220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63">
            <a:extLst>
              <a:ext uri="{FF2B5EF4-FFF2-40B4-BE49-F238E27FC236}">
                <a16:creationId xmlns:a16="http://schemas.microsoft.com/office/drawing/2014/main" id="{9A629A42-5D8B-4A44-99F4-451601BA7A49}"/>
              </a:ext>
            </a:extLst>
          </p:cNvPr>
          <p:cNvSpPr txBox="1">
            <a:spLocks noChangeArrowheads="1"/>
          </p:cNvSpPr>
          <p:nvPr/>
        </p:nvSpPr>
        <p:spPr>
          <a:xfrm>
            <a:off x="2207568" y="5733256"/>
            <a:ext cx="8316416" cy="115212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solidFill>
                  <a:srgbClr val="0000FF"/>
                </a:solidFill>
                <a:latin typeface="+mn-lt"/>
                <a:ea typeface="American Typewriter" charset="0"/>
                <a:cs typeface="American Typewriter" charset="0"/>
              </a:rPr>
              <a:t>This is correct and it is IND-secure.</a:t>
            </a:r>
          </a:p>
        </p:txBody>
      </p:sp>
    </p:spTree>
    <p:extLst>
      <p:ext uri="{BB962C8B-B14F-4D97-AF65-F5344CB8AC3E}">
        <p14:creationId xmlns:p14="http://schemas.microsoft.com/office/powerpoint/2010/main" val="276303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Homomorphic Encryption: Compactness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p:sp>
        <p:nvSpPr>
          <p:cNvPr id="46" name="Rectangle 63">
            <a:extLst>
              <a:ext uri="{FF2B5EF4-FFF2-40B4-BE49-F238E27FC236}">
                <a16:creationId xmlns:a16="http://schemas.microsoft.com/office/drawing/2014/main" id="{98D7DA12-E28C-D146-B43D-AE4BDDA8D9B8}"/>
              </a:ext>
            </a:extLst>
          </p:cNvPr>
          <p:cNvSpPr txBox="1">
            <a:spLocks noChangeArrowheads="1"/>
          </p:cNvSpPr>
          <p:nvPr/>
        </p:nvSpPr>
        <p:spPr>
          <a:xfrm>
            <a:off x="1956048" y="1628800"/>
            <a:ext cx="8316416" cy="18714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The size (bit-length) of the evaluated ciphertext and the runtime of the decryption is </a:t>
            </a:r>
            <a:r>
              <a:rPr lang="en-US" sz="2800" i="1" dirty="0">
                <a:solidFill>
                  <a:srgbClr val="0000FF"/>
                </a:solidFill>
                <a:ea typeface="Cambria Math" panose="02040503050406030204" pitchFamily="18" charset="0"/>
                <a:cs typeface="American Typewriter" charset="0"/>
              </a:rPr>
              <a:t>independent of </a:t>
            </a:r>
            <a:r>
              <a:rPr lang="en-US" sz="2800" dirty="0">
                <a:ea typeface="Cambria Math" panose="02040503050406030204" pitchFamily="18" charset="0"/>
                <a:cs typeface="American Typewriter" charset="0"/>
              </a:rPr>
              <a:t>the complexity of the evaluated function.</a:t>
            </a:r>
            <a:endParaRPr lang="en-US" sz="2400" dirty="0">
              <a:latin typeface="+mn-lt"/>
              <a:ea typeface="American Typewriter" charset="0"/>
              <a:cs typeface="American Typewriter" charset="0"/>
            </a:endParaRPr>
          </a:p>
        </p:txBody>
      </p:sp>
      <p:sp>
        <p:nvSpPr>
          <p:cNvPr id="48" name="Rectangle 63">
            <a:extLst>
              <a:ext uri="{FF2B5EF4-FFF2-40B4-BE49-F238E27FC236}">
                <a16:creationId xmlns:a16="http://schemas.microsoft.com/office/drawing/2014/main" id="{EE3502E4-FFCF-6947-BD79-C362FDE1C72F}"/>
              </a:ext>
            </a:extLst>
          </p:cNvPr>
          <p:cNvSpPr txBox="1">
            <a:spLocks noChangeArrowheads="1"/>
          </p:cNvSpPr>
          <p:nvPr/>
        </p:nvSpPr>
        <p:spPr>
          <a:xfrm>
            <a:off x="1956048" y="4004320"/>
            <a:ext cx="8568952" cy="237626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en-US" sz="2800" b="1" i="1" dirty="0">
                <a:ea typeface="Cambria Math" panose="02040503050406030204" pitchFamily="18" charset="0"/>
                <a:cs typeface="American Typewriter" charset="0"/>
              </a:rPr>
              <a:t>A Relaxation:  </a:t>
            </a:r>
            <a:r>
              <a:rPr lang="en-US" sz="2800" dirty="0">
                <a:solidFill>
                  <a:prstClr val="black"/>
                </a:solidFill>
                <a:ea typeface="Cambria Math" panose="02040503050406030204" pitchFamily="18" charset="0"/>
                <a:cs typeface="American Typewriter" charset="0"/>
              </a:rPr>
              <a:t>The size (bit-length) of the evaluated ciphertext and the runtime of the decryption </a:t>
            </a:r>
            <a:r>
              <a:rPr lang="en-US" sz="2800" i="1" dirty="0">
                <a:solidFill>
                  <a:srgbClr val="0000FF"/>
                </a:solidFill>
                <a:ea typeface="Cambria Math" panose="02040503050406030204" pitchFamily="18" charset="0"/>
                <a:cs typeface="American Typewriter" charset="0"/>
              </a:rPr>
              <a:t>depends </a:t>
            </a:r>
            <a:r>
              <a:rPr lang="en-US" sz="2800" i="1" dirty="0" err="1">
                <a:solidFill>
                  <a:srgbClr val="0000FF"/>
                </a:solidFill>
                <a:ea typeface="Cambria Math" panose="02040503050406030204" pitchFamily="18" charset="0"/>
                <a:cs typeface="American Typewriter" charset="0"/>
              </a:rPr>
              <a:t>sublinearly</a:t>
            </a:r>
            <a:r>
              <a:rPr lang="en-US" sz="2800" i="1" dirty="0">
                <a:solidFill>
                  <a:srgbClr val="0000FF"/>
                </a:solidFill>
                <a:ea typeface="Cambria Math" panose="02040503050406030204" pitchFamily="18" charset="0"/>
                <a:cs typeface="American Typewriter" charset="0"/>
              </a:rPr>
              <a:t> on </a:t>
            </a:r>
            <a:r>
              <a:rPr lang="en-US" sz="2800" dirty="0">
                <a:solidFill>
                  <a:prstClr val="black"/>
                </a:solidFill>
                <a:ea typeface="Cambria Math" panose="02040503050406030204" pitchFamily="18" charset="0"/>
                <a:cs typeface="American Typewriter" charset="0"/>
              </a:rPr>
              <a:t>the complexity of the evaluated function.</a:t>
            </a:r>
            <a:endParaRPr lang="en-US" sz="2400" dirty="0">
              <a:solidFill>
                <a:prstClr val="black"/>
              </a:solidFill>
              <a:ea typeface="American Typewriter" charset="0"/>
              <a:cs typeface="American Typewriter" charset="0"/>
            </a:endParaRPr>
          </a:p>
          <a:p>
            <a:pPr algn="l"/>
            <a:endParaRPr lang="en-US" sz="2400" dirty="0">
              <a:latin typeface="+mn-lt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0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260648"/>
            <a:ext cx="8991600" cy="91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b="1" kern="0" dirty="0">
                <a:solidFill>
                  <a:srgbClr val="891637"/>
                </a:solidFill>
                <a:latin typeface="Calibri" pitchFamily="34" charset="0"/>
                <a:cs typeface="Arial"/>
              </a:rPr>
              <a:t>How to Compute Arbitrary Functions</a:t>
            </a:r>
          </a:p>
        </p:txBody>
      </p:sp>
      <p:grpSp>
        <p:nvGrpSpPr>
          <p:cNvPr id="39" name="Group 99">
            <a:extLst>
              <a:ext uri="{FF2B5EF4-FFF2-40B4-BE49-F238E27FC236}">
                <a16:creationId xmlns:a16="http://schemas.microsoft.com/office/drawing/2014/main" id="{2DD732EC-29CA-E346-90E4-39ECB545311E}"/>
              </a:ext>
            </a:extLst>
          </p:cNvPr>
          <p:cNvGrpSpPr>
            <a:grpSpLocks/>
          </p:cNvGrpSpPr>
          <p:nvPr/>
        </p:nvGrpSpPr>
        <p:grpSpPr bwMode="auto">
          <a:xfrm>
            <a:off x="4079879" y="2420888"/>
            <a:ext cx="4176717" cy="3124200"/>
            <a:chOff x="2522" y="2448"/>
            <a:chExt cx="2631" cy="1968"/>
          </a:xfrm>
        </p:grpSpPr>
        <p:pic>
          <p:nvPicPr>
            <p:cNvPr id="40" name="Picture 63" descr="xorg">
              <a:extLst>
                <a:ext uri="{FF2B5EF4-FFF2-40B4-BE49-F238E27FC236}">
                  <a16:creationId xmlns:a16="http://schemas.microsoft.com/office/drawing/2014/main" id="{1B353B5C-9B29-4F45-907B-6172CE4A4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2" y="3264"/>
              <a:ext cx="816" cy="10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67" descr="andg">
              <a:extLst>
                <a:ext uri="{FF2B5EF4-FFF2-40B4-BE49-F238E27FC236}">
                  <a16:creationId xmlns:a16="http://schemas.microsoft.com/office/drawing/2014/main" id="{C72E4D99-24A5-D242-ADBA-F8E07231F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3" y="3264"/>
              <a:ext cx="960" cy="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68">
              <a:extLst>
                <a:ext uri="{FF2B5EF4-FFF2-40B4-BE49-F238E27FC236}">
                  <a16:creationId xmlns:a16="http://schemas.microsoft.com/office/drawing/2014/main" id="{F6CB5C42-B1B1-0946-8EAC-5E2DA755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3527"/>
              <a:ext cx="5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kern="0" dirty="0">
                  <a:solidFill>
                    <a:srgbClr val="000000"/>
                  </a:solidFill>
                </a:rPr>
                <a:t>X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sp>
          <p:nvSpPr>
            <p:cNvPr id="43" name="Rectangle 71">
              <a:extLst>
                <a:ext uri="{FF2B5EF4-FFF2-40B4-BE49-F238E27FC236}">
                  <a16:creationId xmlns:a16="http://schemas.microsoft.com/office/drawing/2014/main" id="{D31D5AEC-8078-7E49-97E1-766AE4537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42"/>
              <a:ext cx="275" cy="2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800" b="1" kern="0" dirty="0">
                  <a:solidFill>
                    <a:srgbClr val="000000"/>
                  </a:solidFill>
                </a:rPr>
                <a:t>+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pic>
          <p:nvPicPr>
            <p:cNvPr id="44" name="Picture 78" descr="andg">
              <a:extLst>
                <a:ext uri="{FF2B5EF4-FFF2-40B4-BE49-F238E27FC236}">
                  <a16:creationId xmlns:a16="http://schemas.microsoft.com/office/drawing/2014/main" id="{D75A684E-67AE-3144-9223-57DE62024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2448"/>
              <a:ext cx="960" cy="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Line 79">
              <a:extLst>
                <a:ext uri="{FF2B5EF4-FFF2-40B4-BE49-F238E27FC236}">
                  <a16:creationId xmlns:a16="http://schemas.microsoft.com/office/drawing/2014/main" id="{B5885DA3-07A2-A645-81F8-4B3A50FFC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" y="3264"/>
              <a:ext cx="62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46" name="Line 80">
              <a:extLst>
                <a:ext uri="{FF2B5EF4-FFF2-40B4-BE49-F238E27FC236}">
                  <a16:creationId xmlns:a16="http://schemas.microsoft.com/office/drawing/2014/main" id="{8F0216A9-521D-594D-9FEA-6231EA4C4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6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713FA7C3-DC27-2A42-A1BA-3B7D0AB94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688"/>
              <a:ext cx="5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kern="0" dirty="0">
                  <a:solidFill>
                    <a:srgbClr val="000000"/>
                  </a:solidFill>
                </a:rPr>
                <a:t>X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sp>
          <p:nvSpPr>
            <p:cNvPr id="49" name="Rectangle 85">
              <a:extLst>
                <a:ext uri="{FF2B5EF4-FFF2-40B4-BE49-F238E27FC236}">
                  <a16:creationId xmlns:a16="http://schemas.microsoft.com/office/drawing/2014/main" id="{73571759-ECC1-6C4B-8A77-26C01BB99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4128"/>
              <a:ext cx="110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3">
                <a:extLst>
                  <a:ext uri="{FF2B5EF4-FFF2-40B4-BE49-F238E27FC236}">
                    <a16:creationId xmlns:a16="http://schemas.microsoft.com/office/drawing/2014/main" id="{F787CA70-C655-9848-8B9E-3720D63CC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424" y="1347770"/>
                <a:ext cx="8650176" cy="929102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For us, programs = functions = Boolean circuits with XOR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+ 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𝑚𝑜𝑑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 2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) and AND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× 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𝑚𝑜𝑑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2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) gates.</a:t>
                </a:r>
              </a:p>
            </p:txBody>
          </p:sp>
        </mc:Choice>
        <mc:Fallback>
          <p:sp>
            <p:nvSpPr>
              <p:cNvPr id="57" name="Rectangle 3">
                <a:extLst>
                  <a:ext uri="{FF2B5EF4-FFF2-40B4-BE49-F238E27FC236}">
                    <a16:creationId xmlns:a16="http://schemas.microsoft.com/office/drawing/2014/main" id="{F787CA70-C655-9848-8B9E-3720D63CC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5424" y="1347770"/>
                <a:ext cx="8650176" cy="929102"/>
              </a:xfrm>
              <a:prstGeom prst="rect">
                <a:avLst/>
              </a:prstGeom>
              <a:blipFill>
                <a:blip r:embed="rId5"/>
                <a:stretch>
                  <a:fillRect l="-1757" t="-8000" b="-18667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3">
            <a:extLst>
              <a:ext uri="{FF2B5EF4-FFF2-40B4-BE49-F238E27FC236}">
                <a16:creationId xmlns:a16="http://schemas.microsoft.com/office/drawing/2014/main" id="{5C2E8235-ACA6-AE47-8360-862870CC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5805264"/>
            <a:ext cx="8650176" cy="929102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67866" tIns="33338" rIns="67866" bIns="33338">
            <a:spAutoFit/>
          </a:bodyPr>
          <a:lstStyle/>
          <a:p>
            <a:r>
              <a:rPr lang="en-US" sz="2800" i="1" dirty="0">
                <a:solidFill>
                  <a:srgbClr val="891637"/>
                </a:solidFill>
                <a:cs typeface="Arial"/>
              </a:rPr>
              <a:t>Takeaway</a:t>
            </a:r>
            <a:r>
              <a:rPr lang="en-US" sz="2800" dirty="0">
                <a:solidFill>
                  <a:srgbClr val="000000"/>
                </a:solidFill>
                <a:cs typeface="Arial"/>
              </a:rPr>
              <a:t>: If you can compute XOR and AND on encrypted bits, you can compute everything.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3">
                <a:extLst>
                  <a:ext uri="{FF2B5EF4-FFF2-40B4-BE49-F238E27FC236}">
                    <a16:creationId xmlns:a16="http://schemas.microsoft.com/office/drawing/2014/main" id="{80F44628-2DCA-0E43-BE26-F3F423FFE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112" y="5106668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59" name="Rectangle 3">
                <a:extLst>
                  <a:ext uri="{FF2B5EF4-FFF2-40B4-BE49-F238E27FC236}">
                    <a16:creationId xmlns:a16="http://schemas.microsoft.com/office/drawing/2014/main" id="{80F44628-2DCA-0E43-BE26-F3F423FFE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112" y="5106668"/>
                <a:ext cx="8650176" cy="375104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3">
                <a:extLst>
                  <a:ext uri="{FF2B5EF4-FFF2-40B4-BE49-F238E27FC236}">
                    <a16:creationId xmlns:a16="http://schemas.microsoft.com/office/drawing/2014/main" id="{42B46CCD-23C6-9B46-B471-C10770F01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9912" y="5098727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0" name="Rectangle 3">
                <a:extLst>
                  <a:ext uri="{FF2B5EF4-FFF2-40B4-BE49-F238E27FC236}">
                    <a16:creationId xmlns:a16="http://schemas.microsoft.com/office/drawing/2014/main" id="{42B46CCD-23C6-9B46-B471-C10770F01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9912" y="5098727"/>
                <a:ext cx="8650176" cy="375104"/>
              </a:xfrm>
              <a:prstGeom prst="rect">
                <a:avLst/>
              </a:prstGeom>
              <a:blipFill>
                <a:blip r:embed="rId7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3">
                <a:extLst>
                  <a:ext uri="{FF2B5EF4-FFF2-40B4-BE49-F238E27FC236}">
                    <a16:creationId xmlns:a16="http://schemas.microsoft.com/office/drawing/2014/main" id="{0A5E774F-517E-9E46-A426-8CC5CE67E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912" y="5085184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1" name="Rectangle 3">
                <a:extLst>
                  <a:ext uri="{FF2B5EF4-FFF2-40B4-BE49-F238E27FC236}">
                    <a16:creationId xmlns:a16="http://schemas.microsoft.com/office/drawing/2014/main" id="{0A5E774F-517E-9E46-A426-8CC5CE67E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2912" y="5085184"/>
                <a:ext cx="8650176" cy="375104"/>
              </a:xfrm>
              <a:prstGeom prst="rect">
                <a:avLst/>
              </a:prstGeom>
              <a:blipFill>
                <a:blip r:embed="rId8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3">
                <a:extLst>
                  <a:ext uri="{FF2B5EF4-FFF2-40B4-BE49-F238E27FC236}">
                    <a16:creationId xmlns:a16="http://schemas.microsoft.com/office/drawing/2014/main" id="{986A3751-A45B-8345-99B9-F4CC0CBE1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512" y="5085184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2" name="Rectangle 3">
                <a:extLst>
                  <a:ext uri="{FF2B5EF4-FFF2-40B4-BE49-F238E27FC236}">
                    <a16:creationId xmlns:a16="http://schemas.microsoft.com/office/drawing/2014/main" id="{986A3751-A45B-8345-99B9-F4CC0CBE1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8512" y="5085184"/>
                <a:ext cx="8650176" cy="375104"/>
              </a:xfrm>
              <a:prstGeom prst="rect">
                <a:avLst/>
              </a:prstGeom>
              <a:blipFill>
                <a:blip r:embed="rId9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3">
                <a:extLst>
                  <a:ext uri="{FF2B5EF4-FFF2-40B4-BE49-F238E27FC236}">
                    <a16:creationId xmlns:a16="http://schemas.microsoft.com/office/drawing/2014/main" id="{19EA98EB-7926-A540-B28F-2DF7D6E55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93581" y="3649132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3" name="Rectangle 3">
                <a:extLst>
                  <a:ext uri="{FF2B5EF4-FFF2-40B4-BE49-F238E27FC236}">
                    <a16:creationId xmlns:a16="http://schemas.microsoft.com/office/drawing/2014/main" id="{19EA98EB-7926-A540-B28F-2DF7D6E557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93581" y="3649132"/>
                <a:ext cx="8650176" cy="375104"/>
              </a:xfrm>
              <a:prstGeom prst="rect">
                <a:avLst/>
              </a:prstGeom>
              <a:blipFill>
                <a:blip r:embed="rId10"/>
                <a:stretch>
                  <a:fillRect b="-16129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3">
                <a:extLst>
                  <a:ext uri="{FF2B5EF4-FFF2-40B4-BE49-F238E27FC236}">
                    <a16:creationId xmlns:a16="http://schemas.microsoft.com/office/drawing/2014/main" id="{3E626B0D-E314-954A-A4FD-BDF9CFAAB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970" y="3567498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4" name="Rectangle 3">
                <a:extLst>
                  <a:ext uri="{FF2B5EF4-FFF2-40B4-BE49-F238E27FC236}">
                    <a16:creationId xmlns:a16="http://schemas.microsoft.com/office/drawing/2014/main" id="{3E626B0D-E314-954A-A4FD-BDF9CFAAB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5970" y="3567498"/>
                <a:ext cx="8650176" cy="375104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Rectangle 3">
                <a:extLst>
                  <a:ext uri="{FF2B5EF4-FFF2-40B4-BE49-F238E27FC236}">
                    <a16:creationId xmlns:a16="http://schemas.microsoft.com/office/drawing/2014/main" id="{8A73C9FF-87FD-664E-BA06-3C35B9B9D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448" y="2372002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)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98" name="Rectangle 3">
                <a:extLst>
                  <a:ext uri="{FF2B5EF4-FFF2-40B4-BE49-F238E27FC236}">
                    <a16:creationId xmlns:a16="http://schemas.microsoft.com/office/drawing/2014/main" id="{8A73C9FF-87FD-664E-BA06-3C35B9B9D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2448" y="2372002"/>
                <a:ext cx="8650176" cy="375104"/>
              </a:xfrm>
              <a:prstGeom prst="rect">
                <a:avLst/>
              </a:prstGeom>
              <a:blipFill>
                <a:blip r:embed="rId12"/>
                <a:stretch>
                  <a:fillRect b="-16129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928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9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0" y="260648"/>
            <a:ext cx="8991600" cy="914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b="1" kern="0" dirty="0">
                <a:solidFill>
                  <a:srgbClr val="891637"/>
                </a:solidFill>
                <a:latin typeface="Calibri" pitchFamily="34" charset="0"/>
                <a:cs typeface="Arial"/>
              </a:rPr>
              <a:t>How to Compute Arbitrary Functions</a:t>
            </a:r>
          </a:p>
        </p:txBody>
      </p:sp>
      <p:grpSp>
        <p:nvGrpSpPr>
          <p:cNvPr id="39" name="Group 99">
            <a:extLst>
              <a:ext uri="{FF2B5EF4-FFF2-40B4-BE49-F238E27FC236}">
                <a16:creationId xmlns:a16="http://schemas.microsoft.com/office/drawing/2014/main" id="{2DD732EC-29CA-E346-90E4-39ECB545311E}"/>
              </a:ext>
            </a:extLst>
          </p:cNvPr>
          <p:cNvGrpSpPr>
            <a:grpSpLocks/>
          </p:cNvGrpSpPr>
          <p:nvPr/>
        </p:nvGrpSpPr>
        <p:grpSpPr bwMode="auto">
          <a:xfrm>
            <a:off x="4079879" y="2420888"/>
            <a:ext cx="4176717" cy="3124200"/>
            <a:chOff x="2522" y="2448"/>
            <a:chExt cx="2631" cy="1968"/>
          </a:xfrm>
        </p:grpSpPr>
        <p:pic>
          <p:nvPicPr>
            <p:cNvPr id="40" name="Picture 63" descr="xorg">
              <a:extLst>
                <a:ext uri="{FF2B5EF4-FFF2-40B4-BE49-F238E27FC236}">
                  <a16:creationId xmlns:a16="http://schemas.microsoft.com/office/drawing/2014/main" id="{1B353B5C-9B29-4F45-907B-6172CE4A4C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2" y="3264"/>
              <a:ext cx="816" cy="10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67" descr="andg">
              <a:extLst>
                <a:ext uri="{FF2B5EF4-FFF2-40B4-BE49-F238E27FC236}">
                  <a16:creationId xmlns:a16="http://schemas.microsoft.com/office/drawing/2014/main" id="{C72E4D99-24A5-D242-ADBA-F8E07231F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3" y="3264"/>
              <a:ext cx="960" cy="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Rectangle 68">
              <a:extLst>
                <a:ext uri="{FF2B5EF4-FFF2-40B4-BE49-F238E27FC236}">
                  <a16:creationId xmlns:a16="http://schemas.microsoft.com/office/drawing/2014/main" id="{F6CB5C42-B1B1-0946-8EAC-5E2DA755D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3527"/>
              <a:ext cx="5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kern="0" dirty="0">
                  <a:solidFill>
                    <a:srgbClr val="000000"/>
                  </a:solidFill>
                </a:rPr>
                <a:t>X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sp>
          <p:nvSpPr>
            <p:cNvPr id="43" name="Rectangle 71">
              <a:extLst>
                <a:ext uri="{FF2B5EF4-FFF2-40B4-BE49-F238E27FC236}">
                  <a16:creationId xmlns:a16="http://schemas.microsoft.com/office/drawing/2014/main" id="{D31D5AEC-8078-7E49-97E1-766AE4537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2" y="3642"/>
              <a:ext cx="275" cy="2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800" b="1" kern="0" dirty="0">
                  <a:solidFill>
                    <a:srgbClr val="000000"/>
                  </a:solidFill>
                </a:rPr>
                <a:t>+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pic>
          <p:nvPicPr>
            <p:cNvPr id="44" name="Picture 78" descr="andg">
              <a:extLst>
                <a:ext uri="{FF2B5EF4-FFF2-40B4-BE49-F238E27FC236}">
                  <a16:creationId xmlns:a16="http://schemas.microsoft.com/office/drawing/2014/main" id="{D75A684E-67AE-3144-9223-57DE62024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2448"/>
              <a:ext cx="960" cy="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Line 79">
              <a:extLst>
                <a:ext uri="{FF2B5EF4-FFF2-40B4-BE49-F238E27FC236}">
                  <a16:creationId xmlns:a16="http://schemas.microsoft.com/office/drawing/2014/main" id="{B5885DA3-07A2-A645-81F8-4B3A50FFC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0" y="3264"/>
              <a:ext cx="62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46" name="Line 80">
              <a:extLst>
                <a:ext uri="{FF2B5EF4-FFF2-40B4-BE49-F238E27FC236}">
                  <a16:creationId xmlns:a16="http://schemas.microsoft.com/office/drawing/2014/main" id="{8F0216A9-521D-594D-9FEA-6231EA4C4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264"/>
              <a:ext cx="6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713FA7C3-DC27-2A42-A1BA-3B7D0AB94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2688"/>
              <a:ext cx="576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33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algn="ctr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kern="0" dirty="0">
                  <a:solidFill>
                    <a:srgbClr val="000000"/>
                  </a:solidFill>
                </a:rPr>
                <a:t>X</a:t>
              </a:r>
              <a:endParaRPr lang="en-US" altLang="en-US" sz="2800" b="1" kern="0" dirty="0">
                <a:solidFill>
                  <a:srgbClr val="0000CC"/>
                </a:solidFill>
              </a:endParaRPr>
            </a:p>
          </p:txBody>
        </p:sp>
        <p:sp>
          <p:nvSpPr>
            <p:cNvPr id="49" name="Rectangle 85">
              <a:extLst>
                <a:ext uri="{FF2B5EF4-FFF2-40B4-BE49-F238E27FC236}">
                  <a16:creationId xmlns:a16="http://schemas.microsoft.com/office/drawing/2014/main" id="{73571759-ECC1-6C4B-8A77-26C01BB99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4128"/>
              <a:ext cx="1104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>
                <a:solidFill>
                  <a:srgbClr val="000000"/>
                </a:solidFill>
                <a:latin typeface="Arial" panose="020B0604020202020204" pitchFamily="34" charset="0"/>
                <a:cs typeface="Arial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3">
                <a:extLst>
                  <a:ext uri="{FF2B5EF4-FFF2-40B4-BE49-F238E27FC236}">
                    <a16:creationId xmlns:a16="http://schemas.microsoft.com/office/drawing/2014/main" id="{F787CA70-C655-9848-8B9E-3720D63CC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5424" y="1347770"/>
                <a:ext cx="8650176" cy="929102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For us, programs = functions = Boolean circuits with XOR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+ 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𝑚𝑜𝑑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Arial"/>
                      </a:rPr>
                      <m:t> 2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) and AND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× 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𝑚𝑜𝑑</m:t>
                    </m:r>
                    <m:r>
                      <a:rPr 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/>
                      </a:rPr>
                      <m:t> 2</m:t>
                    </m:r>
                  </m:oMath>
                </a14:m>
                <a:r>
                  <a:rPr lang="en-US" sz="2800" dirty="0">
                    <a:solidFill>
                      <a:srgbClr val="000000"/>
                    </a:solidFill>
                    <a:cs typeface="Arial"/>
                  </a:rPr>
                  <a:t>) gates.</a:t>
                </a:r>
              </a:p>
            </p:txBody>
          </p:sp>
        </mc:Choice>
        <mc:Fallback>
          <p:sp>
            <p:nvSpPr>
              <p:cNvPr id="57" name="Rectangle 3">
                <a:extLst>
                  <a:ext uri="{FF2B5EF4-FFF2-40B4-BE49-F238E27FC236}">
                    <a16:creationId xmlns:a16="http://schemas.microsoft.com/office/drawing/2014/main" id="{F787CA70-C655-9848-8B9E-3720D63CCD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65424" y="1347770"/>
                <a:ext cx="8650176" cy="929102"/>
              </a:xfrm>
              <a:prstGeom prst="rect">
                <a:avLst/>
              </a:prstGeom>
              <a:blipFill>
                <a:blip r:embed="rId5"/>
                <a:stretch>
                  <a:fillRect l="-1757" t="-8000" b="-18667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3">
            <a:extLst>
              <a:ext uri="{FF2B5EF4-FFF2-40B4-BE49-F238E27FC236}">
                <a16:creationId xmlns:a16="http://schemas.microsoft.com/office/drawing/2014/main" id="{5C2E8235-ACA6-AE47-8360-862870CC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5805264"/>
            <a:ext cx="8650176" cy="49821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mc="http://schemas.openxmlformats.org/markup-compatibility/2006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lIns="67866" tIns="33338" rIns="67866" bIns="33338">
            <a:spAutoFit/>
          </a:bodyPr>
          <a:lstStyle/>
          <a:p>
            <a:r>
              <a:rPr lang="en-US" sz="2800" i="1" dirty="0">
                <a:solidFill>
                  <a:srgbClr val="891637"/>
                </a:solidFill>
                <a:cs typeface="Arial"/>
              </a:rPr>
              <a:t>We already know how to add (XOR), can we multiply?? </a:t>
            </a:r>
            <a:endParaRPr lang="en-US" sz="2800" dirty="0">
              <a:solidFill>
                <a:srgbClr val="000000"/>
              </a:solidFill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3">
                <a:extLst>
                  <a:ext uri="{FF2B5EF4-FFF2-40B4-BE49-F238E27FC236}">
                    <a16:creationId xmlns:a16="http://schemas.microsoft.com/office/drawing/2014/main" id="{80F44628-2DCA-0E43-BE26-F3F423FFE3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112" y="5106668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59" name="Rectangle 3">
                <a:extLst>
                  <a:ext uri="{FF2B5EF4-FFF2-40B4-BE49-F238E27FC236}">
                    <a16:creationId xmlns:a16="http://schemas.microsoft.com/office/drawing/2014/main" id="{80F44628-2DCA-0E43-BE26-F3F423FFE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112" y="5106668"/>
                <a:ext cx="8650176" cy="375104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3">
                <a:extLst>
                  <a:ext uri="{FF2B5EF4-FFF2-40B4-BE49-F238E27FC236}">
                    <a16:creationId xmlns:a16="http://schemas.microsoft.com/office/drawing/2014/main" id="{42B46CCD-23C6-9B46-B471-C10770F01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9912" y="5098727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0" name="Rectangle 3">
                <a:extLst>
                  <a:ext uri="{FF2B5EF4-FFF2-40B4-BE49-F238E27FC236}">
                    <a16:creationId xmlns:a16="http://schemas.microsoft.com/office/drawing/2014/main" id="{42B46CCD-23C6-9B46-B471-C10770F01D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89912" y="5098727"/>
                <a:ext cx="8650176" cy="375104"/>
              </a:xfrm>
              <a:prstGeom prst="rect">
                <a:avLst/>
              </a:prstGeom>
              <a:blipFill>
                <a:blip r:embed="rId7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 3">
                <a:extLst>
                  <a:ext uri="{FF2B5EF4-FFF2-40B4-BE49-F238E27FC236}">
                    <a16:creationId xmlns:a16="http://schemas.microsoft.com/office/drawing/2014/main" id="{0A5E774F-517E-9E46-A426-8CC5CE67E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912" y="5085184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1" name="Rectangle 3">
                <a:extLst>
                  <a:ext uri="{FF2B5EF4-FFF2-40B4-BE49-F238E27FC236}">
                    <a16:creationId xmlns:a16="http://schemas.microsoft.com/office/drawing/2014/main" id="{0A5E774F-517E-9E46-A426-8CC5CE67E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2912" y="5085184"/>
                <a:ext cx="8650176" cy="375104"/>
              </a:xfrm>
              <a:prstGeom prst="rect">
                <a:avLst/>
              </a:prstGeom>
              <a:blipFill>
                <a:blip r:embed="rId8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3">
                <a:extLst>
                  <a:ext uri="{FF2B5EF4-FFF2-40B4-BE49-F238E27FC236}">
                    <a16:creationId xmlns:a16="http://schemas.microsoft.com/office/drawing/2014/main" id="{986A3751-A45B-8345-99B9-F4CC0CBE1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512" y="5085184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2" name="Rectangle 3">
                <a:extLst>
                  <a:ext uri="{FF2B5EF4-FFF2-40B4-BE49-F238E27FC236}">
                    <a16:creationId xmlns:a16="http://schemas.microsoft.com/office/drawing/2014/main" id="{986A3751-A45B-8345-99B9-F4CC0CBE1A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8512" y="5085184"/>
                <a:ext cx="8650176" cy="375104"/>
              </a:xfrm>
              <a:prstGeom prst="rect">
                <a:avLst/>
              </a:prstGeom>
              <a:blipFill>
                <a:blip r:embed="rId9"/>
                <a:stretch>
                  <a:fillRect b="-15625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Rectangle 3">
                <a:extLst>
                  <a:ext uri="{FF2B5EF4-FFF2-40B4-BE49-F238E27FC236}">
                    <a16:creationId xmlns:a16="http://schemas.microsoft.com/office/drawing/2014/main" id="{19EA98EB-7926-A540-B28F-2DF7D6E55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93581" y="3649132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3" name="Rectangle 3">
                <a:extLst>
                  <a:ext uri="{FF2B5EF4-FFF2-40B4-BE49-F238E27FC236}">
                    <a16:creationId xmlns:a16="http://schemas.microsoft.com/office/drawing/2014/main" id="{19EA98EB-7926-A540-B28F-2DF7D6E557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93581" y="3649132"/>
                <a:ext cx="8650176" cy="375104"/>
              </a:xfrm>
              <a:prstGeom prst="rect">
                <a:avLst/>
              </a:prstGeom>
              <a:blipFill>
                <a:blip r:embed="rId10"/>
                <a:stretch>
                  <a:fillRect b="-16129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3">
                <a:extLst>
                  <a:ext uri="{FF2B5EF4-FFF2-40B4-BE49-F238E27FC236}">
                    <a16:creationId xmlns:a16="http://schemas.microsoft.com/office/drawing/2014/main" id="{3E626B0D-E314-954A-A4FD-BDF9CFAAB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970" y="3567498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64" name="Rectangle 3">
                <a:extLst>
                  <a:ext uri="{FF2B5EF4-FFF2-40B4-BE49-F238E27FC236}">
                    <a16:creationId xmlns:a16="http://schemas.microsoft.com/office/drawing/2014/main" id="{3E626B0D-E314-954A-A4FD-BDF9CFAAB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5970" y="3567498"/>
                <a:ext cx="8650176" cy="375104"/>
              </a:xfrm>
              <a:prstGeom prst="rect">
                <a:avLst/>
              </a:prstGeom>
              <a:blipFill>
                <a:blip r:embed="rId11"/>
                <a:stretch>
                  <a:fillRect b="-12500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Rectangle 3">
                <a:extLst>
                  <a:ext uri="{FF2B5EF4-FFF2-40B4-BE49-F238E27FC236}">
                    <a16:creationId xmlns:a16="http://schemas.microsoft.com/office/drawing/2014/main" id="{8A73C9FF-87FD-664E-BA06-3C35B9B9D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2448" y="2372002"/>
                <a:ext cx="8650176" cy="375104"/>
              </a:xfrm>
              <a:prstGeom prst="rect">
                <a:avLst/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67866" tIns="33338" rIns="67866" bIns="33338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𝐸𝑛𝑐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(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)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rgbClr val="000000"/>
                  </a:solidFill>
                  <a:cs typeface="Arial"/>
                </a:endParaRPr>
              </a:p>
            </p:txBody>
          </p:sp>
        </mc:Choice>
        <mc:Fallback>
          <p:sp>
            <p:nvSpPr>
              <p:cNvPr id="98" name="Rectangle 3">
                <a:extLst>
                  <a:ext uri="{FF2B5EF4-FFF2-40B4-BE49-F238E27FC236}">
                    <a16:creationId xmlns:a16="http://schemas.microsoft.com/office/drawing/2014/main" id="{8A73C9FF-87FD-664E-BA06-3C35B9B9D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2448" y="2372002"/>
                <a:ext cx="8650176" cy="375104"/>
              </a:xfrm>
              <a:prstGeom prst="rect">
                <a:avLst/>
              </a:prstGeom>
              <a:blipFill>
                <a:blip r:embed="rId12"/>
                <a:stretch>
                  <a:fillRect b="-16129"/>
                </a:stretch>
              </a:blipFill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7664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Private-key Encryption of a bit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4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: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blipFill>
                <a:blip r:embed="rId2"/>
                <a:stretch>
                  <a:fillRect l="-900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angle 3"/>
              <p:cNvSpPr txBox="1">
                <a:spLocks noChangeArrowheads="1"/>
              </p:cNvSpPr>
              <p:nvPr/>
            </p:nvSpPr>
            <p:spPr bwMode="auto">
              <a:xfrm>
                <a:off x="2618003" y="2377748"/>
                <a:ext cx="5181600" cy="797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457200" lvl="1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 =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𝒔𝑨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sz="2000" b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8003" y="2377748"/>
                <a:ext cx="5181600" cy="797051"/>
              </a:xfrm>
              <a:prstGeom prst="rect">
                <a:avLst/>
              </a:prstGeom>
              <a:blipFill>
                <a:blip r:embed="rId3"/>
                <a:stretch>
                  <a:fillRect t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 key:  a vector 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  <a:sym typeface="Symbol" pitchFamily="18" charset="2"/>
                  </a:rPr>
                  <a:t>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sub>
                      <m:sup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  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blipFill>
                <a:blip r:embed="rId4"/>
                <a:stretch>
                  <a:fillRect l="-1405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2106216" y="3645024"/>
            <a:ext cx="8168208" cy="1563960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1" name="Left Brace 30"/>
          <p:cNvSpPr/>
          <p:nvPr/>
        </p:nvSpPr>
        <p:spPr>
          <a:xfrm rot="-5400000">
            <a:off x="3728580" y="4156037"/>
            <a:ext cx="345949" cy="6223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204120" y="4787860"/>
            <a:ext cx="3315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 err="1">
                <a:solidFill>
                  <a:srgbClr val="000000"/>
                </a:solidFill>
              </a:rPr>
              <a:t>Priv</a:t>
            </a:r>
            <a:r>
              <a:rPr lang="en-US" altLang="en-US" dirty="0">
                <a:solidFill>
                  <a:srgbClr val="000000"/>
                </a:solidFill>
              </a:rPr>
              <a:t> key</a:t>
            </a:r>
          </a:p>
        </p:txBody>
      </p:sp>
      <p:sp>
        <p:nvSpPr>
          <p:cNvPr id="33" name="Left Brace 32"/>
          <p:cNvSpPr/>
          <p:nvPr/>
        </p:nvSpPr>
        <p:spPr>
          <a:xfrm rot="-5400000">
            <a:off x="5424697" y="4205348"/>
            <a:ext cx="345949" cy="6223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935878" y="4716362"/>
            <a:ext cx="19423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Ciphertext matrix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3110256" y="4777222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Eigenvector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100664" y="4698250"/>
            <a:ext cx="1371600" cy="37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Message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168208" y="4695917"/>
            <a:ext cx="1600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Eigenvalue</a:t>
            </a:r>
          </a:p>
        </p:txBody>
      </p:sp>
      <p:sp>
        <p:nvSpPr>
          <p:cNvPr id="38" name="Left Brace 37"/>
          <p:cNvSpPr/>
          <p:nvPr/>
        </p:nvSpPr>
        <p:spPr>
          <a:xfrm rot="-5400000">
            <a:off x="7373514" y="4373367"/>
            <a:ext cx="228599" cy="262634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2754289" y="3736061"/>
            <a:ext cx="79718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[s || -1]         C     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       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[s || -1] 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7671" y="2395985"/>
                <a:ext cx="6180736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is random (n) X (n+1) matrix -&gt; secret)</a:t>
                </a:r>
                <a:endParaRPr lang="en-US" sz="2400" i="1" dirty="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7671" y="2395985"/>
                <a:ext cx="6180736" cy="571500"/>
              </a:xfrm>
              <a:prstGeom prst="rect">
                <a:avLst/>
              </a:prstGeom>
              <a:blipFill>
                <a:blip r:embed="rId5"/>
                <a:stretch>
                  <a:fillRect l="-1434" t="-173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3">
            <a:extLst>
              <a:ext uri="{FF2B5EF4-FFF2-40B4-BE49-F238E27FC236}">
                <a16:creationId xmlns:a16="http://schemas.microsoft.com/office/drawing/2014/main" id="{AC4C5F1E-A839-2941-8202-47067333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504" y="3237756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Decryption:</a:t>
            </a:r>
            <a:endParaRPr lang="en-US" sz="2400" b="1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3A20945D-4F78-4F43-925B-67E3AF1EA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280" y="6093296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🙁  INSECURE! </a:t>
            </a:r>
            <a:r>
              <a:rPr lang="en-US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 to solve linear equations.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C4FE2EE-BF1A-9E41-916C-122B1DC1D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1</a:t>
            </a:r>
          </a:p>
        </p:txBody>
      </p:sp>
    </p:spTree>
    <p:extLst>
      <p:ext uri="{BB962C8B-B14F-4D97-AF65-F5344CB8AC3E}">
        <p14:creationId xmlns:p14="http://schemas.microsoft.com/office/powerpoint/2010/main" val="108667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29" grpId="0" animBg="1"/>
      <p:bldP spid="31" grpId="0" animBg="1"/>
      <p:bldP spid="32" grpId="0"/>
      <p:bldP spid="33" grpId="0" animBg="1"/>
      <p:bldP spid="34" grpId="0"/>
      <p:bldP spid="35" grpId="0"/>
      <p:bldP spid="36" grpId="0"/>
      <p:bldP spid="37" grpId="0"/>
      <p:bldP spid="38" grpId="0" animBg="1"/>
      <p:bldP spid="39" grpId="0"/>
      <p:bldP spid="27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855640" y="1447801"/>
            <a:ext cx="6624736" cy="995065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648474" y="1681490"/>
            <a:ext cx="51145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t . C =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. t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866858" y="2718049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►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Homomorphic addition: </a:t>
            </a:r>
            <a:r>
              <a:rPr lang="en-US" altLang="en-US" sz="2400" b="1" dirty="0">
                <a:solidFill>
                  <a:srgbClr val="000000"/>
                </a:solidFill>
              </a:rPr>
              <a:t>C</a:t>
            </a:r>
            <a:r>
              <a:rPr lang="en-US" altLang="en-US" sz="2400" b="1" baseline="-25000" dirty="0">
                <a:solidFill>
                  <a:srgbClr val="000000"/>
                </a:solidFill>
              </a:rPr>
              <a:t>1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 </a:t>
            </a:r>
            <a:r>
              <a:rPr lang="en-CA" altLang="en-US" sz="2400" dirty="0">
                <a:solidFill>
                  <a:srgbClr val="000000"/>
                </a:solidFill>
              </a:rPr>
              <a:t>+ </a:t>
            </a:r>
            <a:r>
              <a:rPr lang="en-CA" altLang="en-US" sz="2400" b="1" dirty="0">
                <a:solidFill>
                  <a:srgbClr val="000000"/>
                </a:solidFill>
              </a:rPr>
              <a:t>C</a:t>
            </a:r>
            <a:r>
              <a:rPr lang="en-CA" altLang="en-US" sz="2400" b="1" baseline="-25000" dirty="0">
                <a:solidFill>
                  <a:srgbClr val="000000"/>
                </a:solidFill>
              </a:rPr>
              <a:t>2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2247858" y="3022848"/>
            <a:ext cx="762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 typeface="Arial" charset="0"/>
              <a:buChar char="–"/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 t is an eigenvector of C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000" dirty="0">
                <a:solidFill>
                  <a:srgbClr val="000000"/>
                </a:solidFill>
              </a:rPr>
              <a:t>+C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2</a:t>
            </a:r>
            <a:r>
              <a:rPr lang="en-US" altLang="en-US" sz="2000" dirty="0">
                <a:solidFill>
                  <a:srgbClr val="000000"/>
                </a:solidFill>
              </a:rPr>
              <a:t> with eigenvalue m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000" dirty="0">
                <a:solidFill>
                  <a:srgbClr val="000000"/>
                </a:solidFill>
              </a:rPr>
              <a:t>+m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2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1866858" y="3803232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►"/>
              <a:defRPr/>
            </a:pPr>
            <a:r>
              <a:rPr lang="en-US" altLang="en-US" sz="2400" dirty="0" err="1">
                <a:solidFill>
                  <a:srgbClr val="000000"/>
                </a:solidFill>
              </a:rPr>
              <a:t>Homomorphic</a:t>
            </a:r>
            <a:r>
              <a:rPr lang="en-US" altLang="en-US" sz="2400" dirty="0">
                <a:solidFill>
                  <a:srgbClr val="000000"/>
                </a:solidFill>
              </a:rPr>
              <a:t> multiplication: </a:t>
            </a:r>
            <a:r>
              <a:rPr lang="en-US" altLang="en-US" sz="2400" b="1" dirty="0">
                <a:solidFill>
                  <a:srgbClr val="000000"/>
                </a:solidFill>
              </a:rPr>
              <a:t>C</a:t>
            </a:r>
            <a:r>
              <a:rPr lang="en-US" altLang="en-US" sz="2400" b="1" baseline="-25000" dirty="0">
                <a:solidFill>
                  <a:srgbClr val="000000"/>
                </a:solidFill>
              </a:rPr>
              <a:t>1</a:t>
            </a:r>
            <a:r>
              <a:rPr lang="en-CA" altLang="en-US" sz="2400" b="1" dirty="0">
                <a:solidFill>
                  <a:srgbClr val="000000"/>
                </a:solidFill>
              </a:rPr>
              <a:t>C</a:t>
            </a:r>
            <a:r>
              <a:rPr lang="en-CA" altLang="en-US" sz="2400" b="1" baseline="-25000" dirty="0">
                <a:solidFill>
                  <a:srgbClr val="000000"/>
                </a:solidFill>
              </a:rPr>
              <a:t>2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247858" y="4184231"/>
            <a:ext cx="762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 typeface="Arial" charset="0"/>
              <a:buChar char="–"/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 t is an eigenvector of C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000" dirty="0">
                <a:solidFill>
                  <a:srgbClr val="000000"/>
                </a:solidFill>
              </a:rPr>
              <a:t>C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2</a:t>
            </a:r>
            <a:r>
              <a:rPr lang="en-US" altLang="en-US" sz="2000" dirty="0">
                <a:solidFill>
                  <a:srgbClr val="000000"/>
                </a:solidFill>
              </a:rPr>
              <a:t> with eigenvalue m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1</a:t>
            </a:r>
            <a:r>
              <a:rPr lang="en-US" altLang="en-US" sz="2000" dirty="0">
                <a:solidFill>
                  <a:srgbClr val="000000"/>
                </a:solidFill>
              </a:rPr>
              <a:t>m</a:t>
            </a:r>
            <a:r>
              <a:rPr lang="en-US" altLang="en-US" sz="2000" baseline="-25000" dirty="0">
                <a:solidFill>
                  <a:srgbClr val="000000"/>
                </a:solidFill>
              </a:rPr>
              <a:t>2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828800" y="4876801"/>
            <a:ext cx="720085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200" dirty="0">
                <a:solidFill>
                  <a:srgbClr val="000000"/>
                </a:solidFill>
              </a:rPr>
              <a:t>Proof: </a:t>
            </a:r>
            <a:r>
              <a:rPr lang="en-US" altLang="en-US" sz="2200" b="1" dirty="0">
                <a:solidFill>
                  <a:srgbClr val="6699FF"/>
                </a:solidFill>
              </a:rPr>
              <a:t>t . C</a:t>
            </a:r>
            <a:r>
              <a:rPr lang="en-US" altLang="en-US" sz="2200" b="1" baseline="-25000" dirty="0">
                <a:solidFill>
                  <a:srgbClr val="6699FF"/>
                </a:solidFill>
              </a:rPr>
              <a:t>1</a:t>
            </a:r>
            <a:r>
              <a:rPr lang="en-US" altLang="en-US" sz="2200" b="1" dirty="0">
                <a:solidFill>
                  <a:srgbClr val="6699FF"/>
                </a:solidFill>
              </a:rPr>
              <a:t> C</a:t>
            </a:r>
            <a:r>
              <a:rPr lang="en-US" altLang="en-US" sz="2200" b="1" baseline="-25000" dirty="0">
                <a:solidFill>
                  <a:srgbClr val="6699FF"/>
                </a:solidFill>
              </a:rPr>
              <a:t>2</a:t>
            </a:r>
            <a:r>
              <a:rPr lang="en-US" altLang="en-US" sz="2200" b="1" dirty="0">
                <a:solidFill>
                  <a:srgbClr val="6699FF"/>
                </a:solidFill>
              </a:rPr>
              <a:t> </a:t>
            </a:r>
            <a:r>
              <a:rPr lang="en-US" altLang="en-US" sz="2200" b="1" dirty="0">
                <a:solidFill>
                  <a:srgbClr val="6699FF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=</a:t>
            </a:r>
            <a:r>
              <a:rPr lang="en-US" altLang="en-US" sz="2200" b="1" dirty="0">
                <a:solidFill>
                  <a:srgbClr val="6699FF"/>
                </a:solidFill>
              </a:rPr>
              <a:t> </a:t>
            </a:r>
            <a:r>
              <a:rPr lang="en-US" altLang="en-US" sz="2200" dirty="0">
                <a:solidFill>
                  <a:srgbClr val="6699FF"/>
                </a:solidFill>
              </a:rPr>
              <a:t>(m</a:t>
            </a:r>
            <a:r>
              <a:rPr lang="en-US" altLang="en-US" sz="2200" baseline="-25000" dirty="0">
                <a:solidFill>
                  <a:srgbClr val="6699FF"/>
                </a:solidFill>
              </a:rPr>
              <a:t>1</a:t>
            </a:r>
            <a:r>
              <a:rPr lang="en-US" altLang="en-US" sz="2200" dirty="0">
                <a:solidFill>
                  <a:srgbClr val="6699FF"/>
                </a:solidFill>
              </a:rPr>
              <a:t> </a:t>
            </a:r>
            <a:r>
              <a:rPr lang="en-US" altLang="en-US" sz="2200" b="1" dirty="0">
                <a:solidFill>
                  <a:srgbClr val="6699FF"/>
                </a:solidFill>
              </a:rPr>
              <a:t>. t</a:t>
            </a:r>
            <a:r>
              <a:rPr lang="en-US" altLang="en-US" sz="2200" dirty="0">
                <a:solidFill>
                  <a:srgbClr val="6699FF"/>
                </a:solidFill>
              </a:rPr>
              <a:t>)</a:t>
            </a:r>
            <a:r>
              <a:rPr lang="en-US" altLang="en-US" sz="2200" b="1" dirty="0">
                <a:solidFill>
                  <a:srgbClr val="6699FF"/>
                </a:solidFill>
              </a:rPr>
              <a:t> . C</a:t>
            </a:r>
            <a:r>
              <a:rPr lang="en-US" altLang="en-US" sz="2200" b="1" baseline="-25000" dirty="0">
                <a:solidFill>
                  <a:srgbClr val="6699FF"/>
                </a:solidFill>
              </a:rPr>
              <a:t>2</a:t>
            </a:r>
            <a:r>
              <a:rPr lang="en-US" altLang="en-US" sz="2200" b="1" dirty="0">
                <a:solidFill>
                  <a:srgbClr val="6699FF"/>
                </a:solidFill>
              </a:rPr>
              <a:t> </a:t>
            </a:r>
            <a:r>
              <a:rPr lang="en-US" altLang="en-US" sz="2200" b="1" dirty="0">
                <a:solidFill>
                  <a:srgbClr val="6699FF"/>
                </a:solidFill>
                <a:latin typeface="Gulim" panose="020B0600000101010101" pitchFamily="34" charset="-127"/>
                <a:ea typeface="Gulim" panose="020B0600000101010101" pitchFamily="34" charset="-127"/>
              </a:rPr>
              <a:t>=</a:t>
            </a:r>
            <a:r>
              <a:rPr lang="en-US" altLang="en-US" sz="2200" dirty="0">
                <a:solidFill>
                  <a:srgbClr val="6699FF"/>
                </a:solidFill>
              </a:rPr>
              <a:t> m</a:t>
            </a:r>
            <a:r>
              <a:rPr lang="en-US" altLang="en-US" sz="2200" baseline="-25000" dirty="0">
                <a:solidFill>
                  <a:srgbClr val="6699FF"/>
                </a:solidFill>
              </a:rPr>
              <a:t>1</a:t>
            </a:r>
            <a:r>
              <a:rPr lang="en-US" altLang="en-US" sz="2200" dirty="0">
                <a:solidFill>
                  <a:srgbClr val="6699FF"/>
                </a:solidFill>
              </a:rPr>
              <a:t> </a:t>
            </a:r>
            <a:r>
              <a:rPr lang="en-US" altLang="en-US" sz="2200" b="1" dirty="0">
                <a:solidFill>
                  <a:srgbClr val="6699FF"/>
                </a:solidFill>
              </a:rPr>
              <a:t>. </a:t>
            </a:r>
            <a:r>
              <a:rPr lang="en-US" altLang="en-US" sz="2200" dirty="0">
                <a:solidFill>
                  <a:srgbClr val="6699FF"/>
                </a:solidFill>
              </a:rPr>
              <a:t>m</a:t>
            </a:r>
            <a:r>
              <a:rPr lang="en-US" altLang="en-US" sz="2200" baseline="-25000" dirty="0">
                <a:solidFill>
                  <a:srgbClr val="6699FF"/>
                </a:solidFill>
              </a:rPr>
              <a:t>2</a:t>
            </a:r>
            <a:r>
              <a:rPr lang="en-US" altLang="en-US" sz="2200" b="1" dirty="0">
                <a:solidFill>
                  <a:srgbClr val="6699FF"/>
                </a:solidFill>
              </a:rPr>
              <a:t> . t</a:t>
            </a:r>
            <a:r>
              <a:rPr lang="en-US" altLang="en-US" sz="2200" baseline="-25000" dirty="0">
                <a:solidFill>
                  <a:srgbClr val="6699FF"/>
                </a:solidFill>
              </a:rPr>
              <a:t> </a:t>
            </a:r>
            <a:endParaRPr lang="en-US" altLang="en-US" sz="2200" dirty="0">
              <a:solidFill>
                <a:srgbClr val="6699FF"/>
              </a:solidFill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495600" y="5634336"/>
            <a:ext cx="929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>
                <a:solidFill>
                  <a:srgbClr val="FF0000"/>
                </a:solidFill>
              </a:rPr>
              <a:t>But, remember, the scheme is insecure?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484857" y="6191816"/>
            <a:ext cx="929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Key idea: fix insecurity while retaining homomorphism.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C68A7B8D-142D-9446-92AF-C50C37C2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389" y="2109284"/>
            <a:ext cx="1512168" cy="31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t = [s || -1]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6BDF3FC-2D26-C44E-BFD1-7E56D8A2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1</a:t>
            </a:r>
          </a:p>
        </p:txBody>
      </p:sp>
    </p:spTree>
    <p:extLst>
      <p:ext uri="{BB962C8B-B14F-4D97-AF65-F5344CB8AC3E}">
        <p14:creationId xmlns:p14="http://schemas.microsoft.com/office/powerpoint/2010/main" val="313726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6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Private-key Encryption of a bit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4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: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blipFill>
                <a:blip r:embed="rId2"/>
                <a:stretch>
                  <a:fillRect l="-900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 key:  a vector 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  <a:sym typeface="Symbol" pitchFamily="18" charset="2"/>
                  </a:rPr>
                  <a:t>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sub>
                      <m:sup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  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blipFill>
                <a:blip r:embed="rId3"/>
                <a:stretch>
                  <a:fillRect l="-1405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2106216" y="3737248"/>
            <a:ext cx="8168208" cy="1833710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1" name="Left Brace 30"/>
          <p:cNvSpPr/>
          <p:nvPr/>
        </p:nvSpPr>
        <p:spPr>
          <a:xfrm rot="-5400000">
            <a:off x="3497410" y="3888684"/>
            <a:ext cx="372647" cy="136815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204120" y="4869160"/>
            <a:ext cx="3315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 err="1">
                <a:solidFill>
                  <a:srgbClr val="000000"/>
                </a:solidFill>
              </a:rPr>
              <a:t>Priv</a:t>
            </a:r>
            <a:r>
              <a:rPr lang="en-US" altLang="en-US" dirty="0">
                <a:solidFill>
                  <a:srgbClr val="000000"/>
                </a:solidFill>
              </a:rPr>
              <a:t> key</a:t>
            </a:r>
          </a:p>
        </p:txBody>
      </p:sp>
      <p:sp>
        <p:nvSpPr>
          <p:cNvPr id="33" name="Left Brace 32"/>
          <p:cNvSpPr/>
          <p:nvPr/>
        </p:nvSpPr>
        <p:spPr>
          <a:xfrm rot="-5400000">
            <a:off x="5154057" y="4297572"/>
            <a:ext cx="345949" cy="6223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935878" y="4808586"/>
            <a:ext cx="19423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Ciphertext matrix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3110256" y="4869447"/>
            <a:ext cx="1600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</a:t>
            </a:r>
            <a:r>
              <a:rPr lang="en-US" altLang="en-US" dirty="0" err="1">
                <a:solidFill>
                  <a:srgbClr val="000000"/>
                </a:solidFill>
              </a:rPr>
              <a:t>Approx</a:t>
            </a:r>
            <a:r>
              <a:rPr lang="en-US" altLang="en-US" dirty="0">
                <a:solidFill>
                  <a:srgbClr val="000000"/>
                </a:solidFill>
              </a:rPr>
              <a:t> Eigenvector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100664" y="4790474"/>
            <a:ext cx="1371600" cy="37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Message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168208" y="4788142"/>
            <a:ext cx="19602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</a:t>
            </a:r>
            <a:r>
              <a:rPr lang="en-US" altLang="en-US" dirty="0" err="1">
                <a:solidFill>
                  <a:srgbClr val="000000"/>
                </a:solidFill>
              </a:rPr>
              <a:t>Approx</a:t>
            </a:r>
            <a:r>
              <a:rPr lang="en-US" altLang="en-US" dirty="0">
                <a:solidFill>
                  <a:srgbClr val="000000"/>
                </a:solidFill>
              </a:rPr>
              <a:t> Eigenvalue</a:t>
            </a:r>
          </a:p>
        </p:txBody>
      </p:sp>
      <p:sp>
        <p:nvSpPr>
          <p:cNvPr id="38" name="Left Brace 37"/>
          <p:cNvSpPr/>
          <p:nvPr/>
        </p:nvSpPr>
        <p:spPr>
          <a:xfrm rot="-5400000">
            <a:off x="7506568" y="4465591"/>
            <a:ext cx="228599" cy="262634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80029" y="2492896"/>
                <a:ext cx="6180736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is random (n+1) X n matrix)</a:t>
                </a:r>
                <a:endParaRPr lang="en-US" sz="2400" i="1" dirty="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0029" y="2492896"/>
                <a:ext cx="6180736" cy="571500"/>
              </a:xfrm>
              <a:prstGeom prst="rect">
                <a:avLst/>
              </a:prstGeom>
              <a:blipFill>
                <a:blip r:embed="rId4"/>
                <a:stretch>
                  <a:fillRect l="-1643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3">
            <a:extLst>
              <a:ext uri="{FF2B5EF4-FFF2-40B4-BE49-F238E27FC236}">
                <a16:creationId xmlns:a16="http://schemas.microsoft.com/office/drawing/2014/main" id="{AC4C5F1E-A839-2941-8202-47067333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504" y="3237756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Decryption:</a:t>
            </a:r>
            <a:endParaRPr lang="en-US" sz="2400" b="1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3A20945D-4F78-4F43-925B-67E3AF1EA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96" y="6025852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🙂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CPA-secure by LWE.</a:t>
            </a:r>
            <a:endParaRPr lang="en-US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46642AB8-FF1E-9440-9FEB-080EBC297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530" y="2417318"/>
                <a:ext cx="5181600" cy="797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457200" lvl="1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 =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𝒔𝑨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charset="0"/>
                                </a:rPr>
                                <m:t>𝒆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endParaRPr lang="en-US" sz="2000" b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46642AB8-FF1E-9440-9FEB-080EBC29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7530" y="2417318"/>
                <a:ext cx="5181600" cy="797051"/>
              </a:xfrm>
              <a:prstGeom prst="rect">
                <a:avLst/>
              </a:prstGeom>
              <a:blipFill>
                <a:blip r:embed="rId5"/>
                <a:stretch>
                  <a:fillRect t="-63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">
            <a:extLst>
              <a:ext uri="{FF2B5EF4-FFF2-40B4-BE49-F238E27FC236}">
                <a16:creationId xmlns:a16="http://schemas.microsoft.com/office/drawing/2014/main" id="{D012C02C-45B5-4447-B85F-82C71545F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606" y="3913892"/>
            <a:ext cx="79718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[s || -1]           C         </a:t>
            </a:r>
            <a:r>
              <a:rPr lang="en-US" alt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[s || -1] 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B751D5CD-7B42-324A-96FC-3D80CB8BA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2</a:t>
            </a:r>
          </a:p>
        </p:txBody>
      </p:sp>
    </p:spTree>
    <p:extLst>
      <p:ext uri="{BB962C8B-B14F-4D97-AF65-F5344CB8AC3E}">
        <p14:creationId xmlns:p14="http://schemas.microsoft.com/office/powerpoint/2010/main" val="67833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855640" y="1447801"/>
            <a:ext cx="6624736" cy="995065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648474" y="1681490"/>
            <a:ext cx="51145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t . C =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. t + e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866858" y="2718049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►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Homomorphic addition: </a:t>
            </a:r>
            <a:r>
              <a:rPr lang="en-US" altLang="en-US" sz="2400" b="1" dirty="0">
                <a:solidFill>
                  <a:srgbClr val="000000"/>
                </a:solidFill>
              </a:rPr>
              <a:t>C</a:t>
            </a:r>
            <a:r>
              <a:rPr lang="en-US" altLang="en-US" sz="2400" b="1" baseline="-25000" dirty="0">
                <a:solidFill>
                  <a:srgbClr val="000000"/>
                </a:solidFill>
              </a:rPr>
              <a:t>1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 </a:t>
            </a:r>
            <a:r>
              <a:rPr lang="en-CA" altLang="en-US" sz="2400" dirty="0">
                <a:solidFill>
                  <a:srgbClr val="000000"/>
                </a:solidFill>
              </a:rPr>
              <a:t>+ </a:t>
            </a:r>
            <a:r>
              <a:rPr lang="en-CA" altLang="en-US" sz="2400" b="1" dirty="0">
                <a:solidFill>
                  <a:srgbClr val="000000"/>
                </a:solidFill>
              </a:rPr>
              <a:t>C</a:t>
            </a:r>
            <a:r>
              <a:rPr lang="en-CA" altLang="en-US" sz="2400" b="1" baseline="-25000" dirty="0">
                <a:solidFill>
                  <a:srgbClr val="000000"/>
                </a:solidFill>
              </a:rPr>
              <a:t>2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C68A7B8D-142D-9446-92AF-C50C37C2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389" y="2109284"/>
            <a:ext cx="1512168" cy="31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t = [s || -1]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6BDF3FC-2D26-C44E-BFD1-7E56D8A2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9366-1762-E646-9FD3-18D744CAC30D}"/>
                  </a:ext>
                </a:extLst>
              </p:cNvPr>
              <p:cNvSpPr txBox="1"/>
              <p:nvPr/>
            </p:nvSpPr>
            <p:spPr>
              <a:xfrm>
                <a:off x="3950314" y="3816805"/>
                <a:ext cx="2438400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9DA9366-1762-E646-9FD3-18D744CAC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314" y="3816805"/>
                <a:ext cx="2438400" cy="482120"/>
              </a:xfrm>
              <a:prstGeom prst="rect">
                <a:avLst/>
              </a:prstGeom>
              <a:blipFill>
                <a:blip r:embed="rId2"/>
                <a:stretch>
                  <a:fillRect t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824DF7-30F4-AC40-BD1E-D2A2111E3078}"/>
                  </a:ext>
                </a:extLst>
              </p:cNvPr>
              <p:cNvSpPr txBox="1"/>
              <p:nvPr/>
            </p:nvSpPr>
            <p:spPr>
              <a:xfrm>
                <a:off x="4288786" y="4354670"/>
                <a:ext cx="3804332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E824DF7-30F4-AC40-BD1E-D2A2111E3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786" y="4354670"/>
                <a:ext cx="3804332" cy="482120"/>
              </a:xfrm>
              <a:prstGeom prst="rect">
                <a:avLst/>
              </a:prstGeom>
              <a:blipFill>
                <a:blip r:embed="rId3"/>
                <a:stretch>
                  <a:fillRect t="-23077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D98DC8-A7A2-7844-82C8-D5B8EE1C2218}"/>
                  </a:ext>
                </a:extLst>
              </p:cNvPr>
              <p:cNvSpPr txBox="1"/>
              <p:nvPr/>
            </p:nvSpPr>
            <p:spPr>
              <a:xfrm>
                <a:off x="4304026" y="4918550"/>
                <a:ext cx="3804332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</m:t>
                    </m:r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D98DC8-A7A2-7844-82C8-D5B8EE1C2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026" y="4918550"/>
                <a:ext cx="3804332" cy="482120"/>
              </a:xfrm>
              <a:prstGeom prst="rect">
                <a:avLst/>
              </a:prstGeom>
              <a:blipFill>
                <a:blip r:embed="rId4"/>
                <a:stretch>
                  <a:fillRect t="-25641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69072AA1-05EC-D14F-AD12-AEE69C3D36E7}"/>
              </a:ext>
            </a:extLst>
          </p:cNvPr>
          <p:cNvSpPr/>
          <p:nvPr/>
        </p:nvSpPr>
        <p:spPr>
          <a:xfrm>
            <a:off x="8413576" y="4278471"/>
            <a:ext cx="2133600" cy="907119"/>
          </a:xfrm>
          <a:prstGeom prst="wedgeRoundRectCallout">
            <a:avLst>
              <a:gd name="adj1" fmla="val -80960"/>
              <a:gd name="adj2" fmla="val 46827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Noise grows a little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DEE1C4-6F7C-FE4F-A79A-4FCB1290EF4B}"/>
                  </a:ext>
                </a:extLst>
              </p:cNvPr>
              <p:cNvSpPr txBox="1"/>
              <p:nvPr/>
            </p:nvSpPr>
            <p:spPr>
              <a:xfrm>
                <a:off x="4230660" y="5619590"/>
                <a:ext cx="1975532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≈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DEE1C4-6F7C-FE4F-A79A-4FCB1290E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660" y="5619590"/>
                <a:ext cx="1975532" cy="482120"/>
              </a:xfrm>
              <a:prstGeom prst="rect">
                <a:avLst/>
              </a:prstGeom>
              <a:blipFill>
                <a:blip r:embed="rId5"/>
                <a:stretch>
                  <a:fillRect t="-25641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5E527A-4DE8-9B45-A895-D0411EB9AB11}"/>
                  </a:ext>
                </a:extLst>
              </p:cNvPr>
              <p:cNvSpPr txBox="1"/>
              <p:nvPr/>
            </p:nvSpPr>
            <p:spPr>
              <a:xfrm>
                <a:off x="2231386" y="3821270"/>
                <a:ext cx="2438400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45E527A-4DE8-9B45-A895-D0411EB9A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386" y="3821270"/>
                <a:ext cx="2438400" cy="482120"/>
              </a:xfrm>
              <a:prstGeom prst="rect">
                <a:avLst/>
              </a:prstGeom>
              <a:blipFill>
                <a:blip r:embed="rId6"/>
                <a:stretch>
                  <a:fillRect t="-23077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86C6D0C-470A-B847-99D9-E017E37D6B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576" y="5523369"/>
            <a:ext cx="859160" cy="85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4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4" grpId="0" animBg="1"/>
      <p:bldP spid="24" grpId="1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855640" y="1447801"/>
            <a:ext cx="6624736" cy="995065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648474" y="1681490"/>
            <a:ext cx="51145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t . C =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. t + e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866858" y="2718049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►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Homomorphic multiplication: </a:t>
            </a:r>
            <a:r>
              <a:rPr lang="en-US" altLang="en-US" sz="2400" b="1" dirty="0">
                <a:solidFill>
                  <a:srgbClr val="000000"/>
                </a:solidFill>
              </a:rPr>
              <a:t>C</a:t>
            </a:r>
            <a:r>
              <a:rPr lang="en-US" altLang="en-US" sz="2400" b="1" baseline="-25000" dirty="0">
                <a:solidFill>
                  <a:srgbClr val="000000"/>
                </a:solidFill>
              </a:rPr>
              <a:t>1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 </a:t>
            </a:r>
            <a:r>
              <a:rPr lang="en-CA" altLang="en-US" sz="2400" b="1" dirty="0">
                <a:solidFill>
                  <a:srgbClr val="000000"/>
                </a:solidFill>
              </a:rPr>
              <a:t>C</a:t>
            </a:r>
            <a:r>
              <a:rPr lang="en-CA" altLang="en-US" sz="2400" b="1" baseline="-25000" dirty="0">
                <a:solidFill>
                  <a:srgbClr val="000000"/>
                </a:solidFill>
              </a:rPr>
              <a:t>2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C68A7B8D-142D-9446-92AF-C50C37C2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389" y="2109284"/>
            <a:ext cx="1512168" cy="31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t = [s || -1]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6BDF3FC-2D26-C44E-BFD1-7E56D8A2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EBCEBA-1FCF-3948-9978-185E849BB94E}"/>
                  </a:ext>
                </a:extLst>
              </p:cNvPr>
              <p:cNvSpPr txBox="1"/>
              <p:nvPr/>
            </p:nvSpPr>
            <p:spPr>
              <a:xfrm>
                <a:off x="1927041" y="3865513"/>
                <a:ext cx="2438400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2EBCEBA-1FCF-3948-9978-185E849BB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041" y="3865513"/>
                <a:ext cx="2438400" cy="482120"/>
              </a:xfrm>
              <a:prstGeom prst="rect">
                <a:avLst/>
              </a:prstGeom>
              <a:blipFill>
                <a:blip r:embed="rId2"/>
                <a:stretch>
                  <a:fillRect t="-23077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F25336-F22C-3D45-8F8F-6BD83530C286}"/>
                  </a:ext>
                </a:extLst>
              </p:cNvPr>
              <p:cNvSpPr txBox="1"/>
              <p:nvPr/>
            </p:nvSpPr>
            <p:spPr>
              <a:xfrm>
                <a:off x="3908241" y="3861049"/>
                <a:ext cx="2438400" cy="511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F25336-F22C-3D45-8F8F-6BD83530C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241" y="3861049"/>
                <a:ext cx="2438400" cy="511743"/>
              </a:xfrm>
              <a:prstGeom prst="rect">
                <a:avLst/>
              </a:prstGeom>
              <a:blipFill>
                <a:blip r:embed="rId3"/>
                <a:stretch>
                  <a:fillRect t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439EC85-CC1D-1348-99F7-E5B75BC0F749}"/>
                  </a:ext>
                </a:extLst>
              </p:cNvPr>
              <p:cNvSpPr txBox="1"/>
              <p:nvPr/>
            </p:nvSpPr>
            <p:spPr>
              <a:xfrm>
                <a:off x="3222441" y="4398913"/>
                <a:ext cx="3804332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439EC85-CC1D-1348-99F7-E5B75BC0F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441" y="4398913"/>
                <a:ext cx="3804332" cy="482120"/>
              </a:xfrm>
              <a:prstGeom prst="rect">
                <a:avLst/>
              </a:prstGeom>
              <a:blipFill>
                <a:blip r:embed="rId4"/>
                <a:stretch>
                  <a:fillRect t="-25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384175-3BDD-1243-8ECE-B7D74FA7914B}"/>
                  </a:ext>
                </a:extLst>
              </p:cNvPr>
              <p:cNvSpPr txBox="1"/>
              <p:nvPr/>
            </p:nvSpPr>
            <p:spPr>
              <a:xfrm>
                <a:off x="3679641" y="4882129"/>
                <a:ext cx="3804332" cy="511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5384175-3BDD-1243-8ECE-B7D74FA79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641" y="4882129"/>
                <a:ext cx="3804332" cy="511743"/>
              </a:xfrm>
              <a:prstGeom prst="rect">
                <a:avLst/>
              </a:prstGeom>
              <a:blipFill>
                <a:blip r:embed="rId5"/>
                <a:stretch>
                  <a:fillRect t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>
            <a:extLst>
              <a:ext uri="{FF2B5EF4-FFF2-40B4-BE49-F238E27FC236}">
                <a16:creationId xmlns:a16="http://schemas.microsoft.com/office/drawing/2014/main" id="{132315E0-D541-6D4E-BB96-88BDBF4ED6C1}"/>
              </a:ext>
            </a:extLst>
          </p:cNvPr>
          <p:cNvSpPr/>
          <p:nvPr/>
        </p:nvSpPr>
        <p:spPr>
          <a:xfrm rot="16200000">
            <a:off x="6325519" y="5129016"/>
            <a:ext cx="255604" cy="1737360"/>
          </a:xfrm>
          <a:prstGeom prst="leftBrac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E22777-6C9E-BE4E-AB5C-678CCAF04640}"/>
                  </a:ext>
                </a:extLst>
              </p:cNvPr>
              <p:cNvSpPr txBox="1"/>
              <p:nvPr/>
            </p:nvSpPr>
            <p:spPr>
              <a:xfrm>
                <a:off x="6499041" y="5990184"/>
                <a:ext cx="14325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𝑚𝑢𝑙𝑡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E22777-6C9E-BE4E-AB5C-678CCAF04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041" y="5990184"/>
                <a:ext cx="1432560" cy="461665"/>
              </a:xfrm>
              <a:prstGeom prst="rect">
                <a:avLst/>
              </a:prstGeom>
              <a:blipFill>
                <a:blip r:embed="rId6"/>
                <a:stretch>
                  <a:fillRect t="-21622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ounded Rectangular Callout 30">
                <a:extLst>
                  <a:ext uri="{FF2B5EF4-FFF2-40B4-BE49-F238E27FC236}">
                    <a16:creationId xmlns:a16="http://schemas.microsoft.com/office/drawing/2014/main" id="{73144B0C-4404-774B-81C1-ECB37AEC145A}"/>
                  </a:ext>
                </a:extLst>
              </p:cNvPr>
              <p:cNvSpPr/>
              <p:nvPr/>
            </p:nvSpPr>
            <p:spPr>
              <a:xfrm>
                <a:off x="7560174" y="3952108"/>
                <a:ext cx="2644959" cy="1334492"/>
              </a:xfrm>
              <a:prstGeom prst="wedgeRoundRectCallout">
                <a:avLst>
                  <a:gd name="adj1" fmla="val -57159"/>
                  <a:gd name="adj2" fmla="val 76926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Noise grows. </a:t>
                </a:r>
              </a:p>
              <a:p>
                <a:pPr algn="ctr"/>
                <a:r>
                  <a:rPr lang="en-US" sz="2000" b="1" dirty="0"/>
                  <a:t>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/>
                  <a:t> to be small! How?!</a:t>
                </a:r>
              </a:p>
            </p:txBody>
          </p:sp>
        </mc:Choice>
        <mc:Fallback>
          <p:sp>
            <p:nvSpPr>
              <p:cNvPr id="31" name="Rounded Rectangular Callout 30">
                <a:extLst>
                  <a:ext uri="{FF2B5EF4-FFF2-40B4-BE49-F238E27FC236}">
                    <a16:creationId xmlns:a16="http://schemas.microsoft.com/office/drawing/2014/main" id="{73144B0C-4404-774B-81C1-ECB37AEC14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174" y="3952108"/>
                <a:ext cx="2644959" cy="1334492"/>
              </a:xfrm>
              <a:prstGeom prst="wedgeRoundRectCallout">
                <a:avLst>
                  <a:gd name="adj1" fmla="val -57159"/>
                  <a:gd name="adj2" fmla="val 76926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ounded Rectangular Callout 31">
                <a:extLst>
                  <a:ext uri="{FF2B5EF4-FFF2-40B4-BE49-F238E27FC236}">
                    <a16:creationId xmlns:a16="http://schemas.microsoft.com/office/drawing/2014/main" id="{BFFADDAF-2B4D-CE41-8721-A1D9F449DCBC}"/>
                  </a:ext>
                </a:extLst>
              </p:cNvPr>
              <p:cNvSpPr/>
              <p:nvPr/>
            </p:nvSpPr>
            <p:spPr>
              <a:xfrm>
                <a:off x="8226389" y="2792933"/>
                <a:ext cx="2065566" cy="866284"/>
              </a:xfrm>
              <a:prstGeom prst="wedgeRoundRectCallout">
                <a:avLst>
                  <a:gd name="adj1" fmla="val -107284"/>
                  <a:gd name="adj2" fmla="val -21578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Can also u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se</m:t>
                    </m:r>
                    <m:r>
                      <a:rPr lang="en-US" sz="200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2" name="Rounded Rectangular Callout 31">
                <a:extLst>
                  <a:ext uri="{FF2B5EF4-FFF2-40B4-BE49-F238E27FC236}">
                    <a16:creationId xmlns:a16="http://schemas.microsoft.com/office/drawing/2014/main" id="{BFFADDAF-2B4D-CE41-8721-A1D9F449D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6389" y="2792933"/>
                <a:ext cx="2065566" cy="866284"/>
              </a:xfrm>
              <a:prstGeom prst="wedgeRoundRectCallout">
                <a:avLst>
                  <a:gd name="adj1" fmla="val -107284"/>
                  <a:gd name="adj2" fmla="val -21578"/>
                  <a:gd name="adj3" fmla="val 16667"/>
                </a:avLst>
              </a:prstGeom>
              <a:blipFill>
                <a:blip r:embed="rId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9126E2-746A-0D40-95F3-662E11300073}"/>
                  </a:ext>
                </a:extLst>
              </p:cNvPr>
              <p:cNvSpPr txBox="1"/>
              <p:nvPr/>
            </p:nvSpPr>
            <p:spPr>
              <a:xfrm>
                <a:off x="3755841" y="5456783"/>
                <a:ext cx="3804332" cy="482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A9126E2-746A-0D40-95F3-662E11300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841" y="5456783"/>
                <a:ext cx="3804332" cy="482120"/>
              </a:xfrm>
              <a:prstGeom prst="rect">
                <a:avLst/>
              </a:prstGeom>
              <a:blipFill>
                <a:blip r:embed="rId9"/>
                <a:stretch>
                  <a:fillRect t="-23077"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265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25" grpId="0"/>
      <p:bldP spid="26" grpId="0"/>
      <p:bldP spid="29" grpId="0" animBg="1"/>
      <p:bldP spid="30" grpId="0"/>
      <p:bldP spid="31" grpId="0" animBg="1"/>
      <p:bldP spid="32" grpId="0" animBg="1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Aside: Binary Decomposition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981200" y="1295400"/>
                <a:ext cx="82296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  <a:latin typeface="Gill Sans MT" panose="020B0502020104020203" pitchFamily="34" charset="0"/>
                  </a:rPr>
                  <a:t>Break each entry in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Gill Sans MT" panose="020B0502020104020203" pitchFamily="34" charset="0"/>
                  </a:rPr>
                  <a:t> into its binary representation</a:t>
                </a: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295400"/>
                <a:ext cx="8229600" cy="523220"/>
              </a:xfrm>
              <a:prstGeom prst="rect">
                <a:avLst/>
              </a:prstGeom>
              <a:blipFill>
                <a:blip r:embed="rId2"/>
                <a:stretch>
                  <a:fillRect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47801" y="2590800"/>
                <a:ext cx="3200401" cy="713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𝐶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/>
                        </a:rPr>
                        <m:t>   (</m:t>
                      </m:r>
                      <m:r>
                        <a:rPr lang="en-US" sz="2400" i="1">
                          <a:latin typeface="Cambria Math"/>
                        </a:rPr>
                        <m:t>𝑚𝑜𝑑</m:t>
                      </m:r>
                      <m:r>
                        <a:rPr lang="en-US" sz="2400" i="1">
                          <a:latin typeface="Cambria Math"/>
                        </a:rPr>
                        <m:t> 8)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1" y="2590800"/>
                <a:ext cx="3200401" cy="713272"/>
              </a:xfrm>
              <a:prstGeom prst="rect">
                <a:avLst/>
              </a:prstGeom>
              <a:blipFill>
                <a:blip r:embed="rId3"/>
                <a:stretch>
                  <a:fillRect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876800" y="1944758"/>
                <a:ext cx="5867400" cy="2093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𝑏𝑖𝑡𝑠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r>
                      <a:rPr lang="en-US" sz="2400" i="1">
                        <a:latin typeface="Cambria Math"/>
                      </a:rPr>
                      <m:t>  (</m:t>
                    </m:r>
                    <m:r>
                      <a:rPr lang="en-US" sz="2400" i="1">
                        <a:latin typeface="Cambria Math"/>
                      </a:rPr>
                      <m:t>𝑚𝑜𝑑</m:t>
                    </m:r>
                    <m:r>
                      <a:rPr lang="en-US" sz="2400" i="1">
                        <a:latin typeface="Cambria Math"/>
                      </a:rPr>
                      <m:t> 8)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944758"/>
                <a:ext cx="5867400" cy="2093843"/>
              </a:xfrm>
              <a:prstGeom prst="rect">
                <a:avLst/>
              </a:prstGeom>
              <a:blipFill>
                <a:blip r:embed="rId4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419600" y="2583360"/>
            <a:ext cx="76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 Math"/>
                <a:ea typeface="Cambria Math"/>
              </a:rPr>
              <a:t>⇒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391400" y="372640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Small entries like we wanted!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95801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0"/>
              </a:rPr>
              <a:t>Consider the “reverse” operation: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676401" y="5193972"/>
                <a:ext cx="4071023" cy="708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2 1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0 0 0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0 0 0</m:t>
                                </m:r>
                              </m:e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4 2 1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/>
                        </a:rPr>
                        <m:t>𝑏𝑖𝑡𝑠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1" y="5193972"/>
                <a:ext cx="4071023" cy="708143"/>
              </a:xfrm>
              <a:prstGeom prst="rect">
                <a:avLst/>
              </a:prstGeom>
              <a:blipFill>
                <a:blip r:embed="rId5"/>
                <a:stretch>
                  <a:fillRect t="-1754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905000" y="6304172"/>
                <a:ext cx="10668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/>
                        </a:rPr>
                        <m:t>𝐺</m:t>
                      </m:r>
                    </m:oMath>
                  </m:oMathPara>
                </a14:m>
                <a:endParaRPr lang="en-US" dirty="0"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6304172"/>
                <a:ext cx="10668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c 17"/>
          <p:cNvSpPr/>
          <p:nvPr/>
        </p:nvSpPr>
        <p:spPr>
          <a:xfrm rot="13994961">
            <a:off x="2270935" y="5958904"/>
            <a:ext cx="609600" cy="533400"/>
          </a:xfrm>
          <a:prstGeom prst="arc">
            <a:avLst>
              <a:gd name="adj1" fmla="val 16200000"/>
              <a:gd name="adj2" fmla="val 1782677"/>
            </a:avLst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715000" y="5105401"/>
            <a:ext cx="76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ambria Math"/>
                <a:ea typeface="Cambria Math"/>
              </a:rPr>
              <a:t>⇒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6435436" y="5240098"/>
                <a:ext cx="4156364" cy="61215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i="1">
                          <a:latin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436" y="5240098"/>
                <a:ext cx="4156364" cy="612155"/>
              </a:xfrm>
              <a:prstGeom prst="rect">
                <a:avLst/>
              </a:prstGeom>
              <a:blipFill>
                <a:blip r:embed="rId7"/>
                <a:stretch>
                  <a:fillRect t="-2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 rot="5400000">
            <a:off x="2465537" y="4772808"/>
            <a:ext cx="674056" cy="16001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13994961">
            <a:off x="3977465" y="5928296"/>
            <a:ext cx="609600" cy="533400"/>
          </a:xfrm>
          <a:prstGeom prst="arc">
            <a:avLst>
              <a:gd name="adj1" fmla="val 16200000"/>
              <a:gd name="adj2" fmla="val 1782677"/>
            </a:avLst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3124200" y="6320136"/>
                <a:ext cx="5943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Gill Sans MT" panose="020B0502020104020203" pitchFamily="34" charset="0"/>
                  </a:rPr>
                  <a:t>Denote: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400" dirty="0">
                    <a:latin typeface="Gill Sans MT" panose="020B0502020104020203" pitchFamily="34" charset="0"/>
                  </a:rPr>
                  <a:t> which has “small” entries</a:t>
                </a: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6320136"/>
                <a:ext cx="5943600" cy="461665"/>
              </a:xfrm>
              <a:prstGeom prst="rect">
                <a:avLst/>
              </a:prstGeom>
              <a:blipFill>
                <a:blip r:embed="rId8"/>
                <a:stretch>
                  <a:fillRect t="-10526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>
            <a:off x="1820174" y="5257801"/>
            <a:ext cx="8626" cy="627965"/>
          </a:xfrm>
          <a:prstGeom prst="straightConnector1">
            <a:avLst/>
          </a:prstGeom>
          <a:ln w="19050">
            <a:headEnd type="arrow" w="sm" len="med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559440" y="53456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40" y="5345668"/>
                <a:ext cx="3048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/>
          <p:nvPr/>
        </p:nvCxnSpPr>
        <p:spPr>
          <a:xfrm flipH="1">
            <a:off x="1943326" y="5189778"/>
            <a:ext cx="1723494" cy="18406"/>
          </a:xfrm>
          <a:prstGeom prst="straightConnector1">
            <a:avLst/>
          </a:prstGeom>
          <a:ln w="19050">
            <a:headEnd type="arrow" w="sm" len="med"/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362200" y="4897324"/>
                <a:ext cx="89835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𝑘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4897324"/>
                <a:ext cx="898359" cy="338554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88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3" grpId="0"/>
      <p:bldP spid="15" grpId="0"/>
      <p:bldP spid="17" grpId="0"/>
      <p:bldP spid="18" grpId="0" animBg="1"/>
      <p:bldP spid="19" grpId="0"/>
      <p:bldP spid="20" grpId="0" animBg="1"/>
      <p:bldP spid="3" grpId="0" animBg="1"/>
      <p:bldP spid="3" grpId="1" animBg="1"/>
      <p:bldP spid="25" grpId="0" animBg="1"/>
      <p:bldP spid="26" grpId="0"/>
      <p:bldP spid="10" grpId="0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4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Private-key Encryption of a bit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CA" sz="2400" b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: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797596"/>
                <a:ext cx="8458200" cy="571500"/>
              </a:xfrm>
              <a:prstGeom prst="rect">
                <a:avLst/>
              </a:prstGeom>
              <a:blipFill>
                <a:blip r:embed="rId2"/>
                <a:stretch>
                  <a:fillRect l="-900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3"/>
              <p:cNvSpPr txBox="1">
                <a:spLocks noChangeArrowheads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Private key:  a vector </a:t>
                </a: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  <a:sym typeface="Symbol" pitchFamily="18" charset="2"/>
                  </a:rPr>
                  <a:t>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sz="2400" b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sub>
                      <m:sup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</a:rPr>
                  <a:t>  </a:t>
                </a:r>
                <a:endParaRPr lang="en-US" sz="2400" b="1" i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1544" y="1124744"/>
                <a:ext cx="5410200" cy="571500"/>
              </a:xfrm>
              <a:prstGeom prst="rect">
                <a:avLst/>
              </a:prstGeom>
              <a:blipFill>
                <a:blip r:embed="rId3"/>
                <a:stretch>
                  <a:fillRect l="-1405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2176264" y="3737248"/>
            <a:ext cx="8168208" cy="1833710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1" name="Left Brace 30"/>
          <p:cNvSpPr/>
          <p:nvPr/>
        </p:nvSpPr>
        <p:spPr>
          <a:xfrm rot="-5400000">
            <a:off x="2993354" y="3888684"/>
            <a:ext cx="372647" cy="1368153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204120" y="4869160"/>
            <a:ext cx="3315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 err="1">
                <a:solidFill>
                  <a:srgbClr val="000000"/>
                </a:solidFill>
              </a:rPr>
              <a:t>Priv</a:t>
            </a:r>
            <a:r>
              <a:rPr lang="en-US" altLang="en-US" dirty="0">
                <a:solidFill>
                  <a:srgbClr val="000000"/>
                </a:solidFill>
              </a:rPr>
              <a:t> key</a:t>
            </a:r>
          </a:p>
        </p:txBody>
      </p:sp>
      <p:sp>
        <p:nvSpPr>
          <p:cNvPr id="33" name="Left Brace 32"/>
          <p:cNvSpPr/>
          <p:nvPr/>
        </p:nvSpPr>
        <p:spPr>
          <a:xfrm rot="-5400000">
            <a:off x="4794017" y="4297572"/>
            <a:ext cx="345949" cy="622300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4" name="Rectangle 4"/>
          <p:cNvSpPr>
            <a:spLocks noChangeArrowheads="1"/>
          </p:cNvSpPr>
          <p:nvPr/>
        </p:nvSpPr>
        <p:spPr bwMode="auto">
          <a:xfrm>
            <a:off x="4576605" y="4792743"/>
            <a:ext cx="19423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Ciphertext matrix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3110256" y="4869447"/>
            <a:ext cx="16002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</a:t>
            </a:r>
            <a:r>
              <a:rPr lang="en-US" altLang="en-US" dirty="0" err="1">
                <a:solidFill>
                  <a:srgbClr val="000000"/>
                </a:solidFill>
              </a:rPr>
              <a:t>Approx</a:t>
            </a:r>
            <a:r>
              <a:rPr lang="en-US" altLang="en-US" dirty="0">
                <a:solidFill>
                  <a:srgbClr val="000000"/>
                </a:solidFill>
              </a:rPr>
              <a:t> Eigenvector</a:t>
            </a: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100664" y="4790474"/>
            <a:ext cx="1371600" cy="373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Message</a:t>
            </a: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8168208" y="4788142"/>
            <a:ext cx="19602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= </a:t>
            </a:r>
            <a:r>
              <a:rPr lang="en-US" altLang="en-US" dirty="0" err="1">
                <a:solidFill>
                  <a:srgbClr val="000000"/>
                </a:solidFill>
              </a:rPr>
              <a:t>Approx</a:t>
            </a:r>
            <a:r>
              <a:rPr lang="en-US" altLang="en-US" dirty="0">
                <a:solidFill>
                  <a:srgbClr val="000000"/>
                </a:solidFill>
              </a:rPr>
              <a:t> “Eigenvalue”</a:t>
            </a:r>
          </a:p>
        </p:txBody>
      </p:sp>
      <p:sp>
        <p:nvSpPr>
          <p:cNvPr id="38" name="Left Brace 37"/>
          <p:cNvSpPr/>
          <p:nvPr/>
        </p:nvSpPr>
        <p:spPr>
          <a:xfrm rot="-5400000">
            <a:off x="7506568" y="4465591"/>
            <a:ext cx="228599" cy="262634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75904" y="2492896"/>
                <a:ext cx="6180736" cy="57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is random (n+1) X </a:t>
                </a:r>
                <a:r>
                  <a:rPr lang="en-US" sz="2400" dirty="0">
                    <a:solidFill>
                      <a:srgbClr val="FF0000"/>
                    </a:solidFill>
                    <a:latin typeface="Arial"/>
                    <a:cs typeface="Arial"/>
                    <a:sym typeface="Symbol" pitchFamily="18" charset="2"/>
                  </a:rPr>
                  <a:t>n log q 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cs typeface="Arial"/>
                    <a:sym typeface="Symbol" pitchFamily="18" charset="2"/>
                  </a:rPr>
                  <a:t>matrix)</a:t>
                </a:r>
                <a:endParaRPr lang="en-US" sz="2400" i="1" dirty="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3FD5D8D3-540D-AE4F-89CD-CC64801C6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75904" y="2492896"/>
                <a:ext cx="6180736" cy="571500"/>
              </a:xfrm>
              <a:prstGeom prst="rect">
                <a:avLst/>
              </a:prstGeom>
              <a:blipFill>
                <a:blip r:embed="rId4"/>
                <a:stretch>
                  <a:fillRect l="-1434" t="-195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3">
            <a:extLst>
              <a:ext uri="{FF2B5EF4-FFF2-40B4-BE49-F238E27FC236}">
                <a16:creationId xmlns:a16="http://schemas.microsoft.com/office/drawing/2014/main" id="{AC4C5F1E-A839-2941-8202-47067333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504" y="3237756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cs typeface="Arial"/>
              </a:rPr>
              <a:t>Decryption:</a:t>
            </a:r>
            <a:endParaRPr lang="en-US" sz="2400" b="1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3A20945D-4F78-4F43-925B-67E3AF1EA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2296" y="6025852"/>
            <a:ext cx="8458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🙂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Still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CPA-secure by LWE.</a:t>
            </a:r>
            <a:endParaRPr lang="en-US" dirty="0">
              <a:solidFill>
                <a:srgbClr val="0000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46642AB8-FF1E-9440-9FEB-080EBC297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37530" y="2417318"/>
                <a:ext cx="5181600" cy="7970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457200" lvl="1" indent="0" eaLnBrk="1" hangingPunct="1">
                  <a:lnSpc>
                    <a:spcPct val="80000"/>
                  </a:lnSpc>
                  <a:buNone/>
                  <a:defRPr/>
                </a:pPr>
                <a:r>
                  <a:rPr lang="en-US" sz="2400" b="1" dirty="0">
                    <a:solidFill>
                      <a:srgbClr val="0000FF"/>
                    </a:solidFill>
                    <a:latin typeface="Arial"/>
                    <a:cs typeface="Arial"/>
                  </a:rPr>
                  <a:t>C =</a:t>
                </a:r>
                <a:r>
                  <a:rPr lang="en-US" sz="2400" dirty="0">
                    <a:solidFill>
                      <a:srgbClr val="0000FF"/>
                    </a:solidFill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𝒔𝑨</m:t>
                              </m:r>
                              <m: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sz="2400" b="1" i="1">
                                  <a:solidFill>
                                    <a:srgbClr val="0000FF"/>
                                  </a:solidFill>
                                  <a:latin typeface="Cambria Math" charset="0"/>
                                </a:rPr>
                                <m:t>𝒆</m:t>
                              </m:r>
                            </m:e>
                          </m:mr>
                        </m:m>
                      </m:e>
                    </m:d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b="1" dirty="0">
                  <a:solidFill>
                    <a:srgbClr val="0000FF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46642AB8-FF1E-9440-9FEB-080EBC29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7530" y="2417318"/>
                <a:ext cx="5181600" cy="797051"/>
              </a:xfrm>
              <a:prstGeom prst="rect">
                <a:avLst/>
              </a:prstGeom>
              <a:blipFill>
                <a:blip r:embed="rId5"/>
                <a:stretch>
                  <a:fillRect t="-63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4">
            <a:extLst>
              <a:ext uri="{FF2B5EF4-FFF2-40B4-BE49-F238E27FC236}">
                <a16:creationId xmlns:a16="http://schemas.microsoft.com/office/drawing/2014/main" id="{D012C02C-45B5-4447-B85F-82C71545F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585" y="3913892"/>
            <a:ext cx="79718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[s || -1]           C         </a:t>
            </a:r>
            <a:r>
              <a:rPr lang="en-US" altLang="en-US" sz="2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       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[s || -1] </a:t>
            </a:r>
            <a:r>
              <a:rPr lang="en-US" altLang="en-US" sz="2800" b="1" dirty="0">
                <a:solidFill>
                  <a:srgbClr val="FF0000"/>
                </a:solidFill>
              </a:rPr>
              <a:t>G</a:t>
            </a:r>
            <a:r>
              <a:rPr lang="en-US" altLang="en-US" sz="2800" b="1" dirty="0">
                <a:solidFill>
                  <a:srgbClr val="0000FF"/>
                </a:solidFill>
              </a:rPr>
              <a:t> 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B751D5CD-7B42-324A-96FC-3D80CB8BA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3</a:t>
            </a:r>
          </a:p>
        </p:txBody>
      </p:sp>
    </p:spTree>
    <p:extLst>
      <p:ext uri="{BB962C8B-B14F-4D97-AF65-F5344CB8AC3E}">
        <p14:creationId xmlns:p14="http://schemas.microsoft.com/office/powerpoint/2010/main" val="160182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855640" y="1049016"/>
            <a:ext cx="6624736" cy="995065"/>
          </a:xfrm>
          <a:prstGeom prst="rect">
            <a:avLst/>
          </a:prstGeom>
          <a:solidFill>
            <a:schemeClr val="accent2">
              <a:lumMod val="20000"/>
              <a:lumOff val="80000"/>
              <a:alpha val="3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3648474" y="1282705"/>
            <a:ext cx="51145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lvl="0" algn="ctr" eaLnBrk="1" hangingPunct="1"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t . C = </a:t>
            </a:r>
            <a:r>
              <a:rPr lang="en-US" altLang="en-US" sz="2800" dirty="0">
                <a:solidFill>
                  <a:srgbClr val="0000FF"/>
                </a:solidFill>
              </a:rPr>
              <a:t>m</a:t>
            </a:r>
            <a:r>
              <a:rPr lang="en-US" altLang="en-US" sz="2800" b="1" dirty="0">
                <a:solidFill>
                  <a:srgbClr val="0000FF"/>
                </a:solidFill>
              </a:rPr>
              <a:t> . t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b="1" dirty="0">
                <a:solidFill>
                  <a:srgbClr val="0000FF"/>
                </a:solidFill>
              </a:rPr>
              <a:t>. G + e </a:t>
            </a:r>
            <a:r>
              <a:rPr lang="en-US" altLang="en-US" sz="2200" dirty="0">
                <a:solidFill>
                  <a:srgbClr val="0000FF"/>
                </a:solidFill>
              </a:rPr>
              <a:t>(mod q) </a:t>
            </a:r>
            <a:r>
              <a:rPr lang="en-US" altLang="en-US" sz="2200" baseline="-25000" dirty="0">
                <a:solidFill>
                  <a:srgbClr val="0000FF"/>
                </a:solidFill>
              </a:rPr>
              <a:t> </a:t>
            </a:r>
            <a:endParaRPr lang="en-US" altLang="en-US" sz="2200" dirty="0">
              <a:solidFill>
                <a:srgbClr val="0000FF"/>
              </a:solidFill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1866858" y="2319264"/>
            <a:ext cx="800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►"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Homomorphic multiplication:</a:t>
            </a:r>
            <a:endParaRPr lang="en-US" altLang="en-US" sz="2400" b="1" dirty="0">
              <a:solidFill>
                <a:srgbClr val="000000"/>
              </a:solidFill>
            </a:endParaRP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C68A7B8D-142D-9446-92AF-C50C37C23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389" y="1710499"/>
            <a:ext cx="1512168" cy="31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t = [s || -1]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6BDF3FC-2D26-C44E-BFD1-7E56D8A27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2" y="-45268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b="1" kern="0" dirty="0">
                <a:solidFill>
                  <a:schemeClr val="tx1"/>
                </a:solidFill>
                <a:latin typeface="Calibri" panose="020F0502020204030204" pitchFamily="34" charset="0"/>
              </a:rPr>
              <a:t>New (Secret-key) Encryption: Take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7C8EF0-D435-B94A-B3E6-DA62581DAC2D}"/>
                  </a:ext>
                </a:extLst>
              </p:cNvPr>
              <p:cNvSpPr txBox="1"/>
              <p:nvPr/>
            </p:nvSpPr>
            <p:spPr>
              <a:xfrm>
                <a:off x="6321389" y="2244845"/>
                <a:ext cx="3810000" cy="523220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𝑚𝑢𝑙𝑡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7C8EF0-D435-B94A-B3E6-DA62581DA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389" y="2244845"/>
                <a:ext cx="3810000" cy="523220"/>
              </a:xfrm>
              <a:prstGeom prst="rect">
                <a:avLst/>
              </a:prstGeom>
              <a:blipFill>
                <a:blip r:embed="rId2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2F6B7FE-1FD0-7A4A-85F2-7394884FC8C0}"/>
                  </a:ext>
                </a:extLst>
              </p:cNvPr>
              <p:cNvSpPr/>
              <p:nvPr/>
            </p:nvSpPr>
            <p:spPr>
              <a:xfrm>
                <a:off x="1834946" y="3124201"/>
                <a:ext cx="22798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2F6B7FE-1FD0-7A4A-85F2-7394884FC8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946" y="3124201"/>
                <a:ext cx="2279855" cy="461665"/>
              </a:xfrm>
              <a:prstGeom prst="rect">
                <a:avLst/>
              </a:prstGeom>
              <a:blipFill>
                <a:blip r:embed="rId3"/>
                <a:stretch>
                  <a:fillRect t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E39246A-32D8-7D49-984D-70487C07716D}"/>
                  </a:ext>
                </a:extLst>
              </p:cNvPr>
              <p:cNvSpPr/>
              <p:nvPr/>
            </p:nvSpPr>
            <p:spPr>
              <a:xfrm>
                <a:off x="4109495" y="3124201"/>
                <a:ext cx="397301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E39246A-32D8-7D49-984D-70487C0771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9495" y="3124201"/>
                <a:ext cx="3973011" cy="461665"/>
              </a:xfrm>
              <a:prstGeom prst="rect">
                <a:avLst/>
              </a:prstGeom>
              <a:blipFill>
                <a:blip r:embed="rId4"/>
                <a:stretch>
                  <a:fillRect t="-24324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E5B15E3-5082-1A49-B790-8E28C73CAA01}"/>
                  </a:ext>
                </a:extLst>
              </p:cNvPr>
              <p:cNvSpPr/>
              <p:nvPr/>
            </p:nvSpPr>
            <p:spPr>
              <a:xfrm>
                <a:off x="4068750" y="3700129"/>
                <a:ext cx="511601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E5B15E3-5082-1A49-B790-8E28C73CA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750" y="3700129"/>
                <a:ext cx="5116011" cy="461665"/>
              </a:xfrm>
              <a:prstGeom prst="rect">
                <a:avLst/>
              </a:prstGeom>
              <a:blipFill>
                <a:blip r:embed="rId5"/>
                <a:stretch>
                  <a:fillRect t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12053BA-DF7D-4145-AD4B-24A466904038}"/>
                  </a:ext>
                </a:extLst>
              </p:cNvPr>
              <p:cNvSpPr/>
              <p:nvPr/>
            </p:nvSpPr>
            <p:spPr>
              <a:xfrm>
                <a:off x="3491025" y="4267201"/>
                <a:ext cx="511601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12053BA-DF7D-4145-AD4B-24A4669040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025" y="4267201"/>
                <a:ext cx="5116011" cy="461665"/>
              </a:xfrm>
              <a:prstGeom prst="rect">
                <a:avLst/>
              </a:prstGeom>
              <a:blipFill>
                <a:blip r:embed="rId6"/>
                <a:stretch>
                  <a:fillRect t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4165CD1-3F61-D845-B7CD-2DAE57F595F8}"/>
                  </a:ext>
                </a:extLst>
              </p:cNvPr>
              <p:cNvSpPr/>
              <p:nvPr/>
            </p:nvSpPr>
            <p:spPr>
              <a:xfrm>
                <a:off x="3886200" y="4876801"/>
                <a:ext cx="5791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4165CD1-3F61-D845-B7CD-2DAE57F59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876801"/>
                <a:ext cx="5791200" cy="461665"/>
              </a:xfrm>
              <a:prstGeom prst="rect">
                <a:avLst/>
              </a:prstGeom>
              <a:blipFill>
                <a:blip r:embed="rId7"/>
                <a:stretch>
                  <a:fillRect t="-24324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A5D1175-BA02-8342-84EB-50F5A4636864}"/>
                  </a:ext>
                </a:extLst>
              </p:cNvPr>
              <p:cNvSpPr/>
              <p:nvPr/>
            </p:nvSpPr>
            <p:spPr>
              <a:xfrm>
                <a:off x="4088216" y="5428842"/>
                <a:ext cx="57912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A5D1175-BA02-8342-84EB-50F5A4636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216" y="5428842"/>
                <a:ext cx="5791200" cy="461665"/>
              </a:xfrm>
              <a:prstGeom prst="rect">
                <a:avLst/>
              </a:prstGeom>
              <a:blipFill>
                <a:blip r:embed="rId8"/>
                <a:stretch>
                  <a:fillRect t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413A1C8-3590-1F43-A414-B9F6B130D1F5}"/>
                  </a:ext>
                </a:extLst>
              </p:cNvPr>
              <p:cNvSpPr txBox="1"/>
              <p:nvPr/>
            </p:nvSpPr>
            <p:spPr>
              <a:xfrm>
                <a:off x="1368015" y="6299333"/>
                <a:ext cx="9455968" cy="430887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𝑚𝑢𝑙𝑡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⋅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≤</m:t>
                      </m:r>
                      <m:d>
                        <m:d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en-US" sz="2200" i="1">
                          <a:solidFill>
                            <a:schemeClr val="tx1"/>
                          </a:solidFill>
                          <a:latin typeface="Cambria Math"/>
                        </a:rPr>
                        <m:t>⋅</m:t>
                      </m:r>
                      <m:func>
                        <m:funcPr>
                          <m:ctrl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max</m:t>
                          </m:r>
                        </m:fName>
                        <m:e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{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}</m:t>
                          </m:r>
                        </m:e>
                      </m:func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413A1C8-3590-1F43-A414-B9F6B130D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015" y="6299333"/>
                <a:ext cx="9455968" cy="430887"/>
              </a:xfrm>
              <a:prstGeom prst="rect">
                <a:avLst/>
              </a:prstGeom>
              <a:blipFill>
                <a:blip r:embed="rId9"/>
                <a:stretch>
                  <a:fillRect t="-13889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FDF2C93-2CD5-F245-921B-9D59B48E104F}"/>
                  </a:ext>
                </a:extLst>
              </p:cNvPr>
              <p:cNvSpPr/>
              <p:nvPr/>
            </p:nvSpPr>
            <p:spPr>
              <a:xfrm>
                <a:off x="6172201" y="5867400"/>
                <a:ext cx="83401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𝑚𝑢𝑙𝑡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FDF2C93-2CD5-F245-921B-9D59B48E1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1" y="5867400"/>
                <a:ext cx="834011" cy="400110"/>
              </a:xfrm>
              <a:prstGeom prst="rect">
                <a:avLst/>
              </a:prstGeom>
              <a:blipFill>
                <a:blip r:embed="rId10"/>
                <a:stretch>
                  <a:fillRect t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ight Brace 36">
            <a:extLst>
              <a:ext uri="{FF2B5EF4-FFF2-40B4-BE49-F238E27FC236}">
                <a16:creationId xmlns:a16="http://schemas.microsoft.com/office/drawing/2014/main" id="{74BAE53A-EF55-AA4E-BF0F-100D6B2464CD}"/>
              </a:ext>
            </a:extLst>
          </p:cNvPr>
          <p:cNvSpPr/>
          <p:nvPr/>
        </p:nvSpPr>
        <p:spPr>
          <a:xfrm rot="5400000">
            <a:off x="6158059" y="4359701"/>
            <a:ext cx="106643" cy="3122042"/>
          </a:xfrm>
          <a:prstGeom prst="righ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6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/>
      <p:bldP spid="21" grpId="0"/>
      <p:bldP spid="24" grpId="0"/>
      <p:bldP spid="27" grpId="0"/>
      <p:bldP spid="28" grpId="0"/>
      <p:bldP spid="34" grpId="0"/>
      <p:bldP spid="35" grpId="0" animBg="1"/>
      <p:bldP spid="36" grpId="0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EFAE4-53FC-5773-3148-E166EE905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Note: Public Key GSW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50FBD4-3580-139D-FAEB-0786E9F51837}"/>
                  </a:ext>
                </a:extLst>
              </p:cNvPr>
              <p:cNvSpPr txBox="1"/>
              <p:nvPr/>
            </p:nvSpPr>
            <p:spPr>
              <a:xfrm>
                <a:off x="838200" y="1792205"/>
                <a:ext cx="10515600" cy="2834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Tx/>
                  <a:buChar char="-"/>
                </a:pPr>
                <a:r>
                  <a:rPr lang="en-US" sz="3200" dirty="0"/>
                  <a:t>Setup: Sample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3200" b="0" dirty="0"/>
              </a:p>
              <a:p>
                <a:r>
                  <a:rPr lang="en-US" sz="3200" dirty="0"/>
                  <a:t>       We have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  <m:m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𝑠𝐴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b="0" dirty="0"/>
              </a:p>
              <a:p>
                <a:pPr marL="285750" indent="-285750">
                  <a:buFontTx/>
                  <a:buChar char="-"/>
                </a:pPr>
                <a:r>
                  <a:rPr lang="en-US" sz="3200" dirty="0"/>
                  <a:t>Encrypt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{0,1}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endParaRPr lang="en-US" sz="3200" dirty="0"/>
              </a:p>
              <a:p>
                <a:pPr marL="285750" indent="-285750">
                  <a:buFontTx/>
                  <a:buChar char="-"/>
                </a:pPr>
                <a:r>
                  <a:rPr lang="en-US" sz="3200" dirty="0"/>
                  <a:t>Decrypt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 and round as usual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50FBD4-3580-139D-FAEB-0786E9F51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92205"/>
                <a:ext cx="10515600" cy="2834943"/>
              </a:xfrm>
              <a:prstGeom prst="rect">
                <a:avLst/>
              </a:prstGeom>
              <a:blipFill>
                <a:blip r:embed="rId2"/>
                <a:stretch>
                  <a:fillRect l="-1568" b="-2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54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Homomorphic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Circuit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486400" y="2119392"/>
                <a:ext cx="5403184" cy="516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  <a:ea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  <a:ea typeface="Cambria Math"/>
                                </a:rPr>
                                <m:t>𝑜𝑢𝑡𝑝𝑢𝑡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  <a:ea typeface="Cambria Math"/>
                        </a:rPr>
                        <m:t>≤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/>
                          <a:ea typeface="Cambria Math"/>
                        </a:rPr>
                        <m:t>⋅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/>
                          <a:ea typeface="Cambria Math"/>
                        </a:rPr>
                        <m:t>≈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𝑁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119392"/>
                <a:ext cx="5403184" cy="516616"/>
              </a:xfrm>
              <a:prstGeom prst="rect">
                <a:avLst/>
              </a:prstGeom>
              <a:blipFill>
                <a:blip r:embed="rId2"/>
                <a:stretch>
                  <a:fillRect t="-14634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638800" y="6036584"/>
                <a:ext cx="3048000" cy="516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𝑖𝑛𝑝𝑢𝑡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6036584"/>
                <a:ext cx="3048000" cy="516616"/>
              </a:xfrm>
              <a:prstGeom prst="rect">
                <a:avLst/>
              </a:prstGeom>
              <a:blipFill>
                <a:blip r:embed="rId3"/>
                <a:stretch>
                  <a:fillRect t="-14634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2590800" y="2399152"/>
            <a:ext cx="2895600" cy="2496699"/>
            <a:chOff x="1143000" y="1524000"/>
            <a:chExt cx="2895600" cy="2496699"/>
          </a:xfrm>
        </p:grpSpPr>
        <p:sp>
          <p:nvSpPr>
            <p:cNvPr id="8" name="Oval 7"/>
            <p:cNvSpPr/>
            <p:nvPr/>
          </p:nvSpPr>
          <p:spPr>
            <a:xfrm>
              <a:off x="1295400" y="3048000"/>
              <a:ext cx="6096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Oval 8"/>
            <p:cNvSpPr/>
            <p:nvPr/>
          </p:nvSpPr>
          <p:spPr>
            <a:xfrm>
              <a:off x="3124200" y="3048000"/>
              <a:ext cx="6096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Oval 9"/>
            <p:cNvSpPr/>
            <p:nvPr/>
          </p:nvSpPr>
          <p:spPr>
            <a:xfrm>
              <a:off x="2133600" y="1905000"/>
              <a:ext cx="609600" cy="533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3733800" y="3657600"/>
              <a:ext cx="304800" cy="36309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Line 5"/>
            <p:cNvSpPr>
              <a:spLocks noChangeShapeType="1"/>
            </p:cNvSpPr>
            <p:nvPr/>
          </p:nvSpPr>
          <p:spPr bwMode="auto">
            <a:xfrm flipH="1">
              <a:off x="2971800" y="3657600"/>
              <a:ext cx="304800" cy="36309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>
              <a:off x="1780091" y="3657600"/>
              <a:ext cx="239209" cy="36309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auto">
            <a:xfrm flipH="1">
              <a:off x="1143000" y="3657600"/>
              <a:ext cx="304800" cy="363099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2590800" y="2532502"/>
              <a:ext cx="533400" cy="515498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 flipH="1">
              <a:off x="1752600" y="2514600"/>
              <a:ext cx="533400" cy="53340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2438400" y="1524000"/>
              <a:ext cx="0" cy="381000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CA"/>
            </a:p>
          </p:txBody>
        </p:sp>
      </p:grp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19611" r="45267" b="33199"/>
          <a:stretch/>
        </p:blipFill>
        <p:spPr>
          <a:xfrm>
            <a:off x="3200400" y="5791201"/>
            <a:ext cx="609600" cy="513203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19611" r="45267" b="33199"/>
          <a:stretch/>
        </p:blipFill>
        <p:spPr>
          <a:xfrm>
            <a:off x="4343400" y="2275900"/>
            <a:ext cx="609600" cy="9245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3962400" y="4953000"/>
            <a:ext cx="609600" cy="5334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Line 5"/>
          <p:cNvSpPr>
            <a:spLocks noChangeShapeType="1"/>
          </p:cNvSpPr>
          <p:nvPr/>
        </p:nvSpPr>
        <p:spPr bwMode="auto">
          <a:xfrm>
            <a:off x="4495800" y="5522204"/>
            <a:ext cx="304800" cy="345197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 flipH="1">
            <a:off x="3733800" y="5504302"/>
            <a:ext cx="304800" cy="363099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A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/>
              <p:cNvSpPr/>
              <p:nvPr/>
            </p:nvSpPr>
            <p:spPr>
              <a:xfrm>
                <a:off x="3075492" y="6201906"/>
                <a:ext cx="886909" cy="423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𝑖𝑛𝑝𝑢𝑡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492" y="6201906"/>
                <a:ext cx="886909" cy="423770"/>
              </a:xfrm>
              <a:prstGeom prst="rect">
                <a:avLst/>
              </a:prstGeom>
              <a:blipFill>
                <a:blip r:embed="rId5"/>
                <a:stretch>
                  <a:fillRect t="-17647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/>
              <p:cNvSpPr/>
              <p:nvPr/>
            </p:nvSpPr>
            <p:spPr>
              <a:xfrm>
                <a:off x="3810001" y="2057400"/>
                <a:ext cx="1013547" cy="4237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𝑜𝑢𝑡𝑝𝑢𝑡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1" y="2057400"/>
                <a:ext cx="1013547" cy="423770"/>
              </a:xfrm>
              <a:prstGeom prst="rect">
                <a:avLst/>
              </a:prstGeom>
              <a:blipFill>
                <a:blip r:embed="rId6"/>
                <a:stretch>
                  <a:fillRect t="-1764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2438400" y="1248906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Noise grows during homomorphic </a:t>
            </a:r>
            <a:r>
              <a:rPr lang="en-US" sz="28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eval</a:t>
            </a:r>
            <a:endParaRPr lang="en-US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981200" y="2339628"/>
            <a:ext cx="0" cy="4137373"/>
          </a:xfrm>
          <a:prstGeom prst="straightConnector1">
            <a:avLst/>
          </a:prstGeom>
          <a:ln w="57150"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1463298" y="1905000"/>
                <a:ext cx="11917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Depth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𝑑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298" y="1905000"/>
                <a:ext cx="1191710" cy="400110"/>
              </a:xfrm>
              <a:prstGeom prst="rect">
                <a:avLst/>
              </a:prstGeom>
              <a:blipFill>
                <a:blip r:embed="rId7"/>
                <a:stretch>
                  <a:fillRect l="-5263"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2476500" y="1981200"/>
            <a:ext cx="3238500" cy="47244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6324600" y="5029201"/>
                <a:ext cx="3048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400" i="1" dirty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/>
                        </a:rPr>
                        <m:t>≤(</m:t>
                      </m:r>
                      <m:r>
                        <a:rPr lang="en-US" sz="2400" i="1">
                          <a:latin typeface="Cambria Math"/>
                        </a:rPr>
                        <m:t>𝑁</m:t>
                      </m:r>
                      <m:r>
                        <a:rPr lang="en-US" sz="2400" i="1">
                          <a:latin typeface="Cambria Math"/>
                        </a:rPr>
                        <m:t>+1)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5029201"/>
                <a:ext cx="3048000" cy="461665"/>
              </a:xfrm>
              <a:prstGeom prst="rect">
                <a:avLst/>
              </a:prstGeom>
              <a:blipFill>
                <a:blip r:embed="rId8"/>
                <a:stretch>
                  <a:fillRect t="-24324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Left Arrow 48"/>
          <p:cNvSpPr/>
          <p:nvPr/>
        </p:nvSpPr>
        <p:spPr>
          <a:xfrm>
            <a:off x="5410201" y="5107698"/>
            <a:ext cx="780685" cy="302503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 rot="5400000">
            <a:off x="5842969" y="3480769"/>
            <a:ext cx="709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ounded Rectangular Callout 51"/>
              <p:cNvSpPr/>
              <p:nvPr/>
            </p:nvSpPr>
            <p:spPr>
              <a:xfrm>
                <a:off x="6248400" y="2743199"/>
                <a:ext cx="4343400" cy="1789552"/>
              </a:xfrm>
              <a:prstGeom prst="wedgeRoundRectCallout">
                <a:avLst>
                  <a:gd name="adj1" fmla="val 35717"/>
                  <a:gd name="adj2" fmla="val -65497"/>
                  <a:gd name="adj3" fmla="val 16667"/>
                </a:avLst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Cambria Math"/>
                    <a:ea typeface="Cambria Math"/>
                  </a:rPr>
                  <a:t>⇒ </a:t>
                </a:r>
                <a:r>
                  <a:rPr lang="en-US" sz="2000" dirty="0" err="1"/>
                  <a:t>Decryptable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𝑁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algn="ctr"/>
                <a:endParaRPr lang="en-US" sz="800" dirty="0"/>
              </a:p>
              <a:p>
                <a:pPr algn="ctr"/>
                <a:r>
                  <a:rPr lang="en-US" sz="2000" dirty="0"/>
                  <a:t>(for security: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/>
                      </a:rPr>
                      <m:t>≪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  <a:br>
                  <a:rPr lang="en-US" sz="2000" dirty="0"/>
                </a:br>
                <a:endParaRPr lang="en-US" sz="2000" dirty="0"/>
              </a:p>
              <a:p>
                <a:pPr algn="ctr"/>
                <a:r>
                  <a:rPr lang="en-US" sz="2000" b="1" dirty="0">
                    <a:solidFill>
                      <a:srgbClr val="0000FF"/>
                    </a:solidFill>
                  </a:rPr>
                  <a:t>So this can support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0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𝟗𝟗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52" name="Rounded Rectangular Callout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2743199"/>
                <a:ext cx="4343400" cy="1789552"/>
              </a:xfrm>
              <a:prstGeom prst="wedgeRoundRectCallout">
                <a:avLst>
                  <a:gd name="adj1" fmla="val 35717"/>
                  <a:gd name="adj2" fmla="val -65497"/>
                  <a:gd name="adj3" fmla="val 16667"/>
                </a:avLst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F176FA-EA36-FB4E-AC6C-1B542FA8A3F3}"/>
                  </a:ext>
                </a:extLst>
              </p:cNvPr>
              <p:cNvSpPr txBox="1"/>
              <p:nvPr/>
            </p:nvSpPr>
            <p:spPr>
              <a:xfrm>
                <a:off x="8420100" y="4554"/>
                <a:ext cx="2590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𝐿𝑒𝑡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𝑁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  <a:ea typeface="Cambria Math"/>
                        </a:rPr>
                        <m:t>log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/>
                        </a:rPr>
                        <m:t>𝑞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F176FA-EA36-FB4E-AC6C-1B542FA8A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100" y="4554"/>
                <a:ext cx="2590800" cy="400110"/>
              </a:xfrm>
              <a:prstGeom prst="rect">
                <a:avLst/>
              </a:prstGeom>
              <a:blipFill>
                <a:blip r:embed="rId10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05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26" grpId="0" animBg="1"/>
      <p:bldP spid="28" grpId="0" animBg="1"/>
      <p:bldP spid="29" grpId="0" animBg="1"/>
      <p:bldP spid="37" grpId="0"/>
      <p:bldP spid="38" grpId="0"/>
      <p:bldP spid="39" grpId="0"/>
      <p:bldP spid="44" grpId="0"/>
      <p:bldP spid="45" grpId="0" animBg="1"/>
      <p:bldP spid="47" grpId="0"/>
      <p:bldP spid="49" grpId="0" animBg="1"/>
      <p:bldP spid="51" grpId="0"/>
      <p:bldP spid="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2415480" y="1700808"/>
            <a:ext cx="7620000" cy="1697036"/>
          </a:xfrm>
          <a:prstGeom prst="rect">
            <a:avLst/>
          </a:prstGeom>
          <a:solidFill>
            <a:schemeClr val="accent3">
              <a:lumMod val="95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677" name="Rectangle 2"/>
          <p:cNvSpPr txBox="1">
            <a:spLocks noChangeArrowheads="1"/>
          </p:cNvSpPr>
          <p:nvPr/>
        </p:nvSpPr>
        <p:spPr bwMode="auto">
          <a:xfrm>
            <a:off x="1905000" y="304800"/>
            <a:ext cx="8610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Big Picture:  Two Steps to FHE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8400" y="3948445"/>
            <a:ext cx="7620000" cy="2041687"/>
          </a:xfrm>
          <a:prstGeom prst="rect">
            <a:avLst/>
          </a:prstGeom>
          <a:solidFill>
            <a:schemeClr val="accent3">
              <a:lumMod val="75000"/>
            </a:schemeClr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684" name="Text Box 9"/>
          <p:cNvSpPr txBox="1">
            <a:spLocks noChangeArrowheads="1"/>
          </p:cNvSpPr>
          <p:nvPr/>
        </p:nvSpPr>
        <p:spPr bwMode="auto">
          <a:xfrm>
            <a:off x="2667000" y="4020181"/>
            <a:ext cx="685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</a:rPr>
              <a:t>Bootstrapping </a:t>
            </a:r>
            <a:r>
              <a:rPr lang="en-US" altLang="en-US" sz="2400" b="1" dirty="0" err="1">
                <a:solidFill>
                  <a:srgbClr val="000000"/>
                </a:solidFill>
                <a:latin typeface="Gill Sans MT" panose="020B0502020104020203" pitchFamily="34" charset="0"/>
              </a:rPr>
              <a:t>Theore</a:t>
            </a: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</a:rPr>
              <a:t>m:</a:t>
            </a:r>
            <a:endParaRPr lang="en-US" altLang="en-US" sz="2400" b="1" i="1" dirty="0">
              <a:solidFill>
                <a:srgbClr val="0000FF"/>
              </a:solidFill>
              <a:latin typeface="Gill Sans MT" panose="020B0502020104020203" pitchFamily="34" charset="0"/>
            </a:endParaRPr>
          </a:p>
        </p:txBody>
      </p:sp>
      <p:sp>
        <p:nvSpPr>
          <p:cNvPr id="28686" name="Text Box 3"/>
          <p:cNvSpPr txBox="1">
            <a:spLocks noChangeArrowheads="1"/>
          </p:cNvSpPr>
          <p:nvPr/>
        </p:nvSpPr>
        <p:spPr bwMode="auto">
          <a:xfrm>
            <a:off x="2667000" y="4481845"/>
            <a:ext cx="736848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</a:rPr>
              <a:t>From “circular secure” Leveled FHE to Pure </a:t>
            </a: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  <a:sym typeface="cmex10"/>
              </a:rPr>
              <a:t>FHE (at the cost of an additional assumption)</a:t>
            </a:r>
          </a:p>
        </p:txBody>
      </p:sp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2491680" y="1792882"/>
            <a:ext cx="792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</a:rPr>
              <a:t>  Leveled Secret-key Homomorphic Encryption:</a:t>
            </a:r>
            <a:endParaRPr lang="en-US" altLang="en-US" sz="2000" dirty="0">
              <a:solidFill>
                <a:srgbClr val="0000FF"/>
              </a:solidFill>
              <a:latin typeface="Gill Sans MT" panose="020B0502020104020203" pitchFamily="34" charset="0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2644080" y="2158009"/>
            <a:ext cx="7162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  <a:latin typeface="Gill Sans MT" panose="020B0502020104020203" pitchFamily="34" charset="0"/>
              </a:rPr>
              <a:t>Evaluate circuits of a-priori bounded depth </a:t>
            </a:r>
            <a:r>
              <a:rPr lang="en-US" altLang="en-US" sz="2400" b="1" i="1" dirty="0">
                <a:solidFill>
                  <a:srgbClr val="000000"/>
                </a:solidFill>
                <a:latin typeface="Gill Sans MT" panose="020B0502020104020203" pitchFamily="34" charset="0"/>
              </a:rPr>
              <a:t>d </a:t>
            </a:r>
            <a:endParaRPr lang="en-US" altLang="en-US" sz="1600" b="1" i="1" dirty="0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2644080" y="2695874"/>
            <a:ext cx="7162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“you give me a depth bound d, I will give you a homomorphic scheme that handles depth-d circuits…”</a:t>
            </a:r>
            <a:endParaRPr lang="en-US" altLang="en-US" i="1" dirty="0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667000" y="5404776"/>
            <a:ext cx="7620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</a:rPr>
              <a:t>“I will give you homomorphic scheme that handles circuits of ANY size/depth”</a:t>
            </a:r>
            <a:endParaRPr lang="en-US" altLang="en-US" i="1" dirty="0">
              <a:solidFill>
                <a:srgbClr val="000000"/>
              </a:solidFill>
              <a:latin typeface="Gill Sans MT" panose="020B0502020104020203" pitchFamily="34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1678360" y="4294136"/>
            <a:ext cx="533400" cy="111064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094193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1">
            <a:extLst>
              <a:ext uri="{FF2B5EF4-FFF2-40B4-BE49-F238E27FC236}">
                <a16:creationId xmlns:a16="http://schemas.microsoft.com/office/drawing/2014/main" id="{D0BCA042-7756-9C4E-952E-DD3DD09C5B5A}"/>
              </a:ext>
            </a:extLst>
          </p:cNvPr>
          <p:cNvSpPr txBox="1">
            <a:spLocks/>
          </p:cNvSpPr>
          <p:nvPr/>
        </p:nvSpPr>
        <p:spPr>
          <a:xfrm>
            <a:off x="1559496" y="332656"/>
            <a:ext cx="8712968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 b="1" dirty="0">
                <a:solidFill>
                  <a:srgbClr val="891637"/>
                </a:solidFill>
                <a:latin typeface="Calibri" panose="020F0502020204030204" pitchFamily="34" charset="0"/>
                <a:ea typeface="Cambria Math" pitchFamily="18" charset="0"/>
                <a:cs typeface="Arial Unicode MS" pitchFamily="34" charset="-128"/>
              </a:rPr>
              <a:t>From Leveled to Fully Homomorphic</a:t>
            </a:r>
            <a:endParaRPr lang="en-US" sz="2400" i="1" dirty="0">
              <a:solidFill>
                <a:srgbClr val="891637"/>
              </a:solidFill>
              <a:latin typeface="Calibri" panose="020F0502020204030204" pitchFamily="34" charset="0"/>
              <a:ea typeface="Cambria Math" pitchFamily="18" charset="0"/>
              <a:cs typeface="Arial Unicode MS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Arial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10" name="Rectangle 63">
                <a:extLst>
                  <a:ext uri="{FF2B5EF4-FFF2-40B4-BE49-F238E27FC236}">
                    <a16:creationId xmlns:a16="http://schemas.microsoft.com/office/drawing/2014/main" id="{0E183EED-5C63-BC43-B6D6-72F0CAD2A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3" descr="stick">
            <a:extLst>
              <a:ext uri="{FF2B5EF4-FFF2-40B4-BE49-F238E27FC236}">
                <a16:creationId xmlns:a16="http://schemas.microsoft.com/office/drawing/2014/main" id="{9BA7044D-2145-9640-9715-C6D7B2B0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3" descr="Cloud 06">
            <a:extLst>
              <a:ext uri="{FF2B5EF4-FFF2-40B4-BE49-F238E27FC236}">
                <a16:creationId xmlns:a16="http://schemas.microsoft.com/office/drawing/2014/main" id="{2FEF7118-D4DE-C141-8A4E-862BBE9C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4" descr="TAC TowerDrive">
            <a:extLst>
              <a:ext uri="{FF2B5EF4-FFF2-40B4-BE49-F238E27FC236}">
                <a16:creationId xmlns:a16="http://schemas.microsoft.com/office/drawing/2014/main" id="{91D77048-DE17-7F47-9CEA-B908DFF9D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5" descr="TAC TowerDrive">
            <a:extLst>
              <a:ext uri="{FF2B5EF4-FFF2-40B4-BE49-F238E27FC236}">
                <a16:creationId xmlns:a16="http://schemas.microsoft.com/office/drawing/2014/main" id="{6B202469-48DF-5649-9570-F0539FF88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6" descr="TAC TowerDrive">
            <a:extLst>
              <a:ext uri="{FF2B5EF4-FFF2-40B4-BE49-F238E27FC236}">
                <a16:creationId xmlns:a16="http://schemas.microsoft.com/office/drawing/2014/main" id="{131D391A-D616-CC45-B928-ECE08E10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31" descr="TAC TowerDrive">
            <a:extLst>
              <a:ext uri="{FF2B5EF4-FFF2-40B4-BE49-F238E27FC236}">
                <a16:creationId xmlns:a16="http://schemas.microsoft.com/office/drawing/2014/main" id="{525D024A-F747-4D44-8210-EE759A53C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39" descr="TAC TowerDrive">
            <a:extLst>
              <a:ext uri="{FF2B5EF4-FFF2-40B4-BE49-F238E27FC236}">
                <a16:creationId xmlns:a16="http://schemas.microsoft.com/office/drawing/2014/main" id="{C6069C13-D03F-5D47-8B73-1736FEDBF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41">
            <a:extLst>
              <a:ext uri="{FF2B5EF4-FFF2-40B4-BE49-F238E27FC236}">
                <a16:creationId xmlns:a16="http://schemas.microsoft.com/office/drawing/2014/main" id="{08B5E478-02D3-D04E-9151-D33051878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32" name="Rectangle 42">
            <a:extLst>
              <a:ext uri="{FF2B5EF4-FFF2-40B4-BE49-F238E27FC236}">
                <a16:creationId xmlns:a16="http://schemas.microsoft.com/office/drawing/2014/main" id="{38DF6451-7F7E-5144-9A33-77222C7D5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Server (the Cloud)</a:t>
            </a:r>
          </a:p>
        </p:txBody>
      </p:sp>
      <p:sp>
        <p:nvSpPr>
          <p:cNvPr id="33" name="Rectangle 58">
            <a:extLst>
              <a:ext uri="{FF2B5EF4-FFF2-40B4-BE49-F238E27FC236}">
                <a16:creationId xmlns:a16="http://schemas.microsoft.com/office/drawing/2014/main" id="{1255DCE8-BFFF-8F41-A239-0CB813E6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9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>
                <a:solidFill>
                  <a:srgbClr val="000000"/>
                </a:solidFill>
              </a:rPr>
              <a:t>Input: </a:t>
            </a:r>
            <a:r>
              <a:rPr lang="en-US" altLang="en-US" sz="24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34" name="Rectangle 59">
            <a:extLst>
              <a:ext uri="{FF2B5EF4-FFF2-40B4-BE49-F238E27FC236}">
                <a16:creationId xmlns:a16="http://schemas.microsoft.com/office/drawing/2014/main" id="{66FD0D27-1C94-6941-8CDA-1359E1548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35" name="Line 69">
            <a:extLst>
              <a:ext uri="{FF2B5EF4-FFF2-40B4-BE49-F238E27FC236}">
                <a16:creationId xmlns:a16="http://schemas.microsoft.com/office/drawing/2014/main" id="{7CFF6877-3BF2-3444-B3A5-975DBA6DB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D7B839E2-32FF-D14B-BCDA-B0EE670EC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46" name="Rectangle 63">
            <a:extLst>
              <a:ext uri="{FF2B5EF4-FFF2-40B4-BE49-F238E27FC236}">
                <a16:creationId xmlns:a16="http://schemas.microsoft.com/office/drawing/2014/main" id="{98D7DA12-E28C-D146-B43D-AE4BDDA8D9B8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221088"/>
            <a:ext cx="8316416" cy="17415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The cloud keeps homomorphically computing, but after a certain depth, the ciphertext is too noisy to be useful. What to do?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  <p:sp>
        <p:nvSpPr>
          <p:cNvPr id="21" name="Rectangle 63">
            <a:extLst>
              <a:ext uri="{FF2B5EF4-FFF2-40B4-BE49-F238E27FC236}">
                <a16:creationId xmlns:a16="http://schemas.microsoft.com/office/drawing/2014/main" id="{8B6AD1E1-7D67-9846-9928-0991267E7766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5379876"/>
            <a:ext cx="9433048" cy="174151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dirty="0">
                <a:solidFill>
                  <a:srgbClr val="0000FF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Idea: “Bootstrapping”!</a:t>
            </a:r>
            <a:endParaRPr lang="en-US" sz="2400" b="1" dirty="0">
              <a:solidFill>
                <a:srgbClr val="0000FF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61CB1E85-7B4C-9346-8D0F-F74D5EC33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Bootstrapping: How</a:t>
            </a:r>
          </a:p>
        </p:txBody>
      </p:sp>
      <p:pic>
        <p:nvPicPr>
          <p:cNvPr id="45059" name="Picture 31" descr="guy-bootstrapping-400x300">
            <a:extLst>
              <a:ext uri="{FF2B5EF4-FFF2-40B4-BE49-F238E27FC236}">
                <a16:creationId xmlns:a16="http://schemas.microsoft.com/office/drawing/2014/main" id="{CAA9FA56-507E-2B40-857C-6225B75F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9">
            <a:extLst>
              <a:ext uri="{FF2B5EF4-FFF2-40B4-BE49-F238E27FC236}">
                <a16:creationId xmlns:a16="http://schemas.microsoft.com/office/drawing/2014/main" id="{1514BAB2-D9B4-AB4E-A982-9425D3C88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676401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“Best Possible” Noise Reduction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39" name="Text Box 9">
            <a:extLst>
              <a:ext uri="{FF2B5EF4-FFF2-40B4-BE49-F238E27FC236}">
                <a16:creationId xmlns:a16="http://schemas.microsoft.com/office/drawing/2014/main" id="{A363E118-4832-C248-991C-35EF7BA3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676401"/>
            <a:ext cx="3200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= Decryption!</a:t>
            </a:r>
            <a:endParaRPr lang="en-US" altLang="en-US" sz="2800">
              <a:solidFill>
                <a:srgbClr val="00000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90A9826-0748-9447-897C-DC77D31B3305}"/>
              </a:ext>
            </a:extLst>
          </p:cNvPr>
          <p:cNvGrpSpPr>
            <a:grpSpLocks/>
          </p:cNvGrpSpPr>
          <p:nvPr/>
        </p:nvGrpSpPr>
        <p:grpSpPr bwMode="auto">
          <a:xfrm>
            <a:off x="3355975" y="2676525"/>
            <a:ext cx="5334000" cy="3460750"/>
            <a:chOff x="990600" y="4267200"/>
            <a:chExt cx="2971800" cy="2073777"/>
          </a:xfrm>
        </p:grpSpPr>
        <p:sp>
          <p:nvSpPr>
            <p:cNvPr id="45068" name="AutoShape 12">
              <a:extLst>
                <a:ext uri="{FF2B5EF4-FFF2-40B4-BE49-F238E27FC236}">
                  <a16:creationId xmlns:a16="http://schemas.microsoft.com/office/drawing/2014/main" id="{2CED54E2-639E-C049-B71A-7C55917D4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4572000"/>
              <a:ext cx="1295400" cy="838200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069" name="TextBox 22">
                  <a:extLst>
                    <a:ext uri="{FF2B5EF4-FFF2-40B4-BE49-F238E27FC236}">
                      <a16:creationId xmlns:a16="http://schemas.microsoft.com/office/drawing/2014/main" id="{80364791-3574-0941-907B-6E20AD27E6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81200" y="5045551"/>
                  <a:ext cx="1045107" cy="2766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𝐷𝑒𝑐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(∙,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𝐶𝑇</m:t>
                        </m:r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en-US" sz="2400" i="1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5069" name="TextBox 22">
                  <a:extLst>
                    <a:ext uri="{FF2B5EF4-FFF2-40B4-BE49-F238E27FC236}">
                      <a16:creationId xmlns:a16="http://schemas.microsoft.com/office/drawing/2014/main" id="{80364791-3574-0941-907B-6E20AD27E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81200" y="5045551"/>
                  <a:ext cx="1045107" cy="276642"/>
                </a:xfrm>
                <a:prstGeom prst="rect">
                  <a:avLst/>
                </a:prstGeom>
                <a:blipFill>
                  <a:blip r:embed="rId4"/>
                  <a:stretch>
                    <a:fillRect b="-1621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070" name="Line 27">
              <a:extLst>
                <a:ext uri="{FF2B5EF4-FFF2-40B4-BE49-F238E27FC236}">
                  <a16:creationId xmlns:a16="http://schemas.microsoft.com/office/drawing/2014/main" id="{C539BEF5-2894-CF4A-87E9-3DAD87B47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12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1" name="Line 28">
              <a:extLst>
                <a:ext uri="{FF2B5EF4-FFF2-40B4-BE49-F238E27FC236}">
                  <a16:creationId xmlns:a16="http://schemas.microsoft.com/office/drawing/2014/main" id="{C4A9A4C0-D3F7-0A4B-A471-510A2F794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36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2" name="Line 29">
              <a:extLst>
                <a:ext uri="{FF2B5EF4-FFF2-40B4-BE49-F238E27FC236}">
                  <a16:creationId xmlns:a16="http://schemas.microsoft.com/office/drawing/2014/main" id="{BE2F97B0-E181-0241-A692-320C1B7E7C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3" name="Line 30">
              <a:extLst>
                <a:ext uri="{FF2B5EF4-FFF2-40B4-BE49-F238E27FC236}">
                  <a16:creationId xmlns:a16="http://schemas.microsoft.com/office/drawing/2014/main" id="{CB5B2FD1-BBE7-1E48-A842-09A5D9E16E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4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4" name="Line 31">
              <a:extLst>
                <a:ext uri="{FF2B5EF4-FFF2-40B4-BE49-F238E27FC236}">
                  <a16:creationId xmlns:a16="http://schemas.microsoft.com/office/drawing/2014/main" id="{9E6425FC-6E8C-2C44-9D80-38B0411C7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32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5" name="Line 32">
              <a:extLst>
                <a:ext uri="{FF2B5EF4-FFF2-40B4-BE49-F238E27FC236}">
                  <a16:creationId xmlns:a16="http://schemas.microsoft.com/office/drawing/2014/main" id="{4A640CA9-A1B6-1C4F-9B73-6E8F5FD04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56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6" name="Line 33">
              <a:extLst>
                <a:ext uri="{FF2B5EF4-FFF2-40B4-BE49-F238E27FC236}">
                  <a16:creationId xmlns:a16="http://schemas.microsoft.com/office/drawing/2014/main" id="{85FF9700-F1FB-0C45-B1DE-57635D612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000" y="54102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78" name="TextBox 22">
              <a:extLst>
                <a:ext uri="{FF2B5EF4-FFF2-40B4-BE49-F238E27FC236}">
                  <a16:creationId xmlns:a16="http://schemas.microsoft.com/office/drawing/2014/main" id="{BC18DF40-E2B9-B94F-8200-ACBCF4084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3006" y="5635124"/>
              <a:ext cx="762000" cy="276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 b="1" dirty="0">
                  <a:solidFill>
                    <a:srgbClr val="000000"/>
                  </a:solidFill>
                </a:rPr>
                <a:t>SK</a:t>
              </a:r>
            </a:p>
          </p:txBody>
        </p:sp>
        <p:sp>
          <p:nvSpPr>
            <p:cNvPr id="45079" name="TextBox 22">
              <a:extLst>
                <a:ext uri="{FF2B5EF4-FFF2-40B4-BE49-F238E27FC236}">
                  <a16:creationId xmlns:a16="http://schemas.microsoft.com/office/drawing/2014/main" id="{02F971E0-A475-754E-A9EC-9F4D6E61D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4267200"/>
              <a:ext cx="762000" cy="276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 b="1">
                  <a:solidFill>
                    <a:srgbClr val="000000"/>
                  </a:solidFill>
                </a:rPr>
                <a:t>m</a:t>
              </a:r>
            </a:p>
          </p:txBody>
        </p:sp>
        <p:sp>
          <p:nvSpPr>
            <p:cNvPr id="45080" name="Line 30">
              <a:extLst>
                <a:ext uri="{FF2B5EF4-FFF2-40B4-BE49-F238E27FC236}">
                  <a16:creationId xmlns:a16="http://schemas.microsoft.com/office/drawing/2014/main" id="{A843DBB7-3BF7-1640-94C1-5A49217187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4600" y="4419600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5081" name="Text Box 16">
              <a:extLst>
                <a:ext uri="{FF2B5EF4-FFF2-40B4-BE49-F238E27FC236}">
                  <a16:creationId xmlns:a16="http://schemas.microsoft.com/office/drawing/2014/main" id="{60D5622C-0BB8-114B-A74D-98C37928E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6064250"/>
              <a:ext cx="2971800" cy="276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en-US" sz="2400" b="1">
                  <a:solidFill>
                    <a:srgbClr val="FF0000"/>
                  </a:solidFill>
                </a:rPr>
                <a:t>Decryption Circuit</a:t>
              </a:r>
            </a:p>
          </p:txBody>
        </p:sp>
      </p:grpSp>
      <p:sp>
        <p:nvSpPr>
          <p:cNvPr id="55" name="Text Box 16">
            <a:extLst>
              <a:ext uri="{FF2B5EF4-FFF2-40B4-BE49-F238E27FC236}">
                <a16:creationId xmlns:a16="http://schemas.microsoft.com/office/drawing/2014/main" id="{7C659F4B-3586-D04F-A464-B62C2AB90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225" y="4058665"/>
            <a:ext cx="3124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000" b="1" dirty="0">
                <a:solidFill>
                  <a:srgbClr val="008000"/>
                </a:solidFill>
              </a:rPr>
              <a:t>“Very Noisy” ciphertext</a:t>
            </a:r>
          </a:p>
        </p:txBody>
      </p:sp>
      <p:sp>
        <p:nvSpPr>
          <p:cNvPr id="56" name="Line 10">
            <a:extLst>
              <a:ext uri="{FF2B5EF4-FFF2-40B4-BE49-F238E27FC236}">
                <a16:creationId xmlns:a16="http://schemas.microsoft.com/office/drawing/2014/main" id="{63173BA8-849D-9A4A-82BE-986E8FE996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51136" y="4249313"/>
            <a:ext cx="678532" cy="720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7" name="Text Box 16">
            <a:extLst>
              <a:ext uri="{FF2B5EF4-FFF2-40B4-BE49-F238E27FC236}">
                <a16:creationId xmlns:a16="http://schemas.microsoft.com/office/drawing/2014/main" id="{F1AE908A-0978-F345-B011-1CFE9BC42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724150"/>
            <a:ext cx="3352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000" b="1">
                <a:solidFill>
                  <a:srgbClr val="008000"/>
                </a:solidFill>
              </a:rPr>
              <a:t>“Noiseless ciphertext”</a:t>
            </a:r>
          </a:p>
        </p:txBody>
      </p:sp>
      <p:sp>
        <p:nvSpPr>
          <p:cNvPr id="58" name="Line 10">
            <a:extLst>
              <a:ext uri="{FF2B5EF4-FFF2-40B4-BE49-F238E27FC236}">
                <a16:creationId xmlns:a16="http://schemas.microsoft.com/office/drawing/2014/main" id="{FDE9678D-56CD-A54B-9FBB-57EBD801F5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51625" y="29083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" name="Explosion 1 1">
            <a:extLst>
              <a:ext uri="{FF2B5EF4-FFF2-40B4-BE49-F238E27FC236}">
                <a16:creationId xmlns:a16="http://schemas.microsoft.com/office/drawing/2014/main" id="{1435C662-A93B-4449-8067-36598718C979}"/>
              </a:ext>
            </a:extLst>
          </p:cNvPr>
          <p:cNvSpPr/>
          <p:nvPr/>
        </p:nvSpPr>
        <p:spPr>
          <a:xfrm>
            <a:off x="2363788" y="-577850"/>
            <a:ext cx="7924800" cy="4506913"/>
          </a:xfrm>
          <a:prstGeom prst="irregularSeal1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srgbClr val="000000"/>
                </a:solidFill>
                <a:latin typeface="Arial"/>
                <a:cs typeface="Arial"/>
              </a:rPr>
              <a:t>But the evaluator/cloud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000000"/>
                </a:solidFill>
                <a:latin typeface="Arial"/>
                <a:cs typeface="Arial"/>
              </a:rPr>
              <a:t>does not have SK! </a:t>
            </a:r>
            <a:endParaRPr lang="en-CA" sz="32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67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5" grpId="0"/>
      <p:bldP spid="57" grpId="0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3FDC67DF-0849-9545-859E-0A9C77B8B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Bootstrapping, Concretely</a:t>
            </a:r>
          </a:p>
        </p:txBody>
      </p:sp>
      <p:pic>
        <p:nvPicPr>
          <p:cNvPr id="46083" name="Picture 31" descr="guy-bootstrapping-400x300">
            <a:extLst>
              <a:ext uri="{FF2B5EF4-FFF2-40B4-BE49-F238E27FC236}">
                <a16:creationId xmlns:a16="http://schemas.microsoft.com/office/drawing/2014/main" id="{A47291F4-99C6-A04B-BDAC-B08536D2D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 Box 9">
            <a:extLst>
              <a:ext uri="{FF2B5EF4-FFF2-40B4-BE49-F238E27FC236}">
                <a16:creationId xmlns:a16="http://schemas.microsoft.com/office/drawing/2014/main" id="{C7EAB0C7-857E-3A4E-97A0-A9215C6DA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457326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Next Best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46085" name="Text Box 9">
            <a:extLst>
              <a:ext uri="{FF2B5EF4-FFF2-40B4-BE49-F238E27FC236}">
                <a16:creationId xmlns:a16="http://schemas.microsoft.com/office/drawing/2014/main" id="{56A16772-2007-0347-ADDF-95D76E9C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457326"/>
            <a:ext cx="548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= Homomorphic Decryption!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748F7FEC-6F75-E243-89DD-86D722896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3779839"/>
            <a:ext cx="16811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 err="1">
                <a:solidFill>
                  <a:srgbClr val="0000FF"/>
                </a:solidFill>
              </a:rPr>
              <a:t>Enc</a:t>
            </a:r>
            <a:r>
              <a:rPr lang="en-US" altLang="en-US" sz="24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400" b="1" dirty="0">
                <a:solidFill>
                  <a:srgbClr val="0000FF"/>
                </a:solidFill>
              </a:rPr>
              <a:t>(m)</a:t>
            </a:r>
          </a:p>
        </p:txBody>
      </p:sp>
      <p:sp>
        <p:nvSpPr>
          <p:cNvPr id="46109" name="TextBox 22">
            <a:extLst>
              <a:ext uri="{FF2B5EF4-FFF2-40B4-BE49-F238E27FC236}">
                <a16:creationId xmlns:a16="http://schemas.microsoft.com/office/drawing/2014/main" id="{5B1BADC3-FD99-9E48-93E4-E8FA82594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75" y="6007378"/>
            <a:ext cx="1905062" cy="461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 err="1">
                <a:solidFill>
                  <a:srgbClr val="0000FF"/>
                </a:solidFill>
              </a:rPr>
              <a:t>Enc</a:t>
            </a:r>
            <a:r>
              <a:rPr lang="en-US" altLang="en-US" sz="24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400" b="1" dirty="0">
                <a:solidFill>
                  <a:srgbClr val="0000FF"/>
                </a:solidFill>
              </a:rPr>
              <a:t>(SK)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0159F5-E7A8-474C-A6FC-F5C6C3F7E499}"/>
              </a:ext>
            </a:extLst>
          </p:cNvPr>
          <p:cNvGrpSpPr/>
          <p:nvPr/>
        </p:nvGrpSpPr>
        <p:grpSpPr>
          <a:xfrm>
            <a:off x="4400551" y="4033838"/>
            <a:ext cx="2325153" cy="1906468"/>
            <a:chOff x="2876550" y="4033838"/>
            <a:chExt cx="2325153" cy="1906468"/>
          </a:xfrm>
        </p:grpSpPr>
        <p:sp>
          <p:nvSpPr>
            <p:cNvPr id="46099" name="AutoShape 12">
              <a:extLst>
                <a:ext uri="{FF2B5EF4-FFF2-40B4-BE49-F238E27FC236}">
                  <a16:creationId xmlns:a16="http://schemas.microsoft.com/office/drawing/2014/main" id="{315D1B4E-69B1-D54C-8427-1D529F94E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550" y="4288034"/>
              <a:ext cx="2325153" cy="1398076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6101" name="Line 27">
              <a:extLst>
                <a:ext uri="{FF2B5EF4-FFF2-40B4-BE49-F238E27FC236}">
                  <a16:creationId xmlns:a16="http://schemas.microsoft.com/office/drawing/2014/main" id="{26355A64-3A40-BE4D-B3F3-5169F77CB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0097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2" name="Line 28">
              <a:extLst>
                <a:ext uri="{FF2B5EF4-FFF2-40B4-BE49-F238E27FC236}">
                  <a16:creationId xmlns:a16="http://schemas.microsoft.com/office/drawing/2014/main" id="{FD6B3AF1-CDFC-F84A-AD3E-E416609BC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3645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3" name="Line 29">
              <a:extLst>
                <a:ext uri="{FF2B5EF4-FFF2-40B4-BE49-F238E27FC236}">
                  <a16:creationId xmlns:a16="http://schemas.microsoft.com/office/drawing/2014/main" id="{BC05857C-E8B1-694F-8A7E-45E6C4562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7192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4" name="Line 30">
              <a:extLst>
                <a:ext uri="{FF2B5EF4-FFF2-40B4-BE49-F238E27FC236}">
                  <a16:creationId xmlns:a16="http://schemas.microsoft.com/office/drawing/2014/main" id="{73B26C82-D560-8441-8966-049D2F59C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0740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5" name="Line 31">
              <a:extLst>
                <a:ext uri="{FF2B5EF4-FFF2-40B4-BE49-F238E27FC236}">
                  <a16:creationId xmlns:a16="http://schemas.microsoft.com/office/drawing/2014/main" id="{2FE3E74E-F97D-C84A-85D4-7E0423BCC5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835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6" name="Line 32">
              <a:extLst>
                <a:ext uri="{FF2B5EF4-FFF2-40B4-BE49-F238E27FC236}">
                  <a16:creationId xmlns:a16="http://schemas.microsoft.com/office/drawing/2014/main" id="{144D184F-4711-F549-984A-28B7A3D16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1382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7" name="Line 33">
              <a:extLst>
                <a:ext uri="{FF2B5EF4-FFF2-40B4-BE49-F238E27FC236}">
                  <a16:creationId xmlns:a16="http://schemas.microsoft.com/office/drawing/2014/main" id="{294D611C-006B-5440-80A5-656E8813DE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4930" y="5686111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10" name="Line 30">
              <a:extLst>
                <a:ext uri="{FF2B5EF4-FFF2-40B4-BE49-F238E27FC236}">
                  <a16:creationId xmlns:a16="http://schemas.microsoft.com/office/drawing/2014/main" id="{AE80C127-24DB-B94C-B57B-EFFB2EA9C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9127" y="4033838"/>
              <a:ext cx="0" cy="254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9E7423A-30E4-B544-B4D0-7C97F1B814A4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2133600"/>
            <a:ext cx="9677400" cy="1371600"/>
            <a:chOff x="533400" y="2133600"/>
            <a:chExt cx="9677400" cy="13716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2E0FFA8-198A-174B-8FB3-F968A1D30111}"/>
                </a:ext>
              </a:extLst>
            </p:cNvPr>
            <p:cNvSpPr/>
            <p:nvPr/>
          </p:nvSpPr>
          <p:spPr>
            <a:xfrm>
              <a:off x="533400" y="2133600"/>
              <a:ext cx="8310562" cy="137160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46095" name="Text Box 9">
              <a:extLst>
                <a:ext uri="{FF2B5EF4-FFF2-40B4-BE49-F238E27FC236}">
                  <a16:creationId xmlns:a16="http://schemas.microsoft.com/office/drawing/2014/main" id="{87D23185-DA50-8F4F-8A86-8EA2ACE8A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987" y="2286000"/>
              <a:ext cx="7872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2400" dirty="0">
                  <a:solidFill>
                    <a:srgbClr val="000000"/>
                  </a:solidFill>
                </a:rPr>
                <a:t>Assume server knows  </a:t>
              </a:r>
              <a:r>
                <a:rPr lang="en-US" altLang="en-US" sz="2400" b="1" dirty="0" err="1">
                  <a:solidFill>
                    <a:srgbClr val="0000FF"/>
                  </a:solidFill>
                </a:rPr>
                <a:t>ek</a:t>
              </a:r>
              <a:r>
                <a:rPr lang="en-US" altLang="en-US" sz="2400" b="1" dirty="0">
                  <a:solidFill>
                    <a:srgbClr val="0000FF"/>
                  </a:solidFill>
                </a:rPr>
                <a:t> =</a:t>
              </a:r>
              <a:r>
                <a:rPr lang="en-US" altLang="en-US" sz="2400" dirty="0">
                  <a:solidFill>
                    <a:srgbClr val="000000"/>
                  </a:solidFill>
                </a:rPr>
                <a:t> </a:t>
              </a:r>
              <a:r>
                <a:rPr lang="en-US" altLang="en-US" sz="2400" b="1" dirty="0" err="1">
                  <a:solidFill>
                    <a:srgbClr val="0000FF"/>
                  </a:solidFill>
                </a:rPr>
                <a:t>Enc</a:t>
              </a:r>
              <a:r>
                <a:rPr lang="en-US" altLang="en-US" sz="2400" b="1" baseline="-25000" dirty="0" err="1">
                  <a:solidFill>
                    <a:srgbClr val="0000FF"/>
                  </a:solidFill>
                </a:rPr>
                <a:t>SK</a:t>
              </a:r>
              <a:r>
                <a:rPr lang="en-US" altLang="en-US" sz="2400" b="1" dirty="0">
                  <a:solidFill>
                    <a:srgbClr val="0000FF"/>
                  </a:solidFill>
                </a:rPr>
                <a:t>(SK)</a:t>
              </a:r>
              <a:r>
                <a:rPr lang="en-US" altLang="en-US" sz="2400" dirty="0">
                  <a:solidFill>
                    <a:srgbClr val="000000"/>
                  </a:solidFill>
                </a:rPr>
                <a:t>.</a:t>
              </a:r>
              <a:endParaRPr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46096" name="Text Box 9">
              <a:extLst>
                <a:ext uri="{FF2B5EF4-FFF2-40B4-BE49-F238E27FC236}">
                  <a16:creationId xmlns:a16="http://schemas.microsoft.com/office/drawing/2014/main" id="{B8DA5285-8840-BC45-B1E8-2DCF723B3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2814935"/>
              <a:ext cx="6858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(OK assuming the scheme is “</a:t>
              </a:r>
              <a:r>
                <a:rPr lang="en-US" altLang="en-US" sz="2400">
                  <a:solidFill>
                    <a:srgbClr val="0000FF"/>
                  </a:solidFill>
                </a:rPr>
                <a:t>circular secure</a:t>
              </a:r>
              <a:r>
                <a:rPr lang="en-US" altLang="en-US" sz="2400">
                  <a:solidFill>
                    <a:srgbClr val="000000"/>
                  </a:solidFill>
                </a:rPr>
                <a:t>”)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6097" name="Text Box 9">
              <a:extLst>
                <a:ext uri="{FF2B5EF4-FFF2-40B4-BE49-F238E27FC236}">
                  <a16:creationId xmlns:a16="http://schemas.microsoft.com/office/drawing/2014/main" id="{F40D02A6-8135-B84B-8CC1-CEC1166C6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2133600"/>
              <a:ext cx="762000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4400">
                  <a:solidFill>
                    <a:srgbClr val="000000"/>
                  </a:solidFill>
                </a:rPr>
                <a:t>*</a:t>
              </a:r>
            </a:p>
          </p:txBody>
        </p:sp>
        <p:pic>
          <p:nvPicPr>
            <p:cNvPr id="46098" name="Picture 84">
              <a:extLst>
                <a:ext uri="{FF2B5EF4-FFF2-40B4-BE49-F238E27FC236}">
                  <a16:creationId xmlns:a16="http://schemas.microsoft.com/office/drawing/2014/main" id="{6FB076B1-36EA-3543-954C-B9F6FE30D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2336738"/>
              <a:ext cx="978131" cy="956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22">
                <a:extLst>
                  <a:ext uri="{FF2B5EF4-FFF2-40B4-BE49-F238E27FC236}">
                    <a16:creationId xmlns:a16="http://schemas.microsoft.com/office/drawing/2014/main" id="{CB5D95E0-0879-DF40-BE8D-6CA219BF0A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5210" y="5013665"/>
                <a:ext cx="1875833" cy="461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𝐷𝑒𝑐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(∙,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𝐶𝑇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i="1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1" name="TextBox 22">
                <a:extLst>
                  <a:ext uri="{FF2B5EF4-FFF2-40B4-BE49-F238E27FC236}">
                    <a16:creationId xmlns:a16="http://schemas.microsoft.com/office/drawing/2014/main" id="{CB5D95E0-0879-DF40-BE8D-6CA219BF0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210" y="5013665"/>
                <a:ext cx="1875833" cy="461664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18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4610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3FDC67DF-0849-9545-859E-0A9C77B8B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Bootstrapping, Concretely</a:t>
            </a:r>
          </a:p>
        </p:txBody>
      </p:sp>
      <p:pic>
        <p:nvPicPr>
          <p:cNvPr id="46083" name="Picture 31" descr="guy-bootstrapping-400x300">
            <a:extLst>
              <a:ext uri="{FF2B5EF4-FFF2-40B4-BE49-F238E27FC236}">
                <a16:creationId xmlns:a16="http://schemas.microsoft.com/office/drawing/2014/main" id="{A47291F4-99C6-A04B-BDAC-B08536D2D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0"/>
            <a:ext cx="1219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 Box 9">
            <a:extLst>
              <a:ext uri="{FF2B5EF4-FFF2-40B4-BE49-F238E27FC236}">
                <a16:creationId xmlns:a16="http://schemas.microsoft.com/office/drawing/2014/main" id="{C7EAB0C7-857E-3A4E-97A0-A9215C6DA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457326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Next Best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46085" name="Text Box 9">
            <a:extLst>
              <a:ext uri="{FF2B5EF4-FFF2-40B4-BE49-F238E27FC236}">
                <a16:creationId xmlns:a16="http://schemas.microsoft.com/office/drawing/2014/main" id="{56A16772-2007-0347-ADDF-95D76E9CD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457326"/>
            <a:ext cx="5486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00"/>
                </a:solidFill>
              </a:rPr>
              <a:t>= Homomorphic Decryption!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71" name="TextBox 22">
            <a:extLst>
              <a:ext uri="{FF2B5EF4-FFF2-40B4-BE49-F238E27FC236}">
                <a16:creationId xmlns:a16="http://schemas.microsoft.com/office/drawing/2014/main" id="{748F7FEC-6F75-E243-89DD-86D722896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3779839"/>
            <a:ext cx="16811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 err="1">
                <a:solidFill>
                  <a:srgbClr val="0000FF"/>
                </a:solidFill>
              </a:rPr>
              <a:t>Enc</a:t>
            </a:r>
            <a:r>
              <a:rPr lang="en-US" altLang="en-US" sz="24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400" b="1" dirty="0">
                <a:solidFill>
                  <a:srgbClr val="0000FF"/>
                </a:solidFill>
              </a:rPr>
              <a:t>(m)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9FC792-8B3D-FB46-BDBF-0AC9340C3452}"/>
              </a:ext>
            </a:extLst>
          </p:cNvPr>
          <p:cNvGrpSpPr>
            <a:grpSpLocks/>
          </p:cNvGrpSpPr>
          <p:nvPr/>
        </p:nvGrpSpPr>
        <p:grpSpPr bwMode="auto">
          <a:xfrm>
            <a:off x="4400551" y="4033838"/>
            <a:ext cx="2325153" cy="1906468"/>
            <a:chOff x="2876061" y="4033560"/>
            <a:chExt cx="2325077" cy="1906871"/>
          </a:xfrm>
        </p:grpSpPr>
        <p:sp>
          <p:nvSpPr>
            <p:cNvPr id="46099" name="AutoShape 12">
              <a:extLst>
                <a:ext uri="{FF2B5EF4-FFF2-40B4-BE49-F238E27FC236}">
                  <a16:creationId xmlns:a16="http://schemas.microsoft.com/office/drawing/2014/main" id="{315D1B4E-69B1-D54C-8427-1D529F94E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061" y="4287810"/>
              <a:ext cx="2325077" cy="1398372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6101" name="Line 27">
              <a:extLst>
                <a:ext uri="{FF2B5EF4-FFF2-40B4-BE49-F238E27FC236}">
                  <a16:creationId xmlns:a16="http://schemas.microsoft.com/office/drawing/2014/main" id="{26355A64-3A40-BE4D-B3F3-5169F77CB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9599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2" name="Line 28">
              <a:extLst>
                <a:ext uri="{FF2B5EF4-FFF2-40B4-BE49-F238E27FC236}">
                  <a16:creationId xmlns:a16="http://schemas.microsoft.com/office/drawing/2014/main" id="{FD6B3AF1-CDFC-F84A-AD3E-E416609BC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3138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3" name="Line 29">
              <a:extLst>
                <a:ext uri="{FF2B5EF4-FFF2-40B4-BE49-F238E27FC236}">
                  <a16:creationId xmlns:a16="http://schemas.microsoft.com/office/drawing/2014/main" id="{BC05857C-E8B1-694F-8A7E-45E6C4562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676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4" name="Line 30">
              <a:extLst>
                <a:ext uri="{FF2B5EF4-FFF2-40B4-BE49-F238E27FC236}">
                  <a16:creationId xmlns:a16="http://schemas.microsoft.com/office/drawing/2014/main" id="{73B26C82-D560-8441-8966-049D2F59C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0215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5" name="Line 31">
              <a:extLst>
                <a:ext uri="{FF2B5EF4-FFF2-40B4-BE49-F238E27FC236}">
                  <a16:creationId xmlns:a16="http://schemas.microsoft.com/office/drawing/2014/main" id="{2FE3E74E-F97D-C84A-85D4-7E0423BCC5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292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6" name="Line 32">
              <a:extLst>
                <a:ext uri="{FF2B5EF4-FFF2-40B4-BE49-F238E27FC236}">
                  <a16:creationId xmlns:a16="http://schemas.microsoft.com/office/drawing/2014/main" id="{144D184F-4711-F549-984A-28B7A3D16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90830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07" name="Line 33">
              <a:extLst>
                <a:ext uri="{FF2B5EF4-FFF2-40B4-BE49-F238E27FC236}">
                  <a16:creationId xmlns:a16="http://schemas.microsoft.com/office/drawing/2014/main" id="{294D611C-006B-5440-80A5-656E8813DE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4369" y="5686182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6110" name="Line 30">
              <a:extLst>
                <a:ext uri="{FF2B5EF4-FFF2-40B4-BE49-F238E27FC236}">
                  <a16:creationId xmlns:a16="http://schemas.microsoft.com/office/drawing/2014/main" id="{AE80C127-24DB-B94C-B57B-EFFB2EA9CE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600" y="4033560"/>
              <a:ext cx="0" cy="25424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9E7423A-30E4-B544-B4D0-7C97F1B814A4}"/>
              </a:ext>
            </a:extLst>
          </p:cNvPr>
          <p:cNvGrpSpPr>
            <a:grpSpLocks/>
          </p:cNvGrpSpPr>
          <p:nvPr/>
        </p:nvGrpSpPr>
        <p:grpSpPr bwMode="auto">
          <a:xfrm>
            <a:off x="2154238" y="2133600"/>
            <a:ext cx="9677400" cy="1371600"/>
            <a:chOff x="533400" y="2133600"/>
            <a:chExt cx="9677400" cy="13716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2E0FFA8-198A-174B-8FB3-F968A1D30111}"/>
                </a:ext>
              </a:extLst>
            </p:cNvPr>
            <p:cNvSpPr/>
            <p:nvPr/>
          </p:nvSpPr>
          <p:spPr>
            <a:xfrm>
              <a:off x="533400" y="2133600"/>
              <a:ext cx="8310562" cy="1371600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CA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  <p:sp>
          <p:nvSpPr>
            <p:cNvPr id="46095" name="Text Box 9">
              <a:extLst>
                <a:ext uri="{FF2B5EF4-FFF2-40B4-BE49-F238E27FC236}">
                  <a16:creationId xmlns:a16="http://schemas.microsoft.com/office/drawing/2014/main" id="{87D23185-DA50-8F4F-8A86-8EA2ACE8A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7987" y="2286000"/>
              <a:ext cx="78728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2400" dirty="0">
                  <a:solidFill>
                    <a:srgbClr val="000000"/>
                  </a:solidFill>
                </a:rPr>
                <a:t>Assume server knows  </a:t>
              </a:r>
              <a:r>
                <a:rPr lang="en-US" altLang="en-US" sz="2400" b="1" dirty="0" err="1">
                  <a:solidFill>
                    <a:srgbClr val="0000FF"/>
                  </a:solidFill>
                </a:rPr>
                <a:t>ek</a:t>
              </a:r>
              <a:r>
                <a:rPr lang="en-US" altLang="en-US" sz="2400" b="1" dirty="0">
                  <a:solidFill>
                    <a:srgbClr val="0000FF"/>
                  </a:solidFill>
                </a:rPr>
                <a:t> =</a:t>
              </a:r>
              <a:r>
                <a:rPr lang="en-US" altLang="en-US" sz="2400" dirty="0">
                  <a:solidFill>
                    <a:srgbClr val="000000"/>
                  </a:solidFill>
                </a:rPr>
                <a:t> </a:t>
              </a:r>
              <a:r>
                <a:rPr lang="en-US" altLang="en-US" sz="2400" b="1" dirty="0" err="1">
                  <a:solidFill>
                    <a:srgbClr val="0000FF"/>
                  </a:solidFill>
                </a:rPr>
                <a:t>Enc</a:t>
              </a:r>
              <a:r>
                <a:rPr lang="en-US" altLang="en-US" sz="2400" b="1" baseline="-25000" dirty="0" err="1">
                  <a:solidFill>
                    <a:srgbClr val="0000FF"/>
                  </a:solidFill>
                </a:rPr>
                <a:t>SK</a:t>
              </a:r>
              <a:r>
                <a:rPr lang="en-US" altLang="en-US" sz="2400" b="1" dirty="0">
                  <a:solidFill>
                    <a:srgbClr val="0000FF"/>
                  </a:solidFill>
                </a:rPr>
                <a:t>(SK)</a:t>
              </a:r>
              <a:r>
                <a:rPr lang="en-US" altLang="en-US" sz="2400" dirty="0">
                  <a:solidFill>
                    <a:srgbClr val="000000"/>
                  </a:solidFill>
                </a:rPr>
                <a:t>.</a:t>
              </a:r>
              <a:endParaRPr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46096" name="Text Box 9">
              <a:extLst>
                <a:ext uri="{FF2B5EF4-FFF2-40B4-BE49-F238E27FC236}">
                  <a16:creationId xmlns:a16="http://schemas.microsoft.com/office/drawing/2014/main" id="{B8DA5285-8840-BC45-B1E8-2DCF723B3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2814935"/>
              <a:ext cx="6858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(OK assuming the scheme is “</a:t>
              </a:r>
              <a:r>
                <a:rPr lang="en-US" altLang="en-US" sz="2400">
                  <a:solidFill>
                    <a:srgbClr val="0000FF"/>
                  </a:solidFill>
                </a:rPr>
                <a:t>circular secure</a:t>
              </a:r>
              <a:r>
                <a:rPr lang="en-US" altLang="en-US" sz="2400">
                  <a:solidFill>
                    <a:srgbClr val="000000"/>
                  </a:solidFill>
                </a:rPr>
                <a:t>”)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6097" name="Text Box 9">
              <a:extLst>
                <a:ext uri="{FF2B5EF4-FFF2-40B4-BE49-F238E27FC236}">
                  <a16:creationId xmlns:a16="http://schemas.microsoft.com/office/drawing/2014/main" id="{F40D02A6-8135-B84B-8CC1-CEC1166C6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2133600"/>
              <a:ext cx="762000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30000"/>
                </a:spcBef>
                <a:defRPr/>
              </a:pPr>
              <a:r>
                <a:rPr lang="en-US" altLang="en-US" sz="4400">
                  <a:solidFill>
                    <a:srgbClr val="000000"/>
                  </a:solidFill>
                </a:rPr>
                <a:t>*</a:t>
              </a:r>
            </a:p>
          </p:txBody>
        </p:sp>
        <p:pic>
          <p:nvPicPr>
            <p:cNvPr id="46098" name="Picture 84">
              <a:extLst>
                <a:ext uri="{FF2B5EF4-FFF2-40B4-BE49-F238E27FC236}">
                  <a16:creationId xmlns:a16="http://schemas.microsoft.com/office/drawing/2014/main" id="{6FB076B1-36EA-3543-954C-B9F6FE30D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2336738"/>
              <a:ext cx="978131" cy="956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6" name="Text Box 16">
            <a:extLst>
              <a:ext uri="{FF2B5EF4-FFF2-40B4-BE49-F238E27FC236}">
                <a16:creationId xmlns:a16="http://schemas.microsoft.com/office/drawing/2014/main" id="{212EF274-5F84-4543-B6D2-F902328D01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3465" y="5000935"/>
            <a:ext cx="2514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000" b="1" dirty="0">
                <a:solidFill>
                  <a:srgbClr val="008000"/>
                </a:solidFill>
              </a:rPr>
              <a:t>Noise = </a:t>
            </a:r>
            <a:r>
              <a:rPr lang="en-US" altLang="en-US" sz="2000" b="1" dirty="0" err="1">
                <a:solidFill>
                  <a:srgbClr val="008000"/>
                </a:solidFill>
              </a:rPr>
              <a:t>B</a:t>
            </a:r>
            <a:r>
              <a:rPr lang="en-US" altLang="en-US" sz="2000" b="1" baseline="-25000" dirty="0" err="1">
                <a:solidFill>
                  <a:srgbClr val="008000"/>
                </a:solidFill>
              </a:rPr>
              <a:t>input</a:t>
            </a:r>
            <a:endParaRPr lang="en-US" altLang="en-US" sz="2000" b="1" dirty="0">
              <a:solidFill>
                <a:srgbClr val="008000"/>
              </a:solidFill>
            </a:endParaRPr>
          </a:p>
        </p:txBody>
      </p:sp>
      <p:sp>
        <p:nvSpPr>
          <p:cNvPr id="87" name="Line 10">
            <a:extLst>
              <a:ext uri="{FF2B5EF4-FFF2-40B4-BE49-F238E27FC236}">
                <a16:creationId xmlns:a16="http://schemas.microsoft.com/office/drawing/2014/main" id="{22DFDE09-6960-DF4C-B55D-EC25CEFDBB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68009" y="5200960"/>
            <a:ext cx="1037655" cy="2824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88" name="Text Box 16">
            <a:extLst>
              <a:ext uri="{FF2B5EF4-FFF2-40B4-BE49-F238E27FC236}">
                <a16:creationId xmlns:a16="http://schemas.microsoft.com/office/drawing/2014/main" id="{1F22D59F-D92E-5A44-B664-0B0381398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867150"/>
            <a:ext cx="2514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000" b="1">
                <a:solidFill>
                  <a:srgbClr val="008000"/>
                </a:solidFill>
              </a:rPr>
              <a:t>Noise = B</a:t>
            </a:r>
            <a:r>
              <a:rPr lang="en-US" altLang="en-US" sz="2000" b="1" baseline="-25000">
                <a:solidFill>
                  <a:srgbClr val="008000"/>
                </a:solidFill>
              </a:rPr>
              <a:t>dec</a:t>
            </a:r>
            <a:endParaRPr lang="en-US" altLang="en-US" sz="2000" b="1">
              <a:solidFill>
                <a:srgbClr val="008000"/>
              </a:solidFill>
            </a:endParaRPr>
          </a:p>
        </p:txBody>
      </p:sp>
      <p:sp>
        <p:nvSpPr>
          <p:cNvPr id="89" name="Line 10">
            <a:extLst>
              <a:ext uri="{FF2B5EF4-FFF2-40B4-BE49-F238E27FC236}">
                <a16:creationId xmlns:a16="http://schemas.microsoft.com/office/drawing/2014/main" id="{5BC529E5-9975-CA4B-9E9C-C409716D8E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1" y="4067175"/>
            <a:ext cx="6334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0" name="Explosion 1 29">
            <a:extLst>
              <a:ext uri="{FF2B5EF4-FFF2-40B4-BE49-F238E27FC236}">
                <a16:creationId xmlns:a16="http://schemas.microsoft.com/office/drawing/2014/main" id="{64C02CCA-6DBF-CD42-9A79-5988898D00BD}"/>
              </a:ext>
            </a:extLst>
          </p:cNvPr>
          <p:cNvSpPr/>
          <p:nvPr/>
        </p:nvSpPr>
        <p:spPr>
          <a:xfrm>
            <a:off x="2466181" y="1564677"/>
            <a:ext cx="7259638" cy="2342996"/>
          </a:xfrm>
          <a:prstGeom prst="irregularSeal1">
            <a:avLst/>
          </a:prstGeom>
          <a:solidFill>
            <a:schemeClr val="bg1"/>
          </a:solidFill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err="1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2400" b="1" baseline="-25000" dirty="0" err="1">
                <a:solidFill>
                  <a:srgbClr val="000000"/>
                </a:solidFill>
                <a:latin typeface="Arial"/>
                <a:cs typeface="Arial"/>
              </a:rPr>
              <a:t>dec</a:t>
            </a: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 Independent of </a:t>
            </a:r>
            <a:r>
              <a:rPr lang="en-US" sz="2400" b="1" dirty="0" err="1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sz="2400" b="1" baseline="-25000" dirty="0" err="1">
                <a:solidFill>
                  <a:srgbClr val="000000"/>
                </a:solidFill>
                <a:latin typeface="Arial"/>
                <a:cs typeface="Arial"/>
              </a:rPr>
              <a:t>input</a:t>
            </a:r>
            <a:endParaRPr lang="en-CA" sz="24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2" name="TextBox 22">
            <a:extLst>
              <a:ext uri="{FF2B5EF4-FFF2-40B4-BE49-F238E27FC236}">
                <a16:creationId xmlns:a16="http://schemas.microsoft.com/office/drawing/2014/main" id="{9333FEF7-C47F-5B49-B6E1-D67AD35A4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975" y="6007378"/>
            <a:ext cx="1905062" cy="461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dirty="0" err="1">
                <a:solidFill>
                  <a:srgbClr val="0000FF"/>
                </a:solidFill>
              </a:rPr>
              <a:t>Enc</a:t>
            </a:r>
            <a:r>
              <a:rPr lang="en-US" altLang="en-US" sz="24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400" b="1" dirty="0">
                <a:solidFill>
                  <a:srgbClr val="0000FF"/>
                </a:solidFill>
              </a:rPr>
              <a:t>(SK)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22">
                <a:extLst>
                  <a:ext uri="{FF2B5EF4-FFF2-40B4-BE49-F238E27FC236}">
                    <a16:creationId xmlns:a16="http://schemas.microsoft.com/office/drawing/2014/main" id="{B94B40D4-0CE7-B948-9C90-B08DA249E9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5210" y="5013665"/>
                <a:ext cx="1875833" cy="461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𝐷𝑒𝑐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(∙,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𝐶𝑇</m:t>
                      </m:r>
                      <m:r>
                        <a:rPr lang="en-US" altLang="en-US" sz="24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400" i="1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33" name="TextBox 22">
                <a:extLst>
                  <a:ext uri="{FF2B5EF4-FFF2-40B4-BE49-F238E27FC236}">
                    <a16:creationId xmlns:a16="http://schemas.microsoft.com/office/drawing/2014/main" id="{B94B40D4-0CE7-B948-9C90-B08DA249E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5210" y="5013665"/>
                <a:ext cx="1875833" cy="461664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542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AutoShape 12">
            <a:extLst>
              <a:ext uri="{FF2B5EF4-FFF2-40B4-BE49-F238E27FC236}">
                <a16:creationId xmlns:a16="http://schemas.microsoft.com/office/drawing/2014/main" id="{7309A622-F34E-1B47-9EF3-4021DB6F4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443038"/>
            <a:ext cx="4743450" cy="1731962"/>
          </a:xfrm>
          <a:prstGeom prst="triangle">
            <a:avLst>
              <a:gd name="adj" fmla="val 50000"/>
            </a:avLst>
          </a:prstGeom>
          <a:solidFill>
            <a:schemeClr val="accent1">
              <a:alpha val="4117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7107" name="Line 27">
            <a:extLst>
              <a:ext uri="{FF2B5EF4-FFF2-40B4-BE49-F238E27FC236}">
                <a16:creationId xmlns:a16="http://schemas.microsoft.com/office/drawing/2014/main" id="{2CD59929-DCB3-354E-A6F9-1E5121D9B6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08" name="Line 28">
            <a:extLst>
              <a:ext uri="{FF2B5EF4-FFF2-40B4-BE49-F238E27FC236}">
                <a16:creationId xmlns:a16="http://schemas.microsoft.com/office/drawing/2014/main" id="{06B870EB-E017-1B4A-BFCB-3CB28660A4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39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09" name="Line 29">
            <a:extLst>
              <a:ext uri="{FF2B5EF4-FFF2-40B4-BE49-F238E27FC236}">
                <a16:creationId xmlns:a16="http://schemas.microsoft.com/office/drawing/2014/main" id="{690C978A-EBC4-954C-8D4A-F286A9D635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10" name="Line 30">
            <a:extLst>
              <a:ext uri="{FF2B5EF4-FFF2-40B4-BE49-F238E27FC236}">
                <a16:creationId xmlns:a16="http://schemas.microsoft.com/office/drawing/2014/main" id="{B90E7A4D-38D4-5941-9736-FF6FFF9AF4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11" name="Line 31">
            <a:extLst>
              <a:ext uri="{FF2B5EF4-FFF2-40B4-BE49-F238E27FC236}">
                <a16:creationId xmlns:a16="http://schemas.microsoft.com/office/drawing/2014/main" id="{6D702D90-CE71-8841-9441-74E40055A0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3675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12" name="Line 32">
            <a:extLst>
              <a:ext uri="{FF2B5EF4-FFF2-40B4-BE49-F238E27FC236}">
                <a16:creationId xmlns:a16="http://schemas.microsoft.com/office/drawing/2014/main" id="{87DCD096-284B-B243-B160-EA24CCE7D5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8691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13" name="Line 33">
            <a:extLst>
              <a:ext uri="{FF2B5EF4-FFF2-40B4-BE49-F238E27FC236}">
                <a16:creationId xmlns:a16="http://schemas.microsoft.com/office/drawing/2014/main" id="{683D9D85-3F53-EA4B-8F8E-AA2092F15B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8856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7114" name="Line 30">
            <a:extLst>
              <a:ext uri="{FF2B5EF4-FFF2-40B4-BE49-F238E27FC236}">
                <a16:creationId xmlns:a16="http://schemas.microsoft.com/office/drawing/2014/main" id="{192151F0-57E7-E74E-BD8D-143F8B7E6A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11938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47115" name="Group 1">
            <a:extLst>
              <a:ext uri="{FF2B5EF4-FFF2-40B4-BE49-F238E27FC236}">
                <a16:creationId xmlns:a16="http://schemas.microsoft.com/office/drawing/2014/main" id="{63B05488-5D9F-0144-A4C7-190C6B132EBE}"/>
              </a:ext>
            </a:extLst>
          </p:cNvPr>
          <p:cNvGrpSpPr>
            <a:grpSpLocks/>
          </p:cNvGrpSpPr>
          <p:nvPr/>
        </p:nvGrpSpPr>
        <p:grpSpPr bwMode="auto">
          <a:xfrm>
            <a:off x="7820026" y="2209800"/>
            <a:ext cx="1019175" cy="990600"/>
            <a:chOff x="4143375" y="2159001"/>
            <a:chExt cx="1019175" cy="990600"/>
          </a:xfrm>
        </p:grpSpPr>
        <p:sp>
          <p:nvSpPr>
            <p:cNvPr id="47121" name="Line 19">
              <a:extLst>
                <a:ext uri="{FF2B5EF4-FFF2-40B4-BE49-F238E27FC236}">
                  <a16:creationId xmlns:a16="http://schemas.microsoft.com/office/drawing/2014/main" id="{771D50F2-CD33-1F49-B3D6-5FBD504760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7122" name="Line 20">
              <a:extLst>
                <a:ext uri="{FF2B5EF4-FFF2-40B4-BE49-F238E27FC236}">
                  <a16:creationId xmlns:a16="http://schemas.microsoft.com/office/drawing/2014/main" id="{57A13393-D523-D74E-845A-EE2509E1BB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7123" name="AutoShape 22">
              <a:extLst>
                <a:ext uri="{FF2B5EF4-FFF2-40B4-BE49-F238E27FC236}">
                  <a16:creationId xmlns:a16="http://schemas.microsoft.com/office/drawing/2014/main" id="{AFB553E2-9EDF-044F-A7BC-CA798D3166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57675" y="2244726"/>
              <a:ext cx="609600" cy="838200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7124" name="TextBox 22">
              <a:extLst>
                <a:ext uri="{FF2B5EF4-FFF2-40B4-BE49-F238E27FC236}">
                  <a16:creationId xmlns:a16="http://schemas.microsoft.com/office/drawing/2014/main" id="{689914FF-584E-8F43-94FA-EB76BD90B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550" y="2436006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7125" name="Line 20">
              <a:extLst>
                <a:ext uri="{FF2B5EF4-FFF2-40B4-BE49-F238E27FC236}">
                  <a16:creationId xmlns:a16="http://schemas.microsoft.com/office/drawing/2014/main" id="{106C98B2-AC08-C242-99EB-97C5F9A83A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2950" y="21590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7116" name="Text Box 9">
            <a:extLst>
              <a:ext uri="{FF2B5EF4-FFF2-40B4-BE49-F238E27FC236}">
                <a16:creationId xmlns:a16="http://schemas.microsoft.com/office/drawing/2014/main" id="{823CA29B-0E6E-8D4F-AEEF-40C811F2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6" y="142875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>
                <a:solidFill>
                  <a:srgbClr val="000000"/>
                </a:solidFill>
              </a:rPr>
              <a:t>Assume Circular Security:</a:t>
            </a:r>
          </a:p>
        </p:txBody>
      </p:sp>
      <p:sp>
        <p:nvSpPr>
          <p:cNvPr id="47117" name="Rectangle 3">
            <a:extLst>
              <a:ext uri="{FF2B5EF4-FFF2-40B4-BE49-F238E27FC236}">
                <a16:creationId xmlns:a16="http://schemas.microsoft.com/office/drawing/2014/main" id="{A51E4891-97EC-1648-B615-1F9E9055A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Wrap Up: Bootstrapping</a:t>
            </a:r>
          </a:p>
        </p:txBody>
      </p:sp>
      <p:sp>
        <p:nvSpPr>
          <p:cNvPr id="47118" name="TextBox 22">
            <a:extLst>
              <a:ext uri="{FF2B5EF4-FFF2-40B4-BE49-F238E27FC236}">
                <a16:creationId xmlns:a16="http://schemas.microsoft.com/office/drawing/2014/main" id="{18876B0B-9263-4644-B3C7-6776AE282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295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Function f</a:t>
            </a:r>
          </a:p>
        </p:txBody>
      </p:sp>
      <p:sp>
        <p:nvSpPr>
          <p:cNvPr id="47119" name="Text Box 9">
            <a:extLst>
              <a:ext uri="{FF2B5EF4-FFF2-40B4-BE49-F238E27FC236}">
                <a16:creationId xmlns:a16="http://schemas.microsoft.com/office/drawing/2014/main" id="{73AD47FA-7973-F443-9AFE-54F80B835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82880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Evaluation key is </a:t>
            </a:r>
            <a:r>
              <a:rPr lang="en-US" altLang="en-US" sz="2000" b="1" dirty="0" err="1">
                <a:solidFill>
                  <a:srgbClr val="0000FF"/>
                </a:solidFill>
              </a:rPr>
              <a:t>Enc</a:t>
            </a:r>
            <a:r>
              <a:rPr lang="en-US" altLang="en-US" sz="20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000" b="1" dirty="0">
                <a:solidFill>
                  <a:srgbClr val="0000FF"/>
                </a:solidFill>
              </a:rPr>
              <a:t>(SK)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47120" name="Line 31">
            <a:extLst>
              <a:ext uri="{FF2B5EF4-FFF2-40B4-BE49-F238E27FC236}">
                <a16:creationId xmlns:a16="http://schemas.microsoft.com/office/drawing/2014/main" id="{24B8AEF0-B505-B246-B9BD-DCD1CE7210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2004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8718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12">
            <a:extLst>
              <a:ext uri="{FF2B5EF4-FFF2-40B4-BE49-F238E27FC236}">
                <a16:creationId xmlns:a16="http://schemas.microsoft.com/office/drawing/2014/main" id="{F1EF1C86-5CA8-704C-8639-9BE44ED24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443038"/>
            <a:ext cx="4743450" cy="1731962"/>
          </a:xfrm>
          <a:prstGeom prst="triangle">
            <a:avLst>
              <a:gd name="adj" fmla="val 50000"/>
            </a:avLst>
          </a:prstGeom>
          <a:solidFill>
            <a:schemeClr val="accent1">
              <a:alpha val="4117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8131" name="Line 27">
            <a:extLst>
              <a:ext uri="{FF2B5EF4-FFF2-40B4-BE49-F238E27FC236}">
                <a16:creationId xmlns:a16="http://schemas.microsoft.com/office/drawing/2014/main" id="{2C5243A3-E505-3041-AEBD-72A0BE493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2" name="Line 28">
            <a:extLst>
              <a:ext uri="{FF2B5EF4-FFF2-40B4-BE49-F238E27FC236}">
                <a16:creationId xmlns:a16="http://schemas.microsoft.com/office/drawing/2014/main" id="{3EFEA0E4-8E66-EC48-8709-33F8C8B5F8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39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3" name="Line 29">
            <a:extLst>
              <a:ext uri="{FF2B5EF4-FFF2-40B4-BE49-F238E27FC236}">
                <a16:creationId xmlns:a16="http://schemas.microsoft.com/office/drawing/2014/main" id="{BDA1007B-4DFD-C544-9F0B-F956AD2669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4" name="Line 30">
            <a:extLst>
              <a:ext uri="{FF2B5EF4-FFF2-40B4-BE49-F238E27FC236}">
                <a16:creationId xmlns:a16="http://schemas.microsoft.com/office/drawing/2014/main" id="{F5578ED8-B8BE-8945-B307-4A8253700A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5" name="Line 31">
            <a:extLst>
              <a:ext uri="{FF2B5EF4-FFF2-40B4-BE49-F238E27FC236}">
                <a16:creationId xmlns:a16="http://schemas.microsoft.com/office/drawing/2014/main" id="{A9EFC621-E1D5-6D46-BD9D-DA1469201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3675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6" name="Line 32">
            <a:extLst>
              <a:ext uri="{FF2B5EF4-FFF2-40B4-BE49-F238E27FC236}">
                <a16:creationId xmlns:a16="http://schemas.microsoft.com/office/drawing/2014/main" id="{BA7518E3-4257-8542-87D7-1E9D4A966C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8691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7" name="Line 33">
            <a:extLst>
              <a:ext uri="{FF2B5EF4-FFF2-40B4-BE49-F238E27FC236}">
                <a16:creationId xmlns:a16="http://schemas.microsoft.com/office/drawing/2014/main" id="{383AA155-5372-B94F-B1ED-651CCCDA02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8856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8" name="Line 30">
            <a:extLst>
              <a:ext uri="{FF2B5EF4-FFF2-40B4-BE49-F238E27FC236}">
                <a16:creationId xmlns:a16="http://schemas.microsoft.com/office/drawing/2014/main" id="{B634C5F7-CB98-5F43-9BDF-A31FBAED64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11938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48139" name="Group 1">
            <a:extLst>
              <a:ext uri="{FF2B5EF4-FFF2-40B4-BE49-F238E27FC236}">
                <a16:creationId xmlns:a16="http://schemas.microsoft.com/office/drawing/2014/main" id="{43998791-25DC-DD48-9A8E-AE446D40BA6C}"/>
              </a:ext>
            </a:extLst>
          </p:cNvPr>
          <p:cNvGrpSpPr>
            <a:grpSpLocks/>
          </p:cNvGrpSpPr>
          <p:nvPr/>
        </p:nvGrpSpPr>
        <p:grpSpPr bwMode="auto">
          <a:xfrm>
            <a:off x="7820026" y="2209800"/>
            <a:ext cx="1019175" cy="990600"/>
            <a:chOff x="4143375" y="2159001"/>
            <a:chExt cx="1019175" cy="990600"/>
          </a:xfrm>
        </p:grpSpPr>
        <p:sp>
          <p:nvSpPr>
            <p:cNvPr id="48193" name="Line 19">
              <a:extLst>
                <a:ext uri="{FF2B5EF4-FFF2-40B4-BE49-F238E27FC236}">
                  <a16:creationId xmlns:a16="http://schemas.microsoft.com/office/drawing/2014/main" id="{A72C9DB1-F27D-F84B-BB05-5D060778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4" name="Line 20">
              <a:extLst>
                <a:ext uri="{FF2B5EF4-FFF2-40B4-BE49-F238E27FC236}">
                  <a16:creationId xmlns:a16="http://schemas.microsoft.com/office/drawing/2014/main" id="{864BB8EE-3C50-8242-B400-BA4B16A660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5" name="AutoShape 22">
              <a:extLst>
                <a:ext uri="{FF2B5EF4-FFF2-40B4-BE49-F238E27FC236}">
                  <a16:creationId xmlns:a16="http://schemas.microsoft.com/office/drawing/2014/main" id="{BE550C24-F529-5A44-A042-32E418DE73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57675" y="2244726"/>
              <a:ext cx="609600" cy="838200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96" name="TextBox 22">
              <a:extLst>
                <a:ext uri="{FF2B5EF4-FFF2-40B4-BE49-F238E27FC236}">
                  <a16:creationId xmlns:a16="http://schemas.microsoft.com/office/drawing/2014/main" id="{778AB71E-E978-DA42-A594-A09A133F5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550" y="2436006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97" name="Line 20">
              <a:extLst>
                <a:ext uri="{FF2B5EF4-FFF2-40B4-BE49-F238E27FC236}">
                  <a16:creationId xmlns:a16="http://schemas.microsoft.com/office/drawing/2014/main" id="{8D456281-D75D-8944-A3F1-6730EDFC0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2950" y="21590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140" name="Text Box 9">
            <a:extLst>
              <a:ext uri="{FF2B5EF4-FFF2-40B4-BE49-F238E27FC236}">
                <a16:creationId xmlns:a16="http://schemas.microsoft.com/office/drawing/2014/main" id="{50396DC9-FB3A-934A-AD37-DA00055E6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657601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FF"/>
                </a:solidFill>
              </a:rPr>
              <a:t>Each Gate g → Gadget G:</a:t>
            </a:r>
            <a:endParaRPr lang="en-US" altLang="en-US" sz="2800">
              <a:solidFill>
                <a:srgbClr val="0000FF"/>
              </a:solidFill>
            </a:endParaRPr>
          </a:p>
        </p:txBody>
      </p:sp>
      <p:grpSp>
        <p:nvGrpSpPr>
          <p:cNvPr id="48141" name="Group 91">
            <a:extLst>
              <a:ext uri="{FF2B5EF4-FFF2-40B4-BE49-F238E27FC236}">
                <a16:creationId xmlns:a16="http://schemas.microsoft.com/office/drawing/2014/main" id="{8E84C752-B030-A149-A39B-AA5B1A29B632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181600"/>
            <a:ext cx="990600" cy="914400"/>
            <a:chOff x="4143375" y="1981201"/>
            <a:chExt cx="990600" cy="914400"/>
          </a:xfrm>
        </p:grpSpPr>
        <p:sp>
          <p:nvSpPr>
            <p:cNvPr id="48188" name="Line 19">
              <a:extLst>
                <a:ext uri="{FF2B5EF4-FFF2-40B4-BE49-F238E27FC236}">
                  <a16:creationId xmlns:a16="http://schemas.microsoft.com/office/drawing/2014/main" id="{0CB60C3E-6FA7-8140-8283-E7B6D40BC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00" y="2743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9" name="Line 20">
              <a:extLst>
                <a:ext uri="{FF2B5EF4-FFF2-40B4-BE49-F238E27FC236}">
                  <a16:creationId xmlns:a16="http://schemas.microsoft.com/office/drawing/2014/main" id="{516954F1-F165-364F-8CB7-A21C65381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2743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0" name="AutoShape 22">
              <a:extLst>
                <a:ext uri="{FF2B5EF4-FFF2-40B4-BE49-F238E27FC236}">
                  <a16:creationId xmlns:a16="http://schemas.microsoft.com/office/drawing/2014/main" id="{A65CDDC9-BBF6-3245-9B01-EBBE8E07C5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57675" y="1990726"/>
              <a:ext cx="609600" cy="838200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91" name="TextBox 22">
              <a:extLst>
                <a:ext uri="{FF2B5EF4-FFF2-40B4-BE49-F238E27FC236}">
                  <a16:creationId xmlns:a16="http://schemas.microsoft.com/office/drawing/2014/main" id="{24C319BB-C226-1143-8946-5EAC82A09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5" y="2182006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92" name="Line 20">
              <a:extLst>
                <a:ext uri="{FF2B5EF4-FFF2-40B4-BE49-F238E27FC236}">
                  <a16:creationId xmlns:a16="http://schemas.microsoft.com/office/drawing/2014/main" id="{0F831E16-A10B-0043-A27E-D3E778D16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1981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142" name="Text Box 9">
            <a:extLst>
              <a:ext uri="{FF2B5EF4-FFF2-40B4-BE49-F238E27FC236}">
                <a16:creationId xmlns:a16="http://schemas.microsoft.com/office/drawing/2014/main" id="{B83116FB-E283-9D43-891C-02FD80C6E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6" y="142875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>
                <a:solidFill>
                  <a:srgbClr val="000000"/>
                </a:solidFill>
              </a:rPr>
              <a:t>Assume Circular Security:</a:t>
            </a:r>
          </a:p>
        </p:txBody>
      </p:sp>
      <p:grpSp>
        <p:nvGrpSpPr>
          <p:cNvPr id="99" name="Group 47">
            <a:extLst>
              <a:ext uri="{FF2B5EF4-FFF2-40B4-BE49-F238E27FC236}">
                <a16:creationId xmlns:a16="http://schemas.microsoft.com/office/drawing/2014/main" id="{47780963-6F6C-8644-B41F-02761A56A18D}"/>
              </a:ext>
            </a:extLst>
          </p:cNvPr>
          <p:cNvGrpSpPr>
            <a:grpSpLocks/>
          </p:cNvGrpSpPr>
          <p:nvPr/>
        </p:nvGrpSpPr>
        <p:grpSpPr bwMode="auto">
          <a:xfrm>
            <a:off x="6311901" y="4191001"/>
            <a:ext cx="4213225" cy="2595563"/>
            <a:chOff x="3736" y="2400"/>
            <a:chExt cx="2654" cy="1635"/>
          </a:xfrm>
        </p:grpSpPr>
        <p:sp>
          <p:nvSpPr>
            <p:cNvPr id="48157" name="AutoShape 12">
              <a:extLst>
                <a:ext uri="{FF2B5EF4-FFF2-40B4-BE49-F238E27FC236}">
                  <a16:creationId xmlns:a16="http://schemas.microsoft.com/office/drawing/2014/main" id="{090044A0-112A-CD47-ACDF-628CBFD30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976"/>
              <a:ext cx="960" cy="720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58" name="AutoShape 13">
              <a:extLst>
                <a:ext uri="{FF2B5EF4-FFF2-40B4-BE49-F238E27FC236}">
                  <a16:creationId xmlns:a16="http://schemas.microsoft.com/office/drawing/2014/main" id="{933F66AC-0A74-B14A-AED4-D0521EC5C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76"/>
              <a:ext cx="960" cy="720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59" name="Line 15">
              <a:extLst>
                <a:ext uri="{FF2B5EF4-FFF2-40B4-BE49-F238E27FC236}">
                  <a16:creationId xmlns:a16="http://schemas.microsoft.com/office/drawing/2014/main" id="{9779DE0B-72B6-9A42-832C-AC7E91071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0" name="Line 16">
              <a:extLst>
                <a:ext uri="{FF2B5EF4-FFF2-40B4-BE49-F238E27FC236}">
                  <a16:creationId xmlns:a16="http://schemas.microsoft.com/office/drawing/2014/main" id="{E4190B17-84B1-F740-B2A0-A73603CC1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1" name="Line 17">
              <a:extLst>
                <a:ext uri="{FF2B5EF4-FFF2-40B4-BE49-F238E27FC236}">
                  <a16:creationId xmlns:a16="http://schemas.microsoft.com/office/drawing/2014/main" id="{40A82C37-43F9-5F46-8372-85595F723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2" name="Line 18">
              <a:extLst>
                <a:ext uri="{FF2B5EF4-FFF2-40B4-BE49-F238E27FC236}">
                  <a16:creationId xmlns:a16="http://schemas.microsoft.com/office/drawing/2014/main" id="{18E8D3DC-5F30-B949-988A-0B717199A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0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3" name="Line 19">
              <a:extLst>
                <a:ext uri="{FF2B5EF4-FFF2-40B4-BE49-F238E27FC236}">
                  <a16:creationId xmlns:a16="http://schemas.microsoft.com/office/drawing/2014/main" id="{E54DA1E7-3003-EA44-92E3-D9ACC857A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27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4" name="Line 20">
              <a:extLst>
                <a:ext uri="{FF2B5EF4-FFF2-40B4-BE49-F238E27FC236}">
                  <a16:creationId xmlns:a16="http://schemas.microsoft.com/office/drawing/2014/main" id="{190074CA-1EB0-D341-A349-136622822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5" name="AutoShape 22">
              <a:extLst>
                <a:ext uri="{FF2B5EF4-FFF2-40B4-BE49-F238E27FC236}">
                  <a16:creationId xmlns:a16="http://schemas.microsoft.com/office/drawing/2014/main" id="{74A6F445-9CC1-A441-97FC-AE544846F5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536" y="2328"/>
              <a:ext cx="384" cy="528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66" name="TextBox 22">
                  <a:extLst>
                    <a:ext uri="{FF2B5EF4-FFF2-40B4-BE49-F238E27FC236}">
                      <a16:creationId xmlns:a16="http://schemas.microsoft.com/office/drawing/2014/main" id="{1477ED83-CE77-D947-AAAB-1795C8D6B8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6" y="3392"/>
                  <a:ext cx="100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𝐷𝑒𝑐</m:t>
                        </m:r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(∙,</m:t>
                        </m:r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en-US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8166" name="TextBox 22">
                  <a:extLst>
                    <a:ext uri="{FF2B5EF4-FFF2-40B4-BE49-F238E27FC236}">
                      <a16:creationId xmlns:a16="http://schemas.microsoft.com/office/drawing/2014/main" id="{1477ED83-CE77-D947-AAAB-1795C8D6B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6" y="3392"/>
                  <a:ext cx="1008" cy="252"/>
                </a:xfrm>
                <a:prstGeom prst="rect">
                  <a:avLst/>
                </a:prstGeom>
                <a:blipFill>
                  <a:blip r:embed="rId3"/>
                  <a:stretch>
                    <a:fillRect b="-909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168" name="TextBox 22">
              <a:extLst>
                <a:ext uri="{FF2B5EF4-FFF2-40B4-BE49-F238E27FC236}">
                  <a16:creationId xmlns:a16="http://schemas.microsoft.com/office/drawing/2014/main" id="{AD61ED9D-E31A-954D-92F1-6C7E4D804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448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69" name="Line 27">
              <a:extLst>
                <a:ext uri="{FF2B5EF4-FFF2-40B4-BE49-F238E27FC236}">
                  <a16:creationId xmlns:a16="http://schemas.microsoft.com/office/drawing/2014/main" id="{0662ED6C-7184-F440-BF37-43715F9B4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0" name="Line 28">
              <a:extLst>
                <a:ext uri="{FF2B5EF4-FFF2-40B4-BE49-F238E27FC236}">
                  <a16:creationId xmlns:a16="http://schemas.microsoft.com/office/drawing/2014/main" id="{CA99D867-5715-BA44-B03B-8A2110040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1" name="Line 29">
              <a:extLst>
                <a:ext uri="{FF2B5EF4-FFF2-40B4-BE49-F238E27FC236}">
                  <a16:creationId xmlns:a16="http://schemas.microsoft.com/office/drawing/2014/main" id="{8A7D9B66-E141-BC40-B155-D6889F69C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2" name="Line 30">
              <a:extLst>
                <a:ext uri="{FF2B5EF4-FFF2-40B4-BE49-F238E27FC236}">
                  <a16:creationId xmlns:a16="http://schemas.microsoft.com/office/drawing/2014/main" id="{0A39DDC5-9DDC-3743-B61C-768E79E1C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3" name="Line 31">
              <a:extLst>
                <a:ext uri="{FF2B5EF4-FFF2-40B4-BE49-F238E27FC236}">
                  <a16:creationId xmlns:a16="http://schemas.microsoft.com/office/drawing/2014/main" id="{492C13BE-A89B-AD4B-91DC-F9D2C56729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4" name="Line 32">
              <a:extLst>
                <a:ext uri="{FF2B5EF4-FFF2-40B4-BE49-F238E27FC236}">
                  <a16:creationId xmlns:a16="http://schemas.microsoft.com/office/drawing/2014/main" id="{4718287D-F88D-3F48-BD84-E9EFCD34C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5" name="Line 33">
              <a:extLst>
                <a:ext uri="{FF2B5EF4-FFF2-40B4-BE49-F238E27FC236}">
                  <a16:creationId xmlns:a16="http://schemas.microsoft.com/office/drawing/2014/main" id="{7744B8B6-CF4F-F442-B286-621921533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6" name="Line 34">
              <a:extLst>
                <a:ext uri="{FF2B5EF4-FFF2-40B4-BE49-F238E27FC236}">
                  <a16:creationId xmlns:a16="http://schemas.microsoft.com/office/drawing/2014/main" id="{B36B7F5B-F9FF-6A4D-A2F0-28405D4C1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7" name="Line 35">
              <a:extLst>
                <a:ext uri="{FF2B5EF4-FFF2-40B4-BE49-F238E27FC236}">
                  <a16:creationId xmlns:a16="http://schemas.microsoft.com/office/drawing/2014/main" id="{0C69EF97-4CBB-FE4B-8F81-E80DB93A1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8" name="Line 36">
              <a:extLst>
                <a:ext uri="{FF2B5EF4-FFF2-40B4-BE49-F238E27FC236}">
                  <a16:creationId xmlns:a16="http://schemas.microsoft.com/office/drawing/2014/main" id="{87F72663-C7A1-AC43-9957-D4E48B8907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9" name="Line 37">
              <a:extLst>
                <a:ext uri="{FF2B5EF4-FFF2-40B4-BE49-F238E27FC236}">
                  <a16:creationId xmlns:a16="http://schemas.microsoft.com/office/drawing/2014/main" id="{878FD9CC-4DC2-E74E-BE38-4E3521E31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0" name="Line 38">
              <a:extLst>
                <a:ext uri="{FF2B5EF4-FFF2-40B4-BE49-F238E27FC236}">
                  <a16:creationId xmlns:a16="http://schemas.microsoft.com/office/drawing/2014/main" id="{866579BB-34B2-CE4B-B022-BC8DD7B4B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1" name="Line 39">
              <a:extLst>
                <a:ext uri="{FF2B5EF4-FFF2-40B4-BE49-F238E27FC236}">
                  <a16:creationId xmlns:a16="http://schemas.microsoft.com/office/drawing/2014/main" id="{57999DD3-4BC3-4B4A-AFD6-F67DD0937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2" name="Line 40">
              <a:extLst>
                <a:ext uri="{FF2B5EF4-FFF2-40B4-BE49-F238E27FC236}">
                  <a16:creationId xmlns:a16="http://schemas.microsoft.com/office/drawing/2014/main" id="{A23FBB69-201B-334C-AA41-69C2FF626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3" name="Line 41">
              <a:extLst>
                <a:ext uri="{FF2B5EF4-FFF2-40B4-BE49-F238E27FC236}">
                  <a16:creationId xmlns:a16="http://schemas.microsoft.com/office/drawing/2014/main" id="{1E427A0C-D790-7D43-8815-53769F6F8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4" name="Line 42">
              <a:extLst>
                <a:ext uri="{FF2B5EF4-FFF2-40B4-BE49-F238E27FC236}">
                  <a16:creationId xmlns:a16="http://schemas.microsoft.com/office/drawing/2014/main" id="{3B92BC29-96EC-064C-BC43-8DA9AE57C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6" name="TextBox 22">
              <a:extLst>
                <a:ext uri="{FF2B5EF4-FFF2-40B4-BE49-F238E27FC236}">
                  <a16:creationId xmlns:a16="http://schemas.microsoft.com/office/drawing/2014/main" id="{D91DA707-FAB5-7345-977D-A871F56E5E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" y="3744"/>
              <a:ext cx="12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 dirty="0" err="1">
                  <a:solidFill>
                    <a:srgbClr val="000000"/>
                  </a:solidFill>
                </a:rPr>
                <a:t>sk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48144" name="Line 20">
            <a:extLst>
              <a:ext uri="{FF2B5EF4-FFF2-40B4-BE49-F238E27FC236}">
                <a16:creationId xmlns:a16="http://schemas.microsoft.com/office/drawing/2014/main" id="{7DB51DD3-F00C-3F45-BCE2-C3D66A4D10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4038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45" name="TextBox 22">
            <a:extLst>
              <a:ext uri="{FF2B5EF4-FFF2-40B4-BE49-F238E27FC236}">
                <a16:creationId xmlns:a16="http://schemas.microsoft.com/office/drawing/2014/main" id="{E49B5160-A14C-4047-AE33-85A9C9245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6019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8146" name="TextBox 22">
            <a:extLst>
              <a:ext uri="{FF2B5EF4-FFF2-40B4-BE49-F238E27FC236}">
                <a16:creationId xmlns:a16="http://schemas.microsoft.com/office/drawing/2014/main" id="{F3A6F19C-3AA3-454C-B0A3-5C98E015C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019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8147" name="TextBox 22">
            <a:extLst>
              <a:ext uri="{FF2B5EF4-FFF2-40B4-BE49-F238E27FC236}">
                <a16:creationId xmlns:a16="http://schemas.microsoft.com/office/drawing/2014/main" id="{F2D8C43C-9905-684D-9C98-4A1EB368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800601"/>
            <a:ext cx="121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g(a,b)</a:t>
            </a:r>
          </a:p>
        </p:txBody>
      </p:sp>
      <p:sp>
        <p:nvSpPr>
          <p:cNvPr id="48148" name="TextBox 22">
            <a:extLst>
              <a:ext uri="{FF2B5EF4-FFF2-40B4-BE49-F238E27FC236}">
                <a16:creationId xmlns:a16="http://schemas.microsoft.com/office/drawing/2014/main" id="{96CCFAA9-577F-0E49-A81B-4531ABB8D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6324601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sk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48149" name="TextBox 22">
            <a:extLst>
              <a:ext uri="{FF2B5EF4-FFF2-40B4-BE49-F238E27FC236}">
                <a16:creationId xmlns:a16="http://schemas.microsoft.com/office/drawing/2014/main" id="{BEC61F96-6ED2-8C48-BA31-C86D25A1E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724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8150" name="TextBox 22">
            <a:extLst>
              <a:ext uri="{FF2B5EF4-FFF2-40B4-BE49-F238E27FC236}">
                <a16:creationId xmlns:a16="http://schemas.microsoft.com/office/drawing/2014/main" id="{9D914FA7-AA1D-2D40-BA1E-4C9C50FC4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724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8151" name="TextBox 22">
            <a:extLst>
              <a:ext uri="{FF2B5EF4-FFF2-40B4-BE49-F238E27FC236}">
                <a16:creationId xmlns:a16="http://schemas.microsoft.com/office/drawing/2014/main" id="{993F611D-876D-C54C-8121-AC7605B3C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733801"/>
            <a:ext cx="121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g(a,b)</a:t>
            </a:r>
          </a:p>
        </p:txBody>
      </p:sp>
      <p:sp>
        <p:nvSpPr>
          <p:cNvPr id="48152" name="Rectangle 3">
            <a:extLst>
              <a:ext uri="{FF2B5EF4-FFF2-40B4-BE49-F238E27FC236}">
                <a16:creationId xmlns:a16="http://schemas.microsoft.com/office/drawing/2014/main" id="{EDAAE2CF-AF89-5444-8C4F-E2E5E3C34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Wrap Up: Bootstrapping</a:t>
            </a:r>
          </a:p>
        </p:txBody>
      </p:sp>
      <p:sp>
        <p:nvSpPr>
          <p:cNvPr id="48153" name="TextBox 22">
            <a:extLst>
              <a:ext uri="{FF2B5EF4-FFF2-40B4-BE49-F238E27FC236}">
                <a16:creationId xmlns:a16="http://schemas.microsoft.com/office/drawing/2014/main" id="{273FE807-C5F2-514B-90A1-BFA01A034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295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Function f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2BD7297-DF06-D642-979D-F5A794EB228C}"/>
              </a:ext>
            </a:extLst>
          </p:cNvPr>
          <p:cNvSpPr/>
          <p:nvPr/>
        </p:nvSpPr>
        <p:spPr>
          <a:xfrm>
            <a:off x="4800600" y="5381626"/>
            <a:ext cx="977900" cy="48577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8155" name="Text Box 9">
            <a:extLst>
              <a:ext uri="{FF2B5EF4-FFF2-40B4-BE49-F238E27FC236}">
                <a16:creationId xmlns:a16="http://schemas.microsoft.com/office/drawing/2014/main" id="{1A840133-E2B5-5043-A135-0AACAAED2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82880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Evaluation key is </a:t>
            </a:r>
            <a:r>
              <a:rPr lang="en-US" altLang="en-US" sz="2000" b="1" dirty="0" err="1">
                <a:solidFill>
                  <a:srgbClr val="0000FF"/>
                </a:solidFill>
              </a:rPr>
              <a:t>Enc</a:t>
            </a:r>
            <a:r>
              <a:rPr lang="en-US" altLang="en-US" sz="20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000" b="1" dirty="0">
                <a:solidFill>
                  <a:srgbClr val="0000FF"/>
                </a:solidFill>
              </a:rPr>
              <a:t>(SK)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48156" name="Line 31">
            <a:extLst>
              <a:ext uri="{FF2B5EF4-FFF2-40B4-BE49-F238E27FC236}">
                <a16:creationId xmlns:a16="http://schemas.microsoft.com/office/drawing/2014/main" id="{6C02ED82-F73A-6D4C-BDA4-860AF6D2A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2004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22">
                <a:extLst>
                  <a:ext uri="{FF2B5EF4-FFF2-40B4-BE49-F238E27FC236}">
                    <a16:creationId xmlns:a16="http://schemas.microsoft.com/office/drawing/2014/main" id="{DE7B3002-DA13-DA48-ABBD-07FA639523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4325" y="5795963"/>
                <a:ext cx="160020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𝐷𝑒𝑐</m:t>
                      </m:r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(∙,</m:t>
                      </m:r>
                      <m:sSub>
                        <m:sSubPr>
                          <m:ctrlP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0" name="TextBox 22">
                <a:extLst>
                  <a:ext uri="{FF2B5EF4-FFF2-40B4-BE49-F238E27FC236}">
                    <a16:creationId xmlns:a16="http://schemas.microsoft.com/office/drawing/2014/main" id="{DE7B3002-DA13-DA48-ABBD-07FA63952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4325" y="5795963"/>
                <a:ext cx="1600200" cy="40005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617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12">
            <a:extLst>
              <a:ext uri="{FF2B5EF4-FFF2-40B4-BE49-F238E27FC236}">
                <a16:creationId xmlns:a16="http://schemas.microsoft.com/office/drawing/2014/main" id="{F1EF1C86-5CA8-704C-8639-9BE44ED24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443038"/>
            <a:ext cx="4743450" cy="1731962"/>
          </a:xfrm>
          <a:prstGeom prst="triangle">
            <a:avLst>
              <a:gd name="adj" fmla="val 50000"/>
            </a:avLst>
          </a:prstGeom>
          <a:solidFill>
            <a:schemeClr val="accent1">
              <a:alpha val="4117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8131" name="Line 27">
            <a:extLst>
              <a:ext uri="{FF2B5EF4-FFF2-40B4-BE49-F238E27FC236}">
                <a16:creationId xmlns:a16="http://schemas.microsoft.com/office/drawing/2014/main" id="{2C5243A3-E505-3041-AEBD-72A0BE4933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2" name="Line 28">
            <a:extLst>
              <a:ext uri="{FF2B5EF4-FFF2-40B4-BE49-F238E27FC236}">
                <a16:creationId xmlns:a16="http://schemas.microsoft.com/office/drawing/2014/main" id="{3EFEA0E4-8E66-EC48-8709-33F8C8B5F8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739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3" name="Line 29">
            <a:extLst>
              <a:ext uri="{FF2B5EF4-FFF2-40B4-BE49-F238E27FC236}">
                <a16:creationId xmlns:a16="http://schemas.microsoft.com/office/drawing/2014/main" id="{BDA1007B-4DFD-C544-9F0B-F956AD2669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7138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4" name="Line 30">
            <a:extLst>
              <a:ext uri="{FF2B5EF4-FFF2-40B4-BE49-F238E27FC236}">
                <a16:creationId xmlns:a16="http://schemas.microsoft.com/office/drawing/2014/main" id="{F5578ED8-B8BE-8945-B307-4A8253700A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5" name="Line 31">
            <a:extLst>
              <a:ext uri="{FF2B5EF4-FFF2-40B4-BE49-F238E27FC236}">
                <a16:creationId xmlns:a16="http://schemas.microsoft.com/office/drawing/2014/main" id="{A9EFC621-E1D5-6D46-BD9D-DA14692011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83675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6" name="Line 32">
            <a:extLst>
              <a:ext uri="{FF2B5EF4-FFF2-40B4-BE49-F238E27FC236}">
                <a16:creationId xmlns:a16="http://schemas.microsoft.com/office/drawing/2014/main" id="{BA7518E3-4257-8542-87D7-1E9D4A966C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8691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7" name="Line 33">
            <a:extLst>
              <a:ext uri="{FF2B5EF4-FFF2-40B4-BE49-F238E27FC236}">
                <a16:creationId xmlns:a16="http://schemas.microsoft.com/office/drawing/2014/main" id="{383AA155-5372-B94F-B1ED-651CCCDA02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88563" y="31750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38" name="Line 30">
            <a:extLst>
              <a:ext uri="{FF2B5EF4-FFF2-40B4-BE49-F238E27FC236}">
                <a16:creationId xmlns:a16="http://schemas.microsoft.com/office/drawing/2014/main" id="{B634C5F7-CB98-5F43-9BDF-A31FBAED64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8650" y="11938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48139" name="Group 1">
            <a:extLst>
              <a:ext uri="{FF2B5EF4-FFF2-40B4-BE49-F238E27FC236}">
                <a16:creationId xmlns:a16="http://schemas.microsoft.com/office/drawing/2014/main" id="{43998791-25DC-DD48-9A8E-AE446D40BA6C}"/>
              </a:ext>
            </a:extLst>
          </p:cNvPr>
          <p:cNvGrpSpPr>
            <a:grpSpLocks/>
          </p:cNvGrpSpPr>
          <p:nvPr/>
        </p:nvGrpSpPr>
        <p:grpSpPr bwMode="auto">
          <a:xfrm>
            <a:off x="7820026" y="2209800"/>
            <a:ext cx="1019175" cy="990600"/>
            <a:chOff x="4143375" y="2159001"/>
            <a:chExt cx="1019175" cy="990600"/>
          </a:xfrm>
        </p:grpSpPr>
        <p:sp>
          <p:nvSpPr>
            <p:cNvPr id="48193" name="Line 19">
              <a:extLst>
                <a:ext uri="{FF2B5EF4-FFF2-40B4-BE49-F238E27FC236}">
                  <a16:creationId xmlns:a16="http://schemas.microsoft.com/office/drawing/2014/main" id="{A72C9DB1-F27D-F84B-BB05-5D0607783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4" name="Line 20">
              <a:extLst>
                <a:ext uri="{FF2B5EF4-FFF2-40B4-BE49-F238E27FC236}">
                  <a16:creationId xmlns:a16="http://schemas.microsoft.com/office/drawing/2014/main" id="{864BB8EE-3C50-8242-B400-BA4B16A660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2997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5" name="AutoShape 22">
              <a:extLst>
                <a:ext uri="{FF2B5EF4-FFF2-40B4-BE49-F238E27FC236}">
                  <a16:creationId xmlns:a16="http://schemas.microsoft.com/office/drawing/2014/main" id="{BE550C24-F529-5A44-A042-32E418DE73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57675" y="2244726"/>
              <a:ext cx="609600" cy="838200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96" name="TextBox 22">
              <a:extLst>
                <a:ext uri="{FF2B5EF4-FFF2-40B4-BE49-F238E27FC236}">
                  <a16:creationId xmlns:a16="http://schemas.microsoft.com/office/drawing/2014/main" id="{778AB71E-E978-DA42-A594-A09A133F5D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0550" y="2436006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97" name="Line 20">
              <a:extLst>
                <a:ext uri="{FF2B5EF4-FFF2-40B4-BE49-F238E27FC236}">
                  <a16:creationId xmlns:a16="http://schemas.microsoft.com/office/drawing/2014/main" id="{8D456281-D75D-8944-A3F1-6730EDFC0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2950" y="21590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140" name="Text Box 9">
            <a:extLst>
              <a:ext uri="{FF2B5EF4-FFF2-40B4-BE49-F238E27FC236}">
                <a16:creationId xmlns:a16="http://schemas.microsoft.com/office/drawing/2014/main" id="{50396DC9-FB3A-934A-AD37-DA00055E6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657601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>
                <a:solidFill>
                  <a:srgbClr val="0000FF"/>
                </a:solidFill>
              </a:rPr>
              <a:t>Each Gate g → Gadget G:</a:t>
            </a:r>
            <a:endParaRPr lang="en-US" altLang="en-US" sz="2800">
              <a:solidFill>
                <a:srgbClr val="0000FF"/>
              </a:solidFill>
            </a:endParaRPr>
          </a:p>
        </p:txBody>
      </p:sp>
      <p:grpSp>
        <p:nvGrpSpPr>
          <p:cNvPr id="48141" name="Group 91">
            <a:extLst>
              <a:ext uri="{FF2B5EF4-FFF2-40B4-BE49-F238E27FC236}">
                <a16:creationId xmlns:a16="http://schemas.microsoft.com/office/drawing/2014/main" id="{8E84C752-B030-A149-A39B-AA5B1A29B632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181600"/>
            <a:ext cx="990600" cy="914400"/>
            <a:chOff x="4143375" y="1981201"/>
            <a:chExt cx="990600" cy="914400"/>
          </a:xfrm>
        </p:grpSpPr>
        <p:sp>
          <p:nvSpPr>
            <p:cNvPr id="48188" name="Line 19">
              <a:extLst>
                <a:ext uri="{FF2B5EF4-FFF2-40B4-BE49-F238E27FC236}">
                  <a16:creationId xmlns:a16="http://schemas.microsoft.com/office/drawing/2014/main" id="{0CB60C3E-6FA7-8140-8283-E7B6D40BC4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400" y="2743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9" name="Line 20">
              <a:extLst>
                <a:ext uri="{FF2B5EF4-FFF2-40B4-BE49-F238E27FC236}">
                  <a16:creationId xmlns:a16="http://schemas.microsoft.com/office/drawing/2014/main" id="{516954F1-F165-364F-8CB7-A21C65381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600" y="2743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90" name="AutoShape 22">
              <a:extLst>
                <a:ext uri="{FF2B5EF4-FFF2-40B4-BE49-F238E27FC236}">
                  <a16:creationId xmlns:a16="http://schemas.microsoft.com/office/drawing/2014/main" id="{A65CDDC9-BBF6-3245-9B01-EBBE8E07C5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57675" y="1990726"/>
              <a:ext cx="609600" cy="838200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91" name="TextBox 22">
              <a:extLst>
                <a:ext uri="{FF2B5EF4-FFF2-40B4-BE49-F238E27FC236}">
                  <a16:creationId xmlns:a16="http://schemas.microsoft.com/office/drawing/2014/main" id="{24C319BB-C226-1143-8946-5EAC82A09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5" y="2182006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92" name="Line 20">
              <a:extLst>
                <a:ext uri="{FF2B5EF4-FFF2-40B4-BE49-F238E27FC236}">
                  <a16:creationId xmlns:a16="http://schemas.microsoft.com/office/drawing/2014/main" id="{0F831E16-A10B-0043-A27E-D3E778D16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0" y="1981201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142" name="Text Box 9">
            <a:extLst>
              <a:ext uri="{FF2B5EF4-FFF2-40B4-BE49-F238E27FC236}">
                <a16:creationId xmlns:a16="http://schemas.microsoft.com/office/drawing/2014/main" id="{B83116FB-E283-9D43-891C-02FD80C6E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26" y="142875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>
                <a:solidFill>
                  <a:srgbClr val="000000"/>
                </a:solidFill>
              </a:rPr>
              <a:t>Assume Circular Security:</a:t>
            </a:r>
          </a:p>
        </p:txBody>
      </p:sp>
      <p:grpSp>
        <p:nvGrpSpPr>
          <p:cNvPr id="99" name="Group 47">
            <a:extLst>
              <a:ext uri="{FF2B5EF4-FFF2-40B4-BE49-F238E27FC236}">
                <a16:creationId xmlns:a16="http://schemas.microsoft.com/office/drawing/2014/main" id="{47780963-6F6C-8644-B41F-02761A56A18D}"/>
              </a:ext>
            </a:extLst>
          </p:cNvPr>
          <p:cNvGrpSpPr>
            <a:grpSpLocks/>
          </p:cNvGrpSpPr>
          <p:nvPr/>
        </p:nvGrpSpPr>
        <p:grpSpPr bwMode="auto">
          <a:xfrm>
            <a:off x="6311900" y="4190999"/>
            <a:ext cx="3136900" cy="2209800"/>
            <a:chOff x="3736" y="2400"/>
            <a:chExt cx="1976" cy="1392"/>
          </a:xfrm>
        </p:grpSpPr>
        <p:sp>
          <p:nvSpPr>
            <p:cNvPr id="48157" name="AutoShape 12">
              <a:extLst>
                <a:ext uri="{FF2B5EF4-FFF2-40B4-BE49-F238E27FC236}">
                  <a16:creationId xmlns:a16="http://schemas.microsoft.com/office/drawing/2014/main" id="{090044A0-112A-CD47-ACDF-628CBFD30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976"/>
              <a:ext cx="960" cy="720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58" name="AutoShape 13">
              <a:extLst>
                <a:ext uri="{FF2B5EF4-FFF2-40B4-BE49-F238E27FC236}">
                  <a16:creationId xmlns:a16="http://schemas.microsoft.com/office/drawing/2014/main" id="{933F66AC-0A74-B14A-AED4-D0521EC5C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76"/>
              <a:ext cx="960" cy="720"/>
            </a:xfrm>
            <a:prstGeom prst="triangle">
              <a:avLst>
                <a:gd name="adj" fmla="val 50000"/>
              </a:avLst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48159" name="Line 15">
              <a:extLst>
                <a:ext uri="{FF2B5EF4-FFF2-40B4-BE49-F238E27FC236}">
                  <a16:creationId xmlns:a16="http://schemas.microsoft.com/office/drawing/2014/main" id="{9779DE0B-72B6-9A42-832C-AC7E91071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0" name="Line 16">
              <a:extLst>
                <a:ext uri="{FF2B5EF4-FFF2-40B4-BE49-F238E27FC236}">
                  <a16:creationId xmlns:a16="http://schemas.microsoft.com/office/drawing/2014/main" id="{E4190B17-84B1-F740-B2A0-A73603CC1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8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1" name="Line 17">
              <a:extLst>
                <a:ext uri="{FF2B5EF4-FFF2-40B4-BE49-F238E27FC236}">
                  <a16:creationId xmlns:a16="http://schemas.microsoft.com/office/drawing/2014/main" id="{40A82C37-43F9-5F46-8372-85595F723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4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2" name="Line 18">
              <a:extLst>
                <a:ext uri="{FF2B5EF4-FFF2-40B4-BE49-F238E27FC236}">
                  <a16:creationId xmlns:a16="http://schemas.microsoft.com/office/drawing/2014/main" id="{18E8D3DC-5F30-B949-988A-0B717199AE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00" y="288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3" name="Line 19">
              <a:extLst>
                <a:ext uri="{FF2B5EF4-FFF2-40B4-BE49-F238E27FC236}">
                  <a16:creationId xmlns:a16="http://schemas.microsoft.com/office/drawing/2014/main" id="{E54DA1E7-3003-EA44-92E3-D9ACC857A2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6" y="27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4" name="Line 20">
              <a:extLst>
                <a:ext uri="{FF2B5EF4-FFF2-40B4-BE49-F238E27FC236}">
                  <a16:creationId xmlns:a16="http://schemas.microsoft.com/office/drawing/2014/main" id="{190074CA-1EB0-D341-A349-136622822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7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65" name="AutoShape 22">
              <a:extLst>
                <a:ext uri="{FF2B5EF4-FFF2-40B4-BE49-F238E27FC236}">
                  <a16:creationId xmlns:a16="http://schemas.microsoft.com/office/drawing/2014/main" id="{74A6F445-9CC1-A441-97FC-AE544846F5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536" y="2328"/>
              <a:ext cx="384" cy="528"/>
            </a:xfrm>
            <a:prstGeom prst="flowChartDelay">
              <a:avLst/>
            </a:prstGeom>
            <a:solidFill>
              <a:srgbClr val="FFFF99">
                <a:alpha val="41176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166" name="TextBox 22">
                  <a:extLst>
                    <a:ext uri="{FF2B5EF4-FFF2-40B4-BE49-F238E27FC236}">
                      <a16:creationId xmlns:a16="http://schemas.microsoft.com/office/drawing/2014/main" id="{1477ED83-CE77-D947-AAAB-1795C8D6B8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6" y="3392"/>
                  <a:ext cx="100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𝐷𝑒𝑐</m:t>
                        </m:r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(∙,</m:t>
                        </m:r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en-US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8166" name="TextBox 22">
                  <a:extLst>
                    <a:ext uri="{FF2B5EF4-FFF2-40B4-BE49-F238E27FC236}">
                      <a16:creationId xmlns:a16="http://schemas.microsoft.com/office/drawing/2014/main" id="{1477ED83-CE77-D947-AAAB-1795C8D6B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36" y="3392"/>
                  <a:ext cx="1008" cy="252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168" name="TextBox 22">
              <a:extLst>
                <a:ext uri="{FF2B5EF4-FFF2-40B4-BE49-F238E27FC236}">
                  <a16:creationId xmlns:a16="http://schemas.microsoft.com/office/drawing/2014/main" id="{AD61ED9D-E31A-954D-92F1-6C7E4D804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448"/>
              <a:ext cx="4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240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48169" name="Line 27">
              <a:extLst>
                <a:ext uri="{FF2B5EF4-FFF2-40B4-BE49-F238E27FC236}">
                  <a16:creationId xmlns:a16="http://schemas.microsoft.com/office/drawing/2014/main" id="{0662ED6C-7184-F440-BF37-43715F9B4A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0" name="Line 28">
              <a:extLst>
                <a:ext uri="{FF2B5EF4-FFF2-40B4-BE49-F238E27FC236}">
                  <a16:creationId xmlns:a16="http://schemas.microsoft.com/office/drawing/2014/main" id="{CA99D867-5715-BA44-B03B-8A21100402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1" name="Line 29">
              <a:extLst>
                <a:ext uri="{FF2B5EF4-FFF2-40B4-BE49-F238E27FC236}">
                  <a16:creationId xmlns:a16="http://schemas.microsoft.com/office/drawing/2014/main" id="{8A7D9B66-E141-BC40-B155-D6889F69C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2" name="Line 30">
              <a:extLst>
                <a:ext uri="{FF2B5EF4-FFF2-40B4-BE49-F238E27FC236}">
                  <a16:creationId xmlns:a16="http://schemas.microsoft.com/office/drawing/2014/main" id="{0A39DDC5-9DDC-3743-B61C-768E79E1C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3" name="Line 31">
              <a:extLst>
                <a:ext uri="{FF2B5EF4-FFF2-40B4-BE49-F238E27FC236}">
                  <a16:creationId xmlns:a16="http://schemas.microsoft.com/office/drawing/2014/main" id="{492C13BE-A89B-AD4B-91DC-F9D2C56729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4" name="Line 32">
              <a:extLst>
                <a:ext uri="{FF2B5EF4-FFF2-40B4-BE49-F238E27FC236}">
                  <a16:creationId xmlns:a16="http://schemas.microsoft.com/office/drawing/2014/main" id="{4718287D-F88D-3F48-BD84-E9EFCD34C3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5" name="Line 33">
              <a:extLst>
                <a:ext uri="{FF2B5EF4-FFF2-40B4-BE49-F238E27FC236}">
                  <a16:creationId xmlns:a16="http://schemas.microsoft.com/office/drawing/2014/main" id="{7744B8B6-CF4F-F442-B286-621921533E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6" name="Line 34">
              <a:extLst>
                <a:ext uri="{FF2B5EF4-FFF2-40B4-BE49-F238E27FC236}">
                  <a16:creationId xmlns:a16="http://schemas.microsoft.com/office/drawing/2014/main" id="{B36B7F5B-F9FF-6A4D-A2F0-28405D4C1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7" name="Line 35">
              <a:extLst>
                <a:ext uri="{FF2B5EF4-FFF2-40B4-BE49-F238E27FC236}">
                  <a16:creationId xmlns:a16="http://schemas.microsoft.com/office/drawing/2014/main" id="{0C69EF97-4CBB-FE4B-8F81-E80DB93A1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8" name="Line 36">
              <a:extLst>
                <a:ext uri="{FF2B5EF4-FFF2-40B4-BE49-F238E27FC236}">
                  <a16:creationId xmlns:a16="http://schemas.microsoft.com/office/drawing/2014/main" id="{87F72663-C7A1-AC43-9957-D4E48B8907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79" name="Line 37">
              <a:extLst>
                <a:ext uri="{FF2B5EF4-FFF2-40B4-BE49-F238E27FC236}">
                  <a16:creationId xmlns:a16="http://schemas.microsoft.com/office/drawing/2014/main" id="{878FD9CC-4DC2-E74E-BE38-4E3521E31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4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0" name="Line 38">
              <a:extLst>
                <a:ext uri="{FF2B5EF4-FFF2-40B4-BE49-F238E27FC236}">
                  <a16:creationId xmlns:a16="http://schemas.microsoft.com/office/drawing/2014/main" id="{866579BB-34B2-CE4B-B022-BC8DD7B4B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1" name="Line 39">
              <a:extLst>
                <a:ext uri="{FF2B5EF4-FFF2-40B4-BE49-F238E27FC236}">
                  <a16:creationId xmlns:a16="http://schemas.microsoft.com/office/drawing/2014/main" id="{57999DD3-4BC3-4B4A-AFD6-F67DD0937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2" name="Line 40">
              <a:extLst>
                <a:ext uri="{FF2B5EF4-FFF2-40B4-BE49-F238E27FC236}">
                  <a16:creationId xmlns:a16="http://schemas.microsoft.com/office/drawing/2014/main" id="{A23FBB69-201B-334C-AA41-69C2FF626B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4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3" name="Line 41">
              <a:extLst>
                <a:ext uri="{FF2B5EF4-FFF2-40B4-BE49-F238E27FC236}">
                  <a16:creationId xmlns:a16="http://schemas.microsoft.com/office/drawing/2014/main" id="{1E427A0C-D790-7D43-8815-53769F6F8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8184" name="Line 42">
              <a:extLst>
                <a:ext uri="{FF2B5EF4-FFF2-40B4-BE49-F238E27FC236}">
                  <a16:creationId xmlns:a16="http://schemas.microsoft.com/office/drawing/2014/main" id="{3B92BC29-96EC-064C-BC43-8DA9AE57C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6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48144" name="Line 20">
            <a:extLst>
              <a:ext uri="{FF2B5EF4-FFF2-40B4-BE49-F238E27FC236}">
                <a16:creationId xmlns:a16="http://schemas.microsoft.com/office/drawing/2014/main" id="{7DB51DD3-F00C-3F45-BCE2-C3D66A4D10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4038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48145" name="TextBox 22">
            <a:extLst>
              <a:ext uri="{FF2B5EF4-FFF2-40B4-BE49-F238E27FC236}">
                <a16:creationId xmlns:a16="http://schemas.microsoft.com/office/drawing/2014/main" id="{E49B5160-A14C-4047-AE33-85A9C9245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6019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8146" name="TextBox 22">
            <a:extLst>
              <a:ext uri="{FF2B5EF4-FFF2-40B4-BE49-F238E27FC236}">
                <a16:creationId xmlns:a16="http://schemas.microsoft.com/office/drawing/2014/main" id="{F3A6F19C-3AA3-454C-B0A3-5C98E015C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019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8147" name="TextBox 22">
            <a:extLst>
              <a:ext uri="{FF2B5EF4-FFF2-40B4-BE49-F238E27FC236}">
                <a16:creationId xmlns:a16="http://schemas.microsoft.com/office/drawing/2014/main" id="{F2D8C43C-9905-684D-9C98-4A1EB368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800601"/>
            <a:ext cx="121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g(a,b)</a:t>
            </a:r>
          </a:p>
        </p:txBody>
      </p:sp>
      <p:sp>
        <p:nvSpPr>
          <p:cNvPr id="48148" name="TextBox 22">
            <a:extLst>
              <a:ext uri="{FF2B5EF4-FFF2-40B4-BE49-F238E27FC236}">
                <a16:creationId xmlns:a16="http://schemas.microsoft.com/office/drawing/2014/main" id="{96CCFAA9-577F-0E49-A81B-4531ABB8D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940" y="6396336"/>
            <a:ext cx="1710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dirty="0" err="1">
                <a:solidFill>
                  <a:srgbClr val="000000"/>
                </a:solidFill>
              </a:rPr>
              <a:t>Enc</a:t>
            </a:r>
            <a:r>
              <a:rPr lang="en-US" altLang="en-US" sz="2400" dirty="0">
                <a:solidFill>
                  <a:srgbClr val="000000"/>
                </a:solidFill>
              </a:rPr>
              <a:t>(</a:t>
            </a:r>
            <a:r>
              <a:rPr lang="en-US" altLang="en-US" sz="2400" dirty="0" err="1">
                <a:solidFill>
                  <a:srgbClr val="000000"/>
                </a:solidFill>
              </a:rPr>
              <a:t>sk</a:t>
            </a:r>
            <a:r>
              <a:rPr lang="en-US" altLang="en-US" sz="2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8149" name="TextBox 22">
            <a:extLst>
              <a:ext uri="{FF2B5EF4-FFF2-40B4-BE49-F238E27FC236}">
                <a16:creationId xmlns:a16="http://schemas.microsoft.com/office/drawing/2014/main" id="{BEC61F96-6ED2-8C48-BA31-C86D25A1E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724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48150" name="TextBox 22">
            <a:extLst>
              <a:ext uri="{FF2B5EF4-FFF2-40B4-BE49-F238E27FC236}">
                <a16:creationId xmlns:a16="http://schemas.microsoft.com/office/drawing/2014/main" id="{9D914FA7-AA1D-2D40-BA1E-4C9C50FC4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724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48151" name="TextBox 22">
            <a:extLst>
              <a:ext uri="{FF2B5EF4-FFF2-40B4-BE49-F238E27FC236}">
                <a16:creationId xmlns:a16="http://schemas.microsoft.com/office/drawing/2014/main" id="{993F611D-876D-C54C-8121-AC7605B3C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733801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dirty="0" err="1">
                <a:solidFill>
                  <a:srgbClr val="000000"/>
                </a:solidFill>
              </a:rPr>
              <a:t>Enc</a:t>
            </a:r>
            <a:r>
              <a:rPr lang="en-US" altLang="en-US" sz="2400" dirty="0">
                <a:solidFill>
                  <a:srgbClr val="000000"/>
                </a:solidFill>
              </a:rPr>
              <a:t>(g(</a:t>
            </a:r>
            <a:r>
              <a:rPr lang="en-US" altLang="en-US" sz="2400" dirty="0" err="1">
                <a:solidFill>
                  <a:srgbClr val="000000"/>
                </a:solidFill>
              </a:rPr>
              <a:t>a,b</a:t>
            </a:r>
            <a:r>
              <a:rPr lang="en-US" altLang="en-US" sz="2400" dirty="0">
                <a:solidFill>
                  <a:srgbClr val="000000"/>
                </a:solidFill>
              </a:rPr>
              <a:t>))</a:t>
            </a:r>
          </a:p>
        </p:txBody>
      </p:sp>
      <p:sp>
        <p:nvSpPr>
          <p:cNvPr id="48152" name="Rectangle 3">
            <a:extLst>
              <a:ext uri="{FF2B5EF4-FFF2-40B4-BE49-F238E27FC236}">
                <a16:creationId xmlns:a16="http://schemas.microsoft.com/office/drawing/2014/main" id="{EDAAE2CF-AF89-5444-8C4F-E2E5E3C34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Wrap Up: Bootstrapping</a:t>
            </a:r>
          </a:p>
        </p:txBody>
      </p:sp>
      <p:sp>
        <p:nvSpPr>
          <p:cNvPr id="48153" name="TextBox 22">
            <a:extLst>
              <a:ext uri="{FF2B5EF4-FFF2-40B4-BE49-F238E27FC236}">
                <a16:creationId xmlns:a16="http://schemas.microsoft.com/office/drawing/2014/main" id="{273FE807-C5F2-514B-90A1-BFA01A034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295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>
                <a:solidFill>
                  <a:srgbClr val="000000"/>
                </a:solidFill>
              </a:rPr>
              <a:t>Function f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2BD7297-DF06-D642-979D-F5A794EB228C}"/>
              </a:ext>
            </a:extLst>
          </p:cNvPr>
          <p:cNvSpPr/>
          <p:nvPr/>
        </p:nvSpPr>
        <p:spPr>
          <a:xfrm>
            <a:off x="4800600" y="5381626"/>
            <a:ext cx="977900" cy="48577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8155" name="Text Box 9">
            <a:extLst>
              <a:ext uri="{FF2B5EF4-FFF2-40B4-BE49-F238E27FC236}">
                <a16:creationId xmlns:a16="http://schemas.microsoft.com/office/drawing/2014/main" id="{1A840133-E2B5-5043-A135-0AACAAED2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82880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000" dirty="0">
                <a:solidFill>
                  <a:srgbClr val="000000"/>
                </a:solidFill>
              </a:rPr>
              <a:t>Evaluation key is </a:t>
            </a:r>
            <a:r>
              <a:rPr lang="en-US" altLang="en-US" sz="2000" b="1" dirty="0" err="1">
                <a:solidFill>
                  <a:srgbClr val="0000FF"/>
                </a:solidFill>
              </a:rPr>
              <a:t>Enc</a:t>
            </a:r>
            <a:r>
              <a:rPr lang="en-US" altLang="en-US" sz="2000" b="1" baseline="-25000" dirty="0" err="1">
                <a:solidFill>
                  <a:srgbClr val="0000FF"/>
                </a:solidFill>
              </a:rPr>
              <a:t>SK</a:t>
            </a:r>
            <a:r>
              <a:rPr lang="en-US" altLang="en-US" sz="2000" b="1" dirty="0">
                <a:solidFill>
                  <a:srgbClr val="0000FF"/>
                </a:solidFill>
              </a:rPr>
              <a:t>(SK)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48156" name="Line 31">
            <a:extLst>
              <a:ext uri="{FF2B5EF4-FFF2-40B4-BE49-F238E27FC236}">
                <a16:creationId xmlns:a16="http://schemas.microsoft.com/office/drawing/2014/main" id="{6C02ED82-F73A-6D4C-BDA4-860AF6D2A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8200" y="3200400"/>
            <a:ext cx="0" cy="25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22">
                <a:extLst>
                  <a:ext uri="{FF2B5EF4-FFF2-40B4-BE49-F238E27FC236}">
                    <a16:creationId xmlns:a16="http://schemas.microsoft.com/office/drawing/2014/main" id="{DE7B3002-DA13-DA48-ABBD-07FA639523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4325" y="5795963"/>
                <a:ext cx="1600200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𝐷𝑒𝑐</m:t>
                      </m:r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(∙,</m:t>
                      </m:r>
                      <m:sSub>
                        <m:sSubPr>
                          <m:ctrlP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en-US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en-US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2000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70" name="TextBox 22">
                <a:extLst>
                  <a:ext uri="{FF2B5EF4-FFF2-40B4-BE49-F238E27FC236}">
                    <a16:creationId xmlns:a16="http://schemas.microsoft.com/office/drawing/2014/main" id="{DE7B3002-DA13-DA48-ABBD-07FA63952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4325" y="5795963"/>
                <a:ext cx="1600200" cy="400050"/>
              </a:xfrm>
              <a:prstGeom prst="rect">
                <a:avLst/>
              </a:prstGeom>
              <a:blipFill>
                <a:blip r:embed="rId4"/>
                <a:stretch>
                  <a:fillRect b="-156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22">
            <a:extLst>
              <a:ext uri="{FF2B5EF4-FFF2-40B4-BE49-F238E27FC236}">
                <a16:creationId xmlns:a16="http://schemas.microsoft.com/office/drawing/2014/main" id="{B1792F2D-AD87-6845-BAF6-CE6094A7A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5738" y="6391872"/>
            <a:ext cx="17106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dirty="0" err="1">
                <a:solidFill>
                  <a:srgbClr val="000000"/>
                </a:solidFill>
              </a:rPr>
              <a:t>Enc</a:t>
            </a:r>
            <a:r>
              <a:rPr lang="en-US" altLang="en-US" sz="2400" dirty="0">
                <a:solidFill>
                  <a:srgbClr val="000000"/>
                </a:solidFill>
              </a:rPr>
              <a:t>(</a:t>
            </a:r>
            <a:r>
              <a:rPr lang="en-US" altLang="en-US" sz="2400" dirty="0" err="1">
                <a:solidFill>
                  <a:srgbClr val="000000"/>
                </a:solidFill>
              </a:rPr>
              <a:t>sk</a:t>
            </a:r>
            <a:r>
              <a:rPr lang="en-US" altLang="en-US" sz="2400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2930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0" name="Text Box 9">
            <a:extLst>
              <a:ext uri="{FF2B5EF4-FFF2-40B4-BE49-F238E27FC236}">
                <a16:creationId xmlns:a16="http://schemas.microsoft.com/office/drawing/2014/main" id="{50396DC9-FB3A-934A-AD37-DA00055E6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696" y="1700809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Is circular security necessary?</a:t>
            </a:r>
            <a:endParaRPr lang="en-US" altLang="en-US" sz="2800" dirty="0">
              <a:solidFill>
                <a:srgbClr val="0000FF"/>
              </a:solidFill>
            </a:endParaRPr>
          </a:p>
        </p:txBody>
      </p:sp>
      <p:sp>
        <p:nvSpPr>
          <p:cNvPr id="48152" name="Rectangle 3">
            <a:extLst>
              <a:ext uri="{FF2B5EF4-FFF2-40B4-BE49-F238E27FC236}">
                <a16:creationId xmlns:a16="http://schemas.microsoft.com/office/drawing/2014/main" id="{EDAAE2CF-AF89-5444-8C4F-E2E5E3C345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/>
          <a:lstStyle/>
          <a:p>
            <a:r>
              <a:rPr lang="en-US" altLang="en-US" b="1" dirty="0">
                <a:solidFill>
                  <a:srgbClr val="891637"/>
                </a:solidFill>
              </a:rPr>
              <a:t>Major Open Problem</a:t>
            </a:r>
          </a:p>
        </p:txBody>
      </p:sp>
      <p:sp>
        <p:nvSpPr>
          <p:cNvPr id="69" name="Text Box 9">
            <a:extLst>
              <a:ext uri="{FF2B5EF4-FFF2-40B4-BE49-F238E27FC236}">
                <a16:creationId xmlns:a16="http://schemas.microsoft.com/office/drawing/2014/main" id="{48EB89F4-901C-F04E-93D2-B6C512855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9340" y="2638208"/>
            <a:ext cx="10081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(or</a:t>
            </a:r>
            <a:r>
              <a:rPr lang="en-US" altLang="en-US" sz="2800" dirty="0">
                <a:solidFill>
                  <a:srgbClr val="0000FF"/>
                </a:solidFill>
              </a:rPr>
              <a:t>)</a:t>
            </a:r>
            <a:endParaRPr lang="en-US" altLang="en-US" sz="2800" b="1" dirty="0">
              <a:solidFill>
                <a:srgbClr val="0000FF"/>
              </a:solidFill>
            </a:endParaRPr>
          </a:p>
        </p:txBody>
      </p:sp>
      <p:sp>
        <p:nvSpPr>
          <p:cNvPr id="71" name="Text Box 9">
            <a:extLst>
              <a:ext uri="{FF2B5EF4-FFF2-40B4-BE49-F238E27FC236}">
                <a16:creationId xmlns:a16="http://schemas.microsoft.com/office/drawing/2014/main" id="{5340A758-C3F1-4D4A-9F0F-E424841C0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980" y="3589491"/>
            <a:ext cx="74888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defRPr/>
            </a:pPr>
            <a:r>
              <a:rPr lang="en-US" altLang="en-US" sz="2800" b="1" dirty="0">
                <a:solidFill>
                  <a:srgbClr val="0000FF"/>
                </a:solidFill>
              </a:rPr>
              <a:t>Fully Homomorphic Encryption from LWE</a:t>
            </a:r>
            <a:endParaRPr lang="en-US" altLang="en-US" sz="2800" dirty="0">
              <a:solidFill>
                <a:srgbClr val="0000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1FF11-FC41-2647-9C17-91BB7927035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28" b="25912"/>
          <a:stretch/>
        </p:blipFill>
        <p:spPr>
          <a:xfrm>
            <a:off x="4152900" y="4738390"/>
            <a:ext cx="3886200" cy="170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EED7-BF9B-96DB-483B-7FA24A60AB7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58080C"/>
          </a:solidFill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Subsequent Work: FHE in Practice</a:t>
            </a: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A9C4061A-B84C-FE46-A15B-C0BE120E8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1444" y="1695398"/>
            <a:ext cx="6418838" cy="3924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68580" tIns="34290" rIns="68580" bIns="3429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>
              <a:defRPr/>
            </a:pPr>
            <a:r>
              <a:rPr lang="en-US" altLang="en-US" sz="2100" b="1" dirty="0">
                <a:solidFill>
                  <a:srgbClr val="000000"/>
                </a:solidFill>
                <a:latin typeface="Calibri"/>
                <a:cs typeface="Calibri"/>
              </a:rPr>
              <a:t>[Gentry-Halevi-Smart’12]:  “FHE with Polylog Overhead” </a:t>
            </a:r>
            <a:endParaRPr lang="en-US" altLang="en-US" sz="21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03561E76-9D1B-174D-9A98-D56B9CA98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925" y="2215072"/>
            <a:ext cx="45045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>
              <a:defRPr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Homomorphic computations “in place”.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4A134D3E-FA8E-644C-82E7-852CECEAD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925" y="2712622"/>
            <a:ext cx="693696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>
              <a:defRPr/>
            </a:pPr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SIMD computation + slot permutations (automorphisms)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3E50777-FFD5-BA47-880B-074866CF80C6}"/>
              </a:ext>
            </a:extLst>
          </p:cNvPr>
          <p:cNvGrpSpPr/>
          <p:nvPr/>
        </p:nvGrpSpPr>
        <p:grpSpPr>
          <a:xfrm>
            <a:off x="8472716" y="1528172"/>
            <a:ext cx="1996776" cy="1244279"/>
            <a:chOff x="9149368" y="2443676"/>
            <a:chExt cx="2662368" cy="1659039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4DD86B7-75BC-594F-B90E-72443721FCAB}"/>
                </a:ext>
              </a:extLst>
            </p:cNvPr>
            <p:cNvGrpSpPr/>
            <p:nvPr/>
          </p:nvGrpSpPr>
          <p:grpSpPr>
            <a:xfrm>
              <a:off x="9149368" y="2645320"/>
              <a:ext cx="2643193" cy="1457395"/>
              <a:chOff x="9315447" y="2772310"/>
              <a:chExt cx="2643193" cy="1457395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192F21E0-C645-314E-9502-8E2DFFB7F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9448130" y="3339417"/>
                <a:ext cx="496693" cy="540519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9956E53A-4F76-C849-A7FE-E207C41C3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11311444" y="3306207"/>
                <a:ext cx="496693" cy="540519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EF00E27F-5811-9C4A-97D0-B179D651E4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1254" r="12881"/>
              <a:stretch/>
            </p:blipFill>
            <p:spPr>
              <a:xfrm rot="5400000">
                <a:off x="10006089" y="3355504"/>
                <a:ext cx="486796" cy="441143"/>
              </a:xfrm>
              <a:prstGeom prst="rect">
                <a:avLst/>
              </a:prstGeom>
            </p:spPr>
          </p:pic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B5AE75F-B312-F940-91B8-CF1DAEFF2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80975" y="3225279"/>
                <a:ext cx="0" cy="2037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1B71B8E-F7D7-C042-A596-2F17699AF7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76239" y="3232218"/>
                <a:ext cx="221479" cy="1634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118C320-58E8-0D4F-A0F4-984B7DCE71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6287" y="3218669"/>
                <a:ext cx="0" cy="2037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5CD47FF3-AC95-6C45-AB85-F45D02C220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57263" y="3174243"/>
                <a:ext cx="202430" cy="18622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D740E86-7C39-0E42-82F4-C06C1A0240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3869" y="3203209"/>
                <a:ext cx="625336" cy="13821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1FE0D96-D54C-2343-AD99-5E0C41B2B6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57425" y="3191445"/>
                <a:ext cx="15464" cy="15682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DE50FB7-C1B5-5C40-AFBA-DA50D0C12C2F}"/>
                  </a:ext>
                </a:extLst>
              </p:cNvPr>
              <p:cNvSpPr/>
              <p:nvPr/>
            </p:nvSpPr>
            <p:spPr>
              <a:xfrm>
                <a:off x="9315447" y="2828200"/>
                <a:ext cx="2571753" cy="4020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CCEB5FA-3E43-C844-896E-8D19CFCF2C8A}"/>
                  </a:ext>
                </a:extLst>
              </p:cNvPr>
              <p:cNvSpPr/>
              <p:nvPr/>
            </p:nvSpPr>
            <p:spPr>
              <a:xfrm>
                <a:off x="9370828" y="3827622"/>
                <a:ext cx="2571753" cy="4020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E6B822CE-F7F5-F444-97BA-14B0ABA4E32C}"/>
                  </a:ext>
                </a:extLst>
              </p:cNvPr>
              <p:cNvGrpSpPr/>
              <p:nvPr/>
            </p:nvGrpSpPr>
            <p:grpSpPr>
              <a:xfrm>
                <a:off x="9386886" y="2772310"/>
                <a:ext cx="2571753" cy="377660"/>
                <a:chOff x="7743824" y="3592133"/>
                <a:chExt cx="2571753" cy="3776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88E11086-2D3C-024E-BB6D-CB3A8C103D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43824" y="3600460"/>
                      <a:ext cx="571501" cy="3693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88E11086-2D3C-024E-BB6D-CB3A8C103D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43824" y="3600460"/>
                      <a:ext cx="571501" cy="36933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534E64B8-1152-EC42-9B88-A368A9589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58175" y="3600460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534E64B8-1152-EC42-9B88-A368A95898B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58175" y="3600460"/>
                      <a:ext cx="571501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17DC2B3A-CB01-B942-9565-5365CBC063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43951" y="3600460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17DC2B3A-CB01-B942-9565-5365CBC063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43951" y="3600460"/>
                      <a:ext cx="571501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4FA898A0-C63F-774C-94BE-49AB0DBC24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4076" y="3599072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4FA898A0-C63F-774C-94BE-49AB0DBC247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44076" y="3599072"/>
                      <a:ext cx="571501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86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7B53395A-9C2D-914F-9CC2-BB3224C60E8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58301" y="3592133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7B53395A-9C2D-914F-9CC2-BB3224C60E8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58301" y="3592133"/>
                      <a:ext cx="571501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FBA0485B-057A-AE42-B6FA-7C17CBB06F0E}"/>
                  </a:ext>
                </a:extLst>
              </p:cNvPr>
              <p:cNvGrpSpPr/>
              <p:nvPr/>
            </p:nvGrpSpPr>
            <p:grpSpPr>
              <a:xfrm>
                <a:off x="9386887" y="3783823"/>
                <a:ext cx="2571753" cy="377660"/>
                <a:chOff x="7743824" y="3592133"/>
                <a:chExt cx="2571753" cy="37766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5F758E59-55E4-3F4F-8D9F-A9F15A8651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43824" y="3600460"/>
                      <a:ext cx="571501" cy="36933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5F758E59-55E4-3F4F-8D9F-A9F15A8651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43824" y="3600460"/>
                      <a:ext cx="571501" cy="369333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b="-26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5858D4CF-0257-4E46-B7EE-F50B915443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58175" y="3600460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5858D4CF-0257-4E46-B7EE-F50B9154438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258175" y="3600460"/>
                      <a:ext cx="571501" cy="369332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b="-26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18ACCDAF-499E-3E4B-84B2-B5DC63B023C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43951" y="3600460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18ACCDAF-499E-3E4B-84B2-B5DC63B023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43951" y="3600460"/>
                      <a:ext cx="571501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b="-26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2E69A862-A762-084E-B144-38C5D74DA5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744076" y="3599072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2E69A862-A762-084E-B144-38C5D74DA5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744076" y="3599072"/>
                      <a:ext cx="571501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26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36F901E5-CE8C-BF41-B4F0-4F99F31B10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58301" y="3592133"/>
                      <a:ext cx="5715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68580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</m:oMath>
                        </m:oMathPara>
                      </a14:m>
                      <a:endParaRPr lang="en-US" dirty="0">
                        <a:solidFill>
                          <a:prstClr val="black"/>
                        </a:solidFill>
                        <a:latin typeface="Calibri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36F901E5-CE8C-BF41-B4F0-4F99F31B10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58301" y="3592133"/>
                      <a:ext cx="571501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743F3B5-D1DB-3B43-8D49-1B5986080A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86" t="16960" r="21939" b="17858"/>
            <a:stretch/>
          </p:blipFill>
          <p:spPr>
            <a:xfrm>
              <a:off x="11560672" y="2443676"/>
              <a:ext cx="251064" cy="2950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7CBE93C-2EBC-E142-9E1E-FA6DBC4657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86" t="16960" r="21939" b="17858"/>
            <a:stretch/>
          </p:blipFill>
          <p:spPr>
            <a:xfrm>
              <a:off x="11556865" y="3498626"/>
              <a:ext cx="235695" cy="276945"/>
            </a:xfrm>
            <a:prstGeom prst="rect">
              <a:avLst/>
            </a:prstGeom>
          </p:spPr>
        </p:pic>
      </p:grpSp>
      <p:sp>
        <p:nvSpPr>
          <p:cNvPr id="58" name="Rectangle 4">
            <a:extLst>
              <a:ext uri="{FF2B5EF4-FFF2-40B4-BE49-F238E27FC236}">
                <a16:creationId xmlns:a16="http://schemas.microsoft.com/office/drawing/2014/main" id="{12117C82-5BFA-B844-8134-EC0DFEFDD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04" y="3325767"/>
            <a:ext cx="7088007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>
              <a:defRPr/>
            </a:pPr>
            <a:r>
              <a:rPr lang="en-US" altLang="en-US" sz="2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en-US" sz="21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HELib</a:t>
            </a:r>
            <a:r>
              <a:rPr lang="en-US" altLang="en-US" sz="2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”: </a:t>
            </a:r>
            <a:endParaRPr lang="en-US" altLang="en-US" sz="21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45DD88-0226-E942-AB29-4A81147C5C85}"/>
              </a:ext>
            </a:extLst>
          </p:cNvPr>
          <p:cNvSpPr/>
          <p:nvPr/>
        </p:nvSpPr>
        <p:spPr>
          <a:xfrm>
            <a:off x="2729102" y="3331389"/>
            <a:ext cx="4747903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first homomorphic encryption library.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1BAA12C-59D7-3342-B746-89779AF83AEB}"/>
              </a:ext>
            </a:extLst>
          </p:cNvPr>
          <p:cNvSpPr/>
          <p:nvPr/>
        </p:nvSpPr>
        <p:spPr>
          <a:xfrm>
            <a:off x="3114365" y="4442085"/>
            <a:ext cx="1080120" cy="429585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PALISADE</a:t>
            </a:r>
            <a:endParaRPr lang="en-US" sz="1350" kern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8F1FB0FA-09C4-F64D-9092-1A67199F14C0}"/>
              </a:ext>
            </a:extLst>
          </p:cNvPr>
          <p:cNvSpPr/>
          <p:nvPr/>
        </p:nvSpPr>
        <p:spPr>
          <a:xfrm>
            <a:off x="7081720" y="4442085"/>
            <a:ext cx="790568" cy="454514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TFHE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64227F3-4EC3-0C4B-A322-0280589CEC0D}"/>
              </a:ext>
            </a:extLst>
          </p:cNvPr>
          <p:cNvSpPr/>
          <p:nvPr/>
        </p:nvSpPr>
        <p:spPr>
          <a:xfrm>
            <a:off x="1867323" y="4425030"/>
            <a:ext cx="774835" cy="42820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SEAL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3168EE1-9E82-0546-B5BC-54832C77984A}"/>
              </a:ext>
            </a:extLst>
          </p:cNvPr>
          <p:cNvSpPr/>
          <p:nvPr/>
        </p:nvSpPr>
        <p:spPr>
          <a:xfrm>
            <a:off x="4621573" y="4442084"/>
            <a:ext cx="907819" cy="435536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HEEAN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78E2A19-FB44-C749-99A3-A61EF0BDCEF8}"/>
              </a:ext>
            </a:extLst>
          </p:cNvPr>
          <p:cNvSpPr/>
          <p:nvPr/>
        </p:nvSpPr>
        <p:spPr>
          <a:xfrm>
            <a:off x="5904596" y="4443434"/>
            <a:ext cx="875265" cy="434187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FHEW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870B852C-1F2A-A040-8015-10223B80C1D7}"/>
              </a:ext>
            </a:extLst>
          </p:cNvPr>
          <p:cNvSpPr/>
          <p:nvPr/>
        </p:nvSpPr>
        <p:spPr>
          <a:xfrm>
            <a:off x="1887588" y="5094652"/>
            <a:ext cx="943089" cy="42820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>
                <a:solidFill>
                  <a:srgbClr val="000000"/>
                </a:solidFill>
                <a:latin typeface="Arial"/>
                <a:cs typeface="Arial"/>
              </a:rPr>
              <a:t>Concrete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4B6E978-EF28-7C43-9782-A6811943D2F4}"/>
              </a:ext>
            </a:extLst>
          </p:cNvPr>
          <p:cNvSpPr/>
          <p:nvPr/>
        </p:nvSpPr>
        <p:spPr>
          <a:xfrm>
            <a:off x="3182881" y="5094652"/>
            <a:ext cx="943089" cy="42820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 err="1">
                <a:solidFill>
                  <a:srgbClr val="000000"/>
                </a:solidFill>
                <a:latin typeface="Arial"/>
                <a:cs typeface="Arial"/>
              </a:rPr>
              <a:t>NFLLib</a:t>
            </a:r>
            <a:endParaRPr lang="en-US" sz="135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158C98CA-656A-DF43-A9B6-8459B4CC518E}"/>
                  </a:ext>
                </a:extLst>
              </p:cNvPr>
              <p:cNvSpPr/>
              <p:nvPr/>
            </p:nvSpPr>
            <p:spPr>
              <a:xfrm>
                <a:off x="4621572" y="5094652"/>
                <a:ext cx="790568" cy="428201"/>
              </a:xfrm>
              <a:prstGeom prst="roundRect">
                <a:avLst/>
              </a:prstGeom>
              <a:solidFill>
                <a:srgbClr val="FFFFFF"/>
              </a:solid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rtlCol="0" anchor="ctr"/>
              <a:lstStyle/>
              <a:p>
                <a:pPr algn="ctr" defTabSz="6858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35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Λ</m:t>
                      </m:r>
                      <m:r>
                        <a:rPr lang="el-GR" sz="135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∘</m:t>
                      </m:r>
                      <m:r>
                        <a:rPr lang="el-GR" sz="1350" i="1" kern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/>
                        </a:rPr>
                        <m:t>𝜆</m:t>
                      </m:r>
                    </m:oMath>
                  </m:oMathPara>
                </a14:m>
                <a:endParaRPr lang="en-US" sz="1350" kern="0" dirty="0">
                  <a:solidFill>
                    <a:srgbClr val="000000"/>
                  </a:solidFill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158C98CA-656A-DF43-A9B6-8459B4CC5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572" y="5094652"/>
                <a:ext cx="790568" cy="428201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9525" cap="flat" cmpd="sng" algn="ctr">
                <a:solidFill>
                  <a:srgbClr val="00000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36940E7-AEB6-874C-8797-A69A74087112}"/>
              </a:ext>
            </a:extLst>
          </p:cNvPr>
          <p:cNvSpPr/>
          <p:nvPr/>
        </p:nvSpPr>
        <p:spPr>
          <a:xfrm>
            <a:off x="5904596" y="5094652"/>
            <a:ext cx="790568" cy="42820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 err="1">
                <a:solidFill>
                  <a:srgbClr val="000000"/>
                </a:solidFill>
                <a:latin typeface="Arial"/>
                <a:cs typeface="Arial"/>
              </a:rPr>
              <a:t>Lattigo</a:t>
            </a:r>
            <a:endParaRPr lang="en-US" sz="135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3375A6E9-B46A-5D4A-9678-12C53C667BE0}"/>
              </a:ext>
            </a:extLst>
          </p:cNvPr>
          <p:cNvSpPr/>
          <p:nvPr/>
        </p:nvSpPr>
        <p:spPr>
          <a:xfrm>
            <a:off x="7051388" y="5094652"/>
            <a:ext cx="790568" cy="42820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 defTabSz="685800">
              <a:defRPr/>
            </a:pPr>
            <a:r>
              <a:rPr lang="en-US" sz="1350" kern="0" dirty="0" err="1">
                <a:solidFill>
                  <a:srgbClr val="000000"/>
                </a:solidFill>
                <a:latin typeface="Arial"/>
                <a:cs typeface="Arial"/>
              </a:rPr>
              <a:t>cuFHE</a:t>
            </a:r>
            <a:endParaRPr lang="en-US" sz="135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538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60" grpId="0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EED7-BF9B-96DB-483B-7FA24A60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6399"/>
            <a:ext cx="9144000" cy="1275159"/>
          </a:xfrm>
          <a:solidFill>
            <a:srgbClr val="58080C"/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FHE Bounty #1: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A035FBCB-F6AA-2C48-A622-AEBFFDBE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418255"/>
            <a:ext cx="7497367" cy="407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have “leveled” FHE from the LWE assumption </a:t>
            </a: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DD80F00C-07BE-1D4C-AE10-FFFB4B934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580" y="3955773"/>
            <a:ext cx="7347528" cy="407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“unbounded” 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FHE under a 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“circular secure” </a:t>
            </a:r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LWE assumption.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4137D473-08B6-5447-A102-391B2DF19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4150" y="3021807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11" name="Rectangle 23">
                <a:extLst>
                  <a:ext uri="{FF2B5EF4-FFF2-40B4-BE49-F238E27FC236}">
                    <a16:creationId xmlns:a16="http://schemas.microsoft.com/office/drawing/2014/main" id="{4137D473-08B6-5447-A102-391B2DF19F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4150" y="3021807"/>
                <a:ext cx="567929" cy="407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 18">
            <a:extLst>
              <a:ext uri="{FF2B5EF4-FFF2-40B4-BE49-F238E27FC236}">
                <a16:creationId xmlns:a16="http://schemas.microsoft.com/office/drawing/2014/main" id="{80694793-F1BC-CD43-AE2C-A72EAF80AA73}"/>
              </a:ext>
            </a:extLst>
          </p:cNvPr>
          <p:cNvSpPr/>
          <p:nvPr/>
        </p:nvSpPr>
        <p:spPr>
          <a:xfrm>
            <a:off x="4458757" y="4644181"/>
            <a:ext cx="365891" cy="407194"/>
          </a:xfrm>
          <a:custGeom>
            <a:avLst/>
            <a:gdLst>
              <a:gd name="connsiteX0" fmla="*/ 553475 w 553475"/>
              <a:gd name="connsiteY0" fmla="*/ 598785 h 627360"/>
              <a:gd name="connsiteX1" fmla="*/ 453462 w 553475"/>
              <a:gd name="connsiteY1" fmla="*/ 12998 h 627360"/>
              <a:gd name="connsiteX2" fmla="*/ 10550 w 553475"/>
              <a:gd name="connsiteY2" fmla="*/ 227310 h 627360"/>
              <a:gd name="connsiteX3" fmla="*/ 182000 w 553475"/>
              <a:gd name="connsiteY3" fmla="*/ 627360 h 62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3475" h="627360">
                <a:moveTo>
                  <a:pt x="553475" y="598785"/>
                </a:moveTo>
                <a:cubicBezTo>
                  <a:pt x="548712" y="336847"/>
                  <a:pt x="543949" y="74910"/>
                  <a:pt x="453462" y="12998"/>
                </a:cubicBezTo>
                <a:cubicBezTo>
                  <a:pt x="362975" y="-48914"/>
                  <a:pt x="55794" y="124916"/>
                  <a:pt x="10550" y="227310"/>
                </a:cubicBezTo>
                <a:cubicBezTo>
                  <a:pt x="-34694" y="329704"/>
                  <a:pt x="73653" y="478532"/>
                  <a:pt x="182000" y="627360"/>
                </a:cubicBezTo>
              </a:path>
            </a:pathLst>
          </a:custGeom>
          <a:noFill/>
          <a:ln w="25400">
            <a:solidFill>
              <a:schemeClr val="tx1"/>
            </a:solidFill>
            <a:head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ED9DFF-6962-C047-B0CB-4006D49520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014" y="4612030"/>
            <a:ext cx="844158" cy="68462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A7CF92-0B47-3844-8CA5-3C21287D6525}"/>
              </a:ext>
            </a:extLst>
          </p:cNvPr>
          <p:cNvCxnSpPr>
            <a:cxnSpLocks/>
          </p:cNvCxnSpPr>
          <p:nvPr/>
        </p:nvCxnSpPr>
        <p:spPr>
          <a:xfrm>
            <a:off x="3292079" y="3225403"/>
            <a:ext cx="9578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3">
                <a:extLst>
                  <a:ext uri="{FF2B5EF4-FFF2-40B4-BE49-F238E27FC236}">
                    <a16:creationId xmlns:a16="http://schemas.microsoft.com/office/drawing/2014/main" id="{150A8AE2-7628-F04F-A666-237293AB41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9882" y="3034565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1" name="Rectangle 23">
                <a:extLst>
                  <a:ext uri="{FF2B5EF4-FFF2-40B4-BE49-F238E27FC236}">
                    <a16:creationId xmlns:a16="http://schemas.microsoft.com/office/drawing/2014/main" id="{150A8AE2-7628-F04F-A666-237293AB41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9882" y="3034565"/>
                <a:ext cx="567929" cy="407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3">
                <a:extLst>
                  <a:ext uri="{FF2B5EF4-FFF2-40B4-BE49-F238E27FC236}">
                    <a16:creationId xmlns:a16="http://schemas.microsoft.com/office/drawing/2014/main" id="{6A2DE673-DBE6-5F4F-BD7B-EE80CBF34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7076" y="2833768"/>
                <a:ext cx="1166219" cy="374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𝐸𝑛𝑐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e>
                            <m:sub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500" dirty="0">
                  <a:solidFill>
                    <a:srgbClr val="0432FF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2" name="Rectangle 23">
                <a:extLst>
                  <a:ext uri="{FF2B5EF4-FFF2-40B4-BE49-F238E27FC236}">
                    <a16:creationId xmlns:a16="http://schemas.microsoft.com/office/drawing/2014/main" id="{6A2DE673-DBE6-5F4F-BD7B-EE80CBF34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076" y="2833768"/>
                <a:ext cx="1166219" cy="374888"/>
              </a:xfrm>
              <a:prstGeom prst="rect">
                <a:avLst/>
              </a:prstGeom>
              <a:blipFill>
                <a:blip r:embed="rId6"/>
                <a:stretch>
                  <a:fillRect r="-21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72DF40-A7EC-8C4D-8C19-50A87B3F1342}"/>
              </a:ext>
            </a:extLst>
          </p:cNvPr>
          <p:cNvCxnSpPr>
            <a:cxnSpLocks/>
          </p:cNvCxnSpPr>
          <p:nvPr/>
        </p:nvCxnSpPr>
        <p:spPr>
          <a:xfrm>
            <a:off x="4842814" y="3225403"/>
            <a:ext cx="9578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DD5F7C6-05F0-DA42-B538-1C8050A70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0617" y="3034565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DD5F7C6-05F0-DA42-B538-1C8050A70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0617" y="3034565"/>
                <a:ext cx="567929" cy="4071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Rectangle 23">
                <a:extLst>
                  <a:ext uri="{FF2B5EF4-FFF2-40B4-BE49-F238E27FC236}">
                    <a16:creationId xmlns:a16="http://schemas.microsoft.com/office/drawing/2014/main" id="{9A1A9B6A-3651-B14B-8746-3A2C2781C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7811" y="2833768"/>
                <a:ext cx="1166219" cy="374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𝐸𝑛𝑐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e>
                            <m:sub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500" dirty="0">
                  <a:solidFill>
                    <a:srgbClr val="0432FF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5" name="Rectangle 23">
                <a:extLst>
                  <a:ext uri="{FF2B5EF4-FFF2-40B4-BE49-F238E27FC236}">
                    <a16:creationId xmlns:a16="http://schemas.microsoft.com/office/drawing/2014/main" id="{9A1A9B6A-3651-B14B-8746-3A2C2781C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7811" y="2833768"/>
                <a:ext cx="1166219" cy="374888"/>
              </a:xfrm>
              <a:prstGeom prst="rect">
                <a:avLst/>
              </a:prstGeom>
              <a:blipFill>
                <a:blip r:embed="rId8"/>
                <a:stretch>
                  <a:fillRect r="-10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67D214-490B-B643-A042-5DD387FC839B}"/>
              </a:ext>
            </a:extLst>
          </p:cNvPr>
          <p:cNvCxnSpPr>
            <a:cxnSpLocks/>
          </p:cNvCxnSpPr>
          <p:nvPr/>
        </p:nvCxnSpPr>
        <p:spPr>
          <a:xfrm>
            <a:off x="7967124" y="3225403"/>
            <a:ext cx="9578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E15CF58-BBC2-9542-B6EE-EB6FB491E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4927" y="3034565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21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E15CF58-BBC2-9542-B6EE-EB6FB491EA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24927" y="3034565"/>
                <a:ext cx="567929" cy="4071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9AF93FF7-1AC1-E946-9C6D-E730B1959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7111" y="2833768"/>
                <a:ext cx="1166219" cy="374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𝐸𝑛𝑐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e>
                            <m:sub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500" dirty="0">
                  <a:solidFill>
                    <a:srgbClr val="0432FF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28" name="Rectangle 23">
                <a:extLst>
                  <a:ext uri="{FF2B5EF4-FFF2-40B4-BE49-F238E27FC236}">
                    <a16:creationId xmlns:a16="http://schemas.microsoft.com/office/drawing/2014/main" id="{9AF93FF7-1AC1-E946-9C6D-E730B1959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67111" y="2833768"/>
                <a:ext cx="1166219" cy="374888"/>
              </a:xfrm>
              <a:prstGeom prst="rect">
                <a:avLst/>
              </a:prstGeom>
              <a:blipFill>
                <a:blip r:embed="rId10"/>
                <a:stretch>
                  <a:fillRect r="-1720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A43502-915F-C641-9C5C-38F1E805C9A7}"/>
              </a:ext>
            </a:extLst>
          </p:cNvPr>
          <p:cNvCxnSpPr>
            <a:cxnSpLocks/>
          </p:cNvCxnSpPr>
          <p:nvPr/>
        </p:nvCxnSpPr>
        <p:spPr>
          <a:xfrm>
            <a:off x="6368546" y="3243262"/>
            <a:ext cx="95780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86AC72F-624D-034E-B449-9FED381EE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349" y="2957202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1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86AC72F-624D-034E-B449-9FED381EE1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26349" y="2957202"/>
                <a:ext cx="567929" cy="4071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23">
                <a:extLst>
                  <a:ext uri="{FF2B5EF4-FFF2-40B4-BE49-F238E27FC236}">
                    <a16:creationId xmlns:a16="http://schemas.microsoft.com/office/drawing/2014/main" id="{6C1FDEB9-4732-0E40-A3AA-5A654E876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4338" y="2841848"/>
                <a:ext cx="1166219" cy="374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𝐸𝑛𝑐</m:t>
                          </m:r>
                        </m:e>
                        <m:sub>
                          <m:sSub>
                            <m:sSubPr>
                              <m:ctrlP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𝑝𝑘</m:t>
                              </m:r>
                            </m:e>
                            <m:sub>
                              <m:r>
                                <a:rPr lang="en-US" altLang="en-US" sz="15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𝑠𝑘</m:t>
                          </m:r>
                        </m:e>
                        <m:sub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500" dirty="0">
                  <a:solidFill>
                    <a:srgbClr val="0432FF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32" name="Rectangle 23">
                <a:extLst>
                  <a:ext uri="{FF2B5EF4-FFF2-40B4-BE49-F238E27FC236}">
                    <a16:creationId xmlns:a16="http://schemas.microsoft.com/office/drawing/2014/main" id="{6C1FDEB9-4732-0E40-A3AA-5A654E8767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4338" y="2841848"/>
                <a:ext cx="1166219" cy="374888"/>
              </a:xfrm>
              <a:prstGeom prst="rect">
                <a:avLst/>
              </a:prstGeom>
              <a:blipFill>
                <a:blip r:embed="rId12"/>
                <a:stretch>
                  <a:fillRect r="-10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EACF9FD0-6B24-1C4D-8ABB-E72570528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1479" y="4922889"/>
                <a:ext cx="567929" cy="4071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1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𝑠𝑘</m:t>
                      </m:r>
                    </m:oMath>
                  </m:oMathPara>
                </a14:m>
                <a:endParaRPr lang="en-US" altLang="en-US" sz="2100" dirty="0">
                  <a:solidFill>
                    <a:srgbClr val="000000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EACF9FD0-6B24-1C4D-8ABB-E72570528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1479" y="4922889"/>
                <a:ext cx="567929" cy="4071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23">
                <a:extLst>
                  <a:ext uri="{FF2B5EF4-FFF2-40B4-BE49-F238E27FC236}">
                    <a16:creationId xmlns:a16="http://schemas.microsoft.com/office/drawing/2014/main" id="{48F31A58-6904-9346-8C33-D8BACDB6A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8672" y="4579456"/>
                <a:ext cx="1166219" cy="3748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defTabSz="685800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𝐸𝑛𝑐</m:t>
                          </m:r>
                        </m:e>
                        <m:sub>
                          <m:r>
                            <a:rPr lang="en-US" altLang="en-US" sz="15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𝑠𝑘</m:t>
                      </m:r>
                      <m:r>
                        <a:rPr lang="en-US" altLang="en-US" sz="1500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500" dirty="0">
                  <a:solidFill>
                    <a:srgbClr val="0432FF"/>
                  </a:solidFill>
                  <a:latin typeface="Gill Sans MT" panose="020B0502020104020203" pitchFamily="34" charset="0"/>
                </a:endParaRPr>
              </a:p>
            </p:txBody>
          </p:sp>
        </mc:Choice>
        <mc:Fallback>
          <p:sp>
            <p:nvSpPr>
              <p:cNvPr id="34" name="Rectangle 23">
                <a:extLst>
                  <a:ext uri="{FF2B5EF4-FFF2-40B4-BE49-F238E27FC236}">
                    <a16:creationId xmlns:a16="http://schemas.microsoft.com/office/drawing/2014/main" id="{48F31A58-6904-9346-8C33-D8BACDB6A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8672" y="4579456"/>
                <a:ext cx="1166219" cy="3748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8460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3">
            <a:extLst>
              <a:ext uri="{FF2B5EF4-FFF2-40B4-BE49-F238E27FC236}">
                <a16:creationId xmlns:a16="http://schemas.microsoft.com/office/drawing/2014/main" id="{31207F93-95A3-E74C-B9B5-040603F29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899" y="2538504"/>
            <a:ext cx="7984152" cy="34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21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Partial Answer:</a:t>
            </a:r>
          </a:p>
        </p:txBody>
      </p:sp>
      <p:sp>
        <p:nvSpPr>
          <p:cNvPr id="39" name="Rectangle 23">
            <a:extLst>
              <a:ext uri="{FF2B5EF4-FFF2-40B4-BE49-F238E27FC236}">
                <a16:creationId xmlns:a16="http://schemas.microsoft.com/office/drawing/2014/main" id="{C8B26C52-9F14-3B4E-B46F-5C77FC1DB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0900" y="3210285"/>
            <a:ext cx="8606171" cy="79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[JLS’22]: Unbounded FHE from LPN + PRG in NC0 + Bilinear maps.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DDB44-26E8-D34A-B461-C8C3E4EC21EE}"/>
              </a:ext>
            </a:extLst>
          </p:cNvPr>
          <p:cNvSpPr/>
          <p:nvPr/>
        </p:nvSpPr>
        <p:spPr>
          <a:xfrm>
            <a:off x="1917682" y="2947018"/>
            <a:ext cx="771570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/>
            <a:r>
              <a:rPr lang="en-US" altLang="en-US" sz="21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[CLTV’15]: Unbounded FHE from indistinguishability obfuscation (IO).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EE561-0EF7-2449-B53A-408319A8E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6" y="4270629"/>
            <a:ext cx="2820591" cy="1173887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0316C5A8-16AF-8B40-9FD8-074B47ECD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5129" y="4505627"/>
            <a:ext cx="4961335" cy="536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3150" b="1" dirty="0">
                <a:solidFill>
                  <a:srgbClr val="5808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(Unbounded) FHE from LWE.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2813FE-BB88-6BC5-03B8-AD811FB2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-6399"/>
            <a:ext cx="9144000" cy="1275159"/>
          </a:xfrm>
          <a:solidFill>
            <a:srgbClr val="58080C"/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FHE Bounty #1: Why Circular Security?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6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3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EED7-BF9B-96DB-483B-7FA24A60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57252"/>
            <a:ext cx="9144000" cy="1275159"/>
          </a:xfrm>
          <a:solidFill>
            <a:srgbClr val="58080C"/>
          </a:solidFill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FHE Bounty #2:</a:t>
            </a:r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tangular Callout 29">
            <a:extLst>
              <a:ext uri="{FF2B5EF4-FFF2-40B4-BE49-F238E27FC236}">
                <a16:creationId xmlns:a16="http://schemas.microsoft.com/office/drawing/2014/main" id="{208A8FB7-0461-B946-AFFB-0045C8E97CB7}"/>
              </a:ext>
            </a:extLst>
          </p:cNvPr>
          <p:cNvSpPr/>
          <p:nvPr/>
        </p:nvSpPr>
        <p:spPr>
          <a:xfrm>
            <a:off x="1699022" y="1521865"/>
            <a:ext cx="3586164" cy="507908"/>
          </a:xfrm>
          <a:prstGeom prst="wedgeRectCallout">
            <a:avLst>
              <a:gd name="adj1" fmla="val 50328"/>
              <a:gd name="adj2" fmla="val -20734"/>
            </a:avLst>
          </a:prstGeom>
          <a:solidFill>
            <a:schemeClr val="bg1"/>
          </a:solidFill>
          <a:ln>
            <a:solidFill>
              <a:srgbClr val="580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/>
            <a:r>
              <a:rPr lang="en-US" altLang="en-US" sz="3300" b="1" dirty="0">
                <a:solidFill>
                  <a:srgbClr val="5808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Lattices/LWE?</a:t>
            </a:r>
            <a:endParaRPr lang="en-US" sz="1350" dirty="0">
              <a:solidFill>
                <a:srgbClr val="58080C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D46528-0735-564A-A3E2-A93AC24B9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86" y="3189919"/>
            <a:ext cx="3530300" cy="1489664"/>
          </a:xfrm>
          <a:prstGeom prst="rect">
            <a:avLst/>
          </a:prstGeom>
        </p:spPr>
      </p:pic>
      <p:sp>
        <p:nvSpPr>
          <p:cNvPr id="22" name="Rectangle 23">
            <a:extLst>
              <a:ext uri="{FF2B5EF4-FFF2-40B4-BE49-F238E27FC236}">
                <a16:creationId xmlns:a16="http://schemas.microsoft.com/office/drawing/2014/main" id="{6EBEA7EC-04A0-6E44-897F-E9D9088F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968" y="3471866"/>
            <a:ext cx="4961335" cy="859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3150" b="1" dirty="0">
                <a:solidFill>
                  <a:srgbClr val="5808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FHE from the Diffie-Hellman 	assumption.</a:t>
            </a:r>
          </a:p>
        </p:txBody>
      </p:sp>
    </p:spTree>
    <p:extLst>
      <p:ext uri="{BB962C8B-B14F-4D97-AF65-F5344CB8AC3E}">
        <p14:creationId xmlns:p14="http://schemas.microsoft.com/office/powerpoint/2010/main" val="19782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EDEED7-BF9B-96DB-483B-7FA24A60AB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524000" y="857252"/>
                <a:ext cx="9144000" cy="1275159"/>
              </a:xfrm>
              <a:solidFill>
                <a:srgbClr val="58080C"/>
              </a:solidFill>
            </p:spPr>
            <p:txBody>
              <a:bodyPr>
                <a:normAutofit fontScale="90000"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FHE Bounty #3:</a:t>
                </a:r>
                <a:b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alt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FHE </a:t>
                </a:r>
                <a14:m>
                  <m:oMath xmlns:m="http://schemas.openxmlformats.org/officeDocument/2006/math">
                    <m:r>
                      <a:rPr lang="en-US" alt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≈</m:t>
                    </m:r>
                  </m:oMath>
                </a14:m>
                <a:r>
                  <a:rPr lang="en-US" altLang="en-US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efficient as plaintext computation.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8EDEED7-BF9B-96DB-483B-7FA24A60AB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524000" y="857252"/>
                <a:ext cx="9144000" cy="1275159"/>
              </a:xfrm>
              <a:blipFill>
                <a:blip r:embed="rId3"/>
                <a:stretch>
                  <a:fillRect l="-2358" t="-30693" b="-39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23">
                <a:extLst>
                  <a:ext uri="{FF2B5EF4-FFF2-40B4-BE49-F238E27FC236}">
                    <a16:creationId xmlns:a16="http://schemas.microsoft.com/office/drawing/2014/main" id="{C0988FD5-9832-FC4A-A490-EEE4AC994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624" y="2293141"/>
                <a:ext cx="7875983" cy="5036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342900" indent="-342900" defTabSz="68580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2100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Advances in Rate-1 FHE</a:t>
                </a:r>
                <a:r>
                  <a:rPr lang="en-US" altLang="en-US" sz="21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  FHE with </a:t>
                </a:r>
                <a14:m>
                  <m:oMath xmlns:m="http://schemas.openxmlformats.org/officeDocument/2006/math">
                    <m:r>
                      <a:rPr lang="en-US" altLang="en-US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≈0</m:t>
                    </m:r>
                  </m:oMath>
                </a14:m>
                <a:r>
                  <a:rPr lang="en-US" altLang="en-US" sz="21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en-US" sz="2100" i="1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communication</a:t>
                </a:r>
                <a:r>
                  <a:rPr lang="en-US" altLang="en-US" sz="2100" dirty="0">
                    <a:solidFill>
                      <a:prstClr val="black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overhead</a:t>
                </a:r>
                <a:endParaRPr lang="en-US" altLang="en-US" sz="2100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Rectangle 23">
                <a:extLst>
                  <a:ext uri="{FF2B5EF4-FFF2-40B4-BE49-F238E27FC236}">
                    <a16:creationId xmlns:a16="http://schemas.microsoft.com/office/drawing/2014/main" id="{C0988FD5-9832-FC4A-A490-EEE4AC994F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7624" y="2293141"/>
                <a:ext cx="7875983" cy="503630"/>
              </a:xfrm>
              <a:prstGeom prst="rect">
                <a:avLst/>
              </a:prstGeom>
              <a:blipFill>
                <a:blip r:embed="rId4"/>
                <a:stretch>
                  <a:fillRect l="-644" b="-146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23">
                <a:extLst>
                  <a:ext uri="{FF2B5EF4-FFF2-40B4-BE49-F238E27FC236}">
                    <a16:creationId xmlns:a16="http://schemas.microsoft.com/office/drawing/2014/main" id="{1498820C-AF64-584F-BE05-2E11DCAA0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624" y="3064664"/>
                <a:ext cx="7875983" cy="8893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marL="342900" indent="-342900" defTabSz="685800" eaLnBrk="1" hangingPunct="1">
                  <a:buFont typeface="Arial" panose="020B0604020202020204" pitchFamily="34" charset="0"/>
                  <a:buChar char="•"/>
                </a:pPr>
                <a:r>
                  <a:rPr lang="en-US" altLang="en-US" sz="2100" b="1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Advances in Private Information Retrieval</a:t>
                </a:r>
                <a:r>
                  <a:rPr lang="en-US" altLang="en-US" sz="21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  <a:endParaRPr lang="en-US" altLang="en-US" sz="2100" i="1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57213" lvl="1" indent="0" defTabSz="685800" eaLnBrk="1" hangingPunct="1"/>
                <a:r>
                  <a:rPr lang="en-US" altLang="en-US" sz="21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PIR with server computation </a:t>
                </a:r>
                <a14:m>
                  <m:oMath xmlns:m="http://schemas.openxmlformats.org/officeDocument/2006/math">
                    <m:r>
                      <a:rPr lang="en-US" altLang="en-US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≈</m:t>
                    </m:r>
                  </m:oMath>
                </a14:m>
                <a:r>
                  <a:rPr lang="en-US" altLang="en-US" sz="21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1 add + 1 </a:t>
                </a:r>
                <a:r>
                  <a:rPr lang="en-US" altLang="en-US" sz="2100" dirty="0" err="1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mult</a:t>
                </a:r>
                <a:r>
                  <a:rPr lang="en-US" altLang="en-US" sz="2100" dirty="0">
                    <a:solidFill>
                      <a:srgbClr val="0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per database byte*</a:t>
                </a:r>
              </a:p>
            </p:txBody>
          </p:sp>
        </mc:Choice>
        <mc:Fallback>
          <p:sp>
            <p:nvSpPr>
              <p:cNvPr id="15" name="Rectangle 23">
                <a:extLst>
                  <a:ext uri="{FF2B5EF4-FFF2-40B4-BE49-F238E27FC236}">
                    <a16:creationId xmlns:a16="http://schemas.microsoft.com/office/drawing/2014/main" id="{1498820C-AF64-584F-BE05-2E11DCAA0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7624" y="3064664"/>
                <a:ext cx="7875983" cy="889397"/>
              </a:xfrm>
              <a:prstGeom prst="rect">
                <a:avLst/>
              </a:prstGeom>
              <a:blipFill>
                <a:blip r:embed="rId5"/>
                <a:stretch>
                  <a:fillRect l="-644" r="-322" b="-42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00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3">
            <a:extLst>
              <a:ext uri="{FF2B5EF4-FFF2-40B4-BE49-F238E27FC236}">
                <a16:creationId xmlns:a16="http://schemas.microsoft.com/office/drawing/2014/main" id="{8DDAFB99-4C75-8546-A96B-EC4E165C3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244" y="2711045"/>
            <a:ext cx="6411515" cy="353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[GH’19, BDGM’19]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89FBF010-1DDD-B440-8FD0-6BC8F88C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6268" y="3487459"/>
            <a:ext cx="1184078" cy="353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[CHHV’22]</a:t>
            </a:r>
          </a:p>
        </p:txBody>
      </p:sp>
      <p:sp>
        <p:nvSpPr>
          <p:cNvPr id="9" name="Rectangle 23">
            <a:extLst>
              <a:ext uri="{FF2B5EF4-FFF2-40B4-BE49-F238E27FC236}">
                <a16:creationId xmlns:a16="http://schemas.microsoft.com/office/drawing/2014/main" id="{E12AFF7B-E3A9-B943-9E6A-C6B7A5437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673" y="4318390"/>
            <a:ext cx="4570022" cy="1189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/>
            <a:r>
              <a:rPr lang="en-US" altLang="en-US" sz="2400" b="1" dirty="0">
                <a:solidFill>
                  <a:srgbClr val="58080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you solve truly practical FHE, you don’t need my $100(0). </a:t>
            </a:r>
            <a:r>
              <a:rPr lang="en-US" altLang="en-US" sz="2400" b="1" dirty="0">
                <a:solidFill>
                  <a:srgbClr val="58080C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</a:t>
            </a:r>
            <a:endParaRPr lang="en-US" altLang="en-US" sz="2400" b="1" dirty="0">
              <a:solidFill>
                <a:srgbClr val="58080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50B2A-B855-5444-B282-41401D4748A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7"/>
          <a:stretch/>
        </p:blipFill>
        <p:spPr>
          <a:xfrm>
            <a:off x="7215189" y="4058937"/>
            <a:ext cx="3485852" cy="194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8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B597C2DF-98F6-0249-919A-CE52F46E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53752"/>
            <a:ext cx="8686800" cy="1143000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891637"/>
                </a:solidFill>
              </a:rPr>
              <a:t>Unresolved Issue 1: Function Privacy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Arial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tick">
            <a:extLst>
              <a:ext uri="{FF2B5EF4-FFF2-40B4-BE49-F238E27FC236}">
                <a16:creationId xmlns:a16="http://schemas.microsoft.com/office/drawing/2014/main" id="{D2720F43-8A5F-D64C-92B6-435C6597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Cloud 06">
            <a:extLst>
              <a:ext uri="{FF2B5EF4-FFF2-40B4-BE49-F238E27FC236}">
                <a16:creationId xmlns:a16="http://schemas.microsoft.com/office/drawing/2014/main" id="{D92B0838-D8A9-1F4C-B679-B44172C9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TAC TowerDrive">
            <a:extLst>
              <a:ext uri="{FF2B5EF4-FFF2-40B4-BE49-F238E27FC236}">
                <a16:creationId xmlns:a16="http://schemas.microsoft.com/office/drawing/2014/main" id="{27087491-A201-C744-A83E-EED7003C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TAC TowerDrive">
            <a:extLst>
              <a:ext uri="{FF2B5EF4-FFF2-40B4-BE49-F238E27FC236}">
                <a16:creationId xmlns:a16="http://schemas.microsoft.com/office/drawing/2014/main" id="{F0CD8A15-8453-D64A-819E-E89DC716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 descr="TAC TowerDrive">
            <a:extLst>
              <a:ext uri="{FF2B5EF4-FFF2-40B4-BE49-F238E27FC236}">
                <a16:creationId xmlns:a16="http://schemas.microsoft.com/office/drawing/2014/main" id="{A6E32365-78FF-C74F-AEBD-8CEE7CBF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1" descr="TAC TowerDrive">
            <a:extLst>
              <a:ext uri="{FF2B5EF4-FFF2-40B4-BE49-F238E27FC236}">
                <a16:creationId xmlns:a16="http://schemas.microsoft.com/office/drawing/2014/main" id="{71557390-FDD0-ED4D-A028-725D27AF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9" descr="TAC TowerDrive">
            <a:extLst>
              <a:ext uri="{FF2B5EF4-FFF2-40B4-BE49-F238E27FC236}">
                <a16:creationId xmlns:a16="http://schemas.microsoft.com/office/drawing/2014/main" id="{65290650-6FB6-7444-9A32-165DC5F46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1">
            <a:extLst>
              <a:ext uri="{FF2B5EF4-FFF2-40B4-BE49-F238E27FC236}">
                <a16:creationId xmlns:a16="http://schemas.microsoft.com/office/drawing/2014/main" id="{E4B9D531-87A2-A941-886B-980C84C6A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E7720206-1B71-394D-9986-EDF52D1F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Server (the Cloud)</a:t>
            </a:r>
          </a:p>
        </p:txBody>
      </p:sp>
      <p:sp>
        <p:nvSpPr>
          <p:cNvPr id="13" name="Rectangle 58">
            <a:extLst>
              <a:ext uri="{FF2B5EF4-FFF2-40B4-BE49-F238E27FC236}">
                <a16:creationId xmlns:a16="http://schemas.microsoft.com/office/drawing/2014/main" id="{E6BE9B15-1A88-8B40-B108-0A9E5AA1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9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>
                <a:solidFill>
                  <a:srgbClr val="000000"/>
                </a:solidFill>
              </a:rPr>
              <a:t>Input: </a:t>
            </a:r>
            <a:r>
              <a:rPr lang="en-US" altLang="en-US" sz="24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14" name="Rectangle 59">
            <a:extLst>
              <a:ext uri="{FF2B5EF4-FFF2-40B4-BE49-F238E27FC236}">
                <a16:creationId xmlns:a16="http://schemas.microsoft.com/office/drawing/2014/main" id="{923530C6-1C02-6B45-863C-29B1DACF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id="{6D611F65-E5B6-5944-A666-C81B223AF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Line 73">
            <a:extLst>
              <a:ext uri="{FF2B5EF4-FFF2-40B4-BE49-F238E27FC236}">
                <a16:creationId xmlns:a16="http://schemas.microsoft.com/office/drawing/2014/main" id="{6D8EA497-FBB0-A242-9A82-D389070FA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576" y="3382888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74">
            <a:extLst>
              <a:ext uri="{FF2B5EF4-FFF2-40B4-BE49-F238E27FC236}">
                <a16:creationId xmlns:a16="http://schemas.microsoft.com/office/drawing/2014/main" id="{52890D4A-EA94-1E48-85DF-1F448FC7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376" y="2925688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</a:t>
            </a:r>
            <a:r>
              <a:rPr lang="en-US" altLang="en-US" sz="2400" dirty="0">
                <a:solidFill>
                  <a:srgbClr val="0000CC"/>
                </a:solidFill>
              </a:rPr>
              <a:t>, f(x))</a:t>
            </a:r>
          </a:p>
        </p:txBody>
      </p:sp>
      <p:sp>
        <p:nvSpPr>
          <p:cNvPr id="18" name="Rectangle 87">
            <a:extLst>
              <a:ext uri="{FF2B5EF4-FFF2-40B4-BE49-F238E27FC236}">
                <a16:creationId xmlns:a16="http://schemas.microsoft.com/office/drawing/2014/main" id="{C8AE3B0B-2A9B-7A48-9F48-1DAA5B01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19" name="Rectangle 63">
            <a:extLst>
              <a:ext uri="{FF2B5EF4-FFF2-40B4-BE49-F238E27FC236}">
                <a16:creationId xmlns:a16="http://schemas.microsoft.com/office/drawing/2014/main" id="{43C267AC-29D1-6C46-B0FC-43BCDD5706AD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509120"/>
            <a:ext cx="8316416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Security against the curious cloud = standard </a:t>
            </a:r>
            <a:r>
              <a:rPr lang="en-US" sz="2800" b="1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IND-security 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of secret-key encryption  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  <p:sp>
        <p:nvSpPr>
          <p:cNvPr id="20" name="Rectangle 63">
            <a:extLst>
              <a:ext uri="{FF2B5EF4-FFF2-40B4-BE49-F238E27FC236}">
                <a16:creationId xmlns:a16="http://schemas.microsoft.com/office/drawing/2014/main" id="{D67D99F3-C8A8-A64E-B014-FF2B35E3CCE3}"/>
              </a:ext>
            </a:extLst>
          </p:cNvPr>
          <p:cNvSpPr txBox="1">
            <a:spLocks noChangeArrowheads="1"/>
          </p:cNvSpPr>
          <p:nvPr/>
        </p:nvSpPr>
        <p:spPr>
          <a:xfrm>
            <a:off x="1955032" y="5661992"/>
            <a:ext cx="8568952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i="1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Security against a curious user?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46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Arial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tick">
            <a:extLst>
              <a:ext uri="{FF2B5EF4-FFF2-40B4-BE49-F238E27FC236}">
                <a16:creationId xmlns:a16="http://schemas.microsoft.com/office/drawing/2014/main" id="{D2720F43-8A5F-D64C-92B6-435C6597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Cloud 06">
            <a:extLst>
              <a:ext uri="{FF2B5EF4-FFF2-40B4-BE49-F238E27FC236}">
                <a16:creationId xmlns:a16="http://schemas.microsoft.com/office/drawing/2014/main" id="{D92B0838-D8A9-1F4C-B679-B44172C9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TAC TowerDrive">
            <a:extLst>
              <a:ext uri="{FF2B5EF4-FFF2-40B4-BE49-F238E27FC236}">
                <a16:creationId xmlns:a16="http://schemas.microsoft.com/office/drawing/2014/main" id="{27087491-A201-C744-A83E-EED7003C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TAC TowerDrive">
            <a:extLst>
              <a:ext uri="{FF2B5EF4-FFF2-40B4-BE49-F238E27FC236}">
                <a16:creationId xmlns:a16="http://schemas.microsoft.com/office/drawing/2014/main" id="{F0CD8A15-8453-D64A-819E-E89DC716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 descr="TAC TowerDrive">
            <a:extLst>
              <a:ext uri="{FF2B5EF4-FFF2-40B4-BE49-F238E27FC236}">
                <a16:creationId xmlns:a16="http://schemas.microsoft.com/office/drawing/2014/main" id="{A6E32365-78FF-C74F-AEBD-8CEE7CBF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1" descr="TAC TowerDrive">
            <a:extLst>
              <a:ext uri="{FF2B5EF4-FFF2-40B4-BE49-F238E27FC236}">
                <a16:creationId xmlns:a16="http://schemas.microsoft.com/office/drawing/2014/main" id="{71557390-FDD0-ED4D-A028-725D27AF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9" descr="TAC TowerDrive">
            <a:extLst>
              <a:ext uri="{FF2B5EF4-FFF2-40B4-BE49-F238E27FC236}">
                <a16:creationId xmlns:a16="http://schemas.microsoft.com/office/drawing/2014/main" id="{65290650-6FB6-7444-9A32-165DC5F46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1">
            <a:extLst>
              <a:ext uri="{FF2B5EF4-FFF2-40B4-BE49-F238E27FC236}">
                <a16:creationId xmlns:a16="http://schemas.microsoft.com/office/drawing/2014/main" id="{E4B9D531-87A2-A941-886B-980C84C6A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E7720206-1B71-394D-9986-EDF52D1F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Server (the Cloud)</a:t>
            </a:r>
          </a:p>
        </p:txBody>
      </p:sp>
      <p:sp>
        <p:nvSpPr>
          <p:cNvPr id="13" name="Rectangle 58">
            <a:extLst>
              <a:ext uri="{FF2B5EF4-FFF2-40B4-BE49-F238E27FC236}">
                <a16:creationId xmlns:a16="http://schemas.microsoft.com/office/drawing/2014/main" id="{E6BE9B15-1A88-8B40-B108-0A9E5AA1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19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>
                <a:solidFill>
                  <a:srgbClr val="000000"/>
                </a:solidFill>
              </a:rPr>
              <a:t>Input: </a:t>
            </a:r>
            <a:r>
              <a:rPr lang="en-US" altLang="en-US" sz="2400" b="1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14" name="Rectangle 59">
            <a:extLst>
              <a:ext uri="{FF2B5EF4-FFF2-40B4-BE49-F238E27FC236}">
                <a16:creationId xmlns:a16="http://schemas.microsoft.com/office/drawing/2014/main" id="{923530C6-1C02-6B45-863C-29B1DACF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325488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id="{6D611F65-E5B6-5944-A666-C81B223AF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Line 73">
            <a:extLst>
              <a:ext uri="{FF2B5EF4-FFF2-40B4-BE49-F238E27FC236}">
                <a16:creationId xmlns:a16="http://schemas.microsoft.com/office/drawing/2014/main" id="{6D8EA497-FBB0-A242-9A82-D389070FA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576" y="3382888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74">
            <a:extLst>
              <a:ext uri="{FF2B5EF4-FFF2-40B4-BE49-F238E27FC236}">
                <a16:creationId xmlns:a16="http://schemas.microsoft.com/office/drawing/2014/main" id="{52890D4A-EA94-1E48-85DF-1F448FC7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376" y="29256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(f(x))</a:t>
            </a:r>
          </a:p>
        </p:txBody>
      </p:sp>
      <p:sp>
        <p:nvSpPr>
          <p:cNvPr id="18" name="Rectangle 87">
            <a:extLst>
              <a:ext uri="{FF2B5EF4-FFF2-40B4-BE49-F238E27FC236}">
                <a16:creationId xmlns:a16="http://schemas.microsoft.com/office/drawing/2014/main" id="{C8AE3B0B-2A9B-7A48-9F48-1DAA5B01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19" name="Rectangle 63">
            <a:extLst>
              <a:ext uri="{FF2B5EF4-FFF2-40B4-BE49-F238E27FC236}">
                <a16:creationId xmlns:a16="http://schemas.microsoft.com/office/drawing/2014/main" id="{43C267AC-29D1-6C46-B0FC-43BCDD5706AD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221088"/>
            <a:ext cx="8316416" cy="14645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i="1" u="sng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Function Privacy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: </a:t>
            </a:r>
            <a:r>
              <a:rPr lang="en-US" sz="2800" dirty="0" err="1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Enc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(f(x)) reveals no more information (about f) than f(x).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FA89E33-3711-5D47-8251-D6A916F235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53752"/>
            <a:ext cx="8686800" cy="1143000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891637"/>
                </a:solidFill>
              </a:rPr>
              <a:t>Unresolved Issue 1: Function Privacy</a:t>
            </a:r>
          </a:p>
        </p:txBody>
      </p:sp>
      <p:sp>
        <p:nvSpPr>
          <p:cNvPr id="22" name="Rectangle 63">
            <a:extLst>
              <a:ext uri="{FF2B5EF4-FFF2-40B4-BE49-F238E27FC236}">
                <a16:creationId xmlns:a16="http://schemas.microsoft.com/office/drawing/2014/main" id="{9901662F-AB9D-4E40-8654-11B251A5CE02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5420816"/>
            <a:ext cx="8928992" cy="14645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Function privacy via noise-flooding (on the board)</a:t>
            </a:r>
            <a:endParaRPr lang="en-US" sz="2400" b="1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26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B597C2DF-98F6-0249-919A-CE52F46E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53752"/>
            <a:ext cx="8686800" cy="1143000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891637"/>
                </a:solidFill>
              </a:rPr>
              <a:t>Unresolved Issue 2: Malicious Client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Arial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tick">
            <a:extLst>
              <a:ext uri="{FF2B5EF4-FFF2-40B4-BE49-F238E27FC236}">
                <a16:creationId xmlns:a16="http://schemas.microsoft.com/office/drawing/2014/main" id="{D2720F43-8A5F-D64C-92B6-435C6597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Cloud 06">
            <a:extLst>
              <a:ext uri="{FF2B5EF4-FFF2-40B4-BE49-F238E27FC236}">
                <a16:creationId xmlns:a16="http://schemas.microsoft.com/office/drawing/2014/main" id="{D92B0838-D8A9-1F4C-B679-B44172C9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TAC TowerDrive">
            <a:extLst>
              <a:ext uri="{FF2B5EF4-FFF2-40B4-BE49-F238E27FC236}">
                <a16:creationId xmlns:a16="http://schemas.microsoft.com/office/drawing/2014/main" id="{27087491-A201-C744-A83E-EED7003C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TAC TowerDrive">
            <a:extLst>
              <a:ext uri="{FF2B5EF4-FFF2-40B4-BE49-F238E27FC236}">
                <a16:creationId xmlns:a16="http://schemas.microsoft.com/office/drawing/2014/main" id="{F0CD8A15-8453-D64A-819E-E89DC716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 descr="TAC TowerDrive">
            <a:extLst>
              <a:ext uri="{FF2B5EF4-FFF2-40B4-BE49-F238E27FC236}">
                <a16:creationId xmlns:a16="http://schemas.microsoft.com/office/drawing/2014/main" id="{A6E32365-78FF-C74F-AEBD-8CEE7CBF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1" descr="TAC TowerDrive">
            <a:extLst>
              <a:ext uri="{FF2B5EF4-FFF2-40B4-BE49-F238E27FC236}">
                <a16:creationId xmlns:a16="http://schemas.microsoft.com/office/drawing/2014/main" id="{71557390-FDD0-ED4D-A028-725D27AF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9" descr="TAC TowerDrive">
            <a:extLst>
              <a:ext uri="{FF2B5EF4-FFF2-40B4-BE49-F238E27FC236}">
                <a16:creationId xmlns:a16="http://schemas.microsoft.com/office/drawing/2014/main" id="{65290650-6FB6-7444-9A32-165DC5F46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1">
            <a:extLst>
              <a:ext uri="{FF2B5EF4-FFF2-40B4-BE49-F238E27FC236}">
                <a16:creationId xmlns:a16="http://schemas.microsoft.com/office/drawing/2014/main" id="{E4B9D531-87A2-A941-886B-980C84C6A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E7720206-1B71-394D-9986-EDF52D1F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Server (the Cloud)</a:t>
            </a:r>
          </a:p>
        </p:txBody>
      </p:sp>
      <p:sp>
        <p:nvSpPr>
          <p:cNvPr id="13" name="Rectangle 58">
            <a:extLst>
              <a:ext uri="{FF2B5EF4-FFF2-40B4-BE49-F238E27FC236}">
                <a16:creationId xmlns:a16="http://schemas.microsoft.com/office/drawing/2014/main" id="{E6BE9B15-1A88-8B40-B108-0A9E5AA1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776" y="1029816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Input: </a:t>
            </a:r>
            <a:r>
              <a:rPr lang="en-US" altLang="en-US" sz="2400" b="1" dirty="0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14" name="Rectangle 59">
            <a:extLst>
              <a:ext uri="{FF2B5EF4-FFF2-40B4-BE49-F238E27FC236}">
                <a16:creationId xmlns:a16="http://schemas.microsoft.com/office/drawing/2014/main" id="{923530C6-1C02-6B45-863C-29B1DACF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052736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id="{6D611F65-E5B6-5944-A666-C81B223AF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Line 73">
            <a:extLst>
              <a:ext uri="{FF2B5EF4-FFF2-40B4-BE49-F238E27FC236}">
                <a16:creationId xmlns:a16="http://schemas.microsoft.com/office/drawing/2014/main" id="{6D8EA497-FBB0-A242-9A82-D389070FA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576" y="3382888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74">
            <a:extLst>
              <a:ext uri="{FF2B5EF4-FFF2-40B4-BE49-F238E27FC236}">
                <a16:creationId xmlns:a16="http://schemas.microsoft.com/office/drawing/2014/main" id="{52890D4A-EA94-1E48-85DF-1F448FC7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376" y="29256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(f(x))</a:t>
            </a:r>
          </a:p>
        </p:txBody>
      </p:sp>
      <p:sp>
        <p:nvSpPr>
          <p:cNvPr id="18" name="Rectangle 87">
            <a:extLst>
              <a:ext uri="{FF2B5EF4-FFF2-40B4-BE49-F238E27FC236}">
                <a16:creationId xmlns:a16="http://schemas.microsoft.com/office/drawing/2014/main" id="{C8AE3B0B-2A9B-7A48-9F48-1DAA5B01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19" name="Rectangle 63">
            <a:extLst>
              <a:ext uri="{FF2B5EF4-FFF2-40B4-BE49-F238E27FC236}">
                <a16:creationId xmlns:a16="http://schemas.microsoft.com/office/drawing/2014/main" id="{43C267AC-29D1-6C46-B0FC-43BCDD5706AD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509120"/>
            <a:ext cx="8316416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Idea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: Use zero knowledge proofs.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C4BC37-9ECE-8049-A6E4-1B8F1587F27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7" b="57188"/>
          <a:stretch/>
        </p:blipFill>
        <p:spPr>
          <a:xfrm>
            <a:off x="2906346" y="1334616"/>
            <a:ext cx="635562" cy="8290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2AF3C6-77EF-374B-88D7-A776AD16004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80" b="57188"/>
          <a:stretch/>
        </p:blipFill>
        <p:spPr>
          <a:xfrm>
            <a:off x="2069403" y="1405880"/>
            <a:ext cx="626770" cy="8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35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>
            <a:extLst>
              <a:ext uri="{FF2B5EF4-FFF2-40B4-BE49-F238E27FC236}">
                <a16:creationId xmlns:a16="http://schemas.microsoft.com/office/drawing/2014/main" id="{B597C2DF-98F6-0249-919A-CE52F46E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53752"/>
            <a:ext cx="8686800" cy="1143000"/>
          </a:xfrm>
        </p:spPr>
        <p:txBody>
          <a:bodyPr/>
          <a:lstStyle/>
          <a:p>
            <a:r>
              <a:rPr lang="en-US" altLang="en-US" sz="3600" b="1" dirty="0">
                <a:solidFill>
                  <a:srgbClr val="891637"/>
                </a:solidFill>
              </a:rPr>
              <a:t>Unresolved Issue 3: Malicious Cloud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merican Typewriter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  <a:latin typeface="Arial"/>
                  <a:ea typeface="American Typewriter" charset="0"/>
                  <a:cs typeface="American Typewriter" charset="0"/>
                </a:endParaRPr>
              </a:p>
            </p:txBody>
          </p:sp>
        </mc:Choice>
        <mc:Fallback>
          <p:sp>
            <p:nvSpPr>
              <p:cNvPr id="3" name="Rectangle 63">
                <a:extLst>
                  <a:ext uri="{FF2B5EF4-FFF2-40B4-BE49-F238E27FC236}">
                    <a16:creationId xmlns:a16="http://schemas.microsoft.com/office/drawing/2014/main" id="{1B274E74-948A-494A-8A8B-FFF0B6D55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842" y="2924944"/>
                <a:ext cx="539552" cy="483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tick">
            <a:extLst>
              <a:ext uri="{FF2B5EF4-FFF2-40B4-BE49-F238E27FC236}">
                <a16:creationId xmlns:a16="http://schemas.microsoft.com/office/drawing/2014/main" id="{D2720F43-8A5F-D64C-92B6-435C6597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1935088"/>
            <a:ext cx="168116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3" descr="Cloud 06">
            <a:extLst>
              <a:ext uri="{FF2B5EF4-FFF2-40B4-BE49-F238E27FC236}">
                <a16:creationId xmlns:a16="http://schemas.microsoft.com/office/drawing/2014/main" id="{D92B0838-D8A9-1F4C-B679-B44172C9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176" y="1858889"/>
            <a:ext cx="2971800" cy="181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TAC TowerDrive">
            <a:extLst>
              <a:ext uri="{FF2B5EF4-FFF2-40B4-BE49-F238E27FC236}">
                <a16:creationId xmlns:a16="http://schemas.microsoft.com/office/drawing/2014/main" id="{27087491-A201-C744-A83E-EED7003C5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76" y="2262114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5" descr="TAC TowerDrive">
            <a:extLst>
              <a:ext uri="{FF2B5EF4-FFF2-40B4-BE49-F238E27FC236}">
                <a16:creationId xmlns:a16="http://schemas.microsoft.com/office/drawing/2014/main" id="{F0CD8A15-8453-D64A-819E-E89DC716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040" y="2285927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 descr="TAC TowerDrive">
            <a:extLst>
              <a:ext uri="{FF2B5EF4-FFF2-40B4-BE49-F238E27FC236}">
                <a16:creationId xmlns:a16="http://schemas.microsoft.com/office/drawing/2014/main" id="{A6E32365-78FF-C74F-AEBD-8CEE7CBF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576" y="2273227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31" descr="TAC TowerDrive">
            <a:extLst>
              <a:ext uri="{FF2B5EF4-FFF2-40B4-BE49-F238E27FC236}">
                <a16:creationId xmlns:a16="http://schemas.microsoft.com/office/drawing/2014/main" id="{71557390-FDD0-ED4D-A028-725D27AF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040" y="2262114"/>
            <a:ext cx="363537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9" descr="TAC TowerDrive">
            <a:extLst>
              <a:ext uri="{FF2B5EF4-FFF2-40B4-BE49-F238E27FC236}">
                <a16:creationId xmlns:a16="http://schemas.microsoft.com/office/drawing/2014/main" id="{65290650-6FB6-7444-9A32-165DC5F46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576" y="2239889"/>
            <a:ext cx="363538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1">
            <a:extLst>
              <a:ext uri="{FF2B5EF4-FFF2-40B4-BE49-F238E27FC236}">
                <a16:creationId xmlns:a16="http://schemas.microsoft.com/office/drawing/2014/main" id="{E4B9D531-87A2-A941-886B-980C84C6A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176" y="3611488"/>
            <a:ext cx="106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12" name="Rectangle 42">
            <a:extLst>
              <a:ext uri="{FF2B5EF4-FFF2-40B4-BE49-F238E27FC236}">
                <a16:creationId xmlns:a16="http://schemas.microsoft.com/office/drawing/2014/main" id="{E7720206-1B71-394D-9986-EDF52D1FC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4976" y="3611488"/>
            <a:ext cx="2971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>
                <a:solidFill>
                  <a:srgbClr val="000000"/>
                </a:solidFill>
              </a:rPr>
              <a:t>Server (the Cloud)</a:t>
            </a:r>
          </a:p>
        </p:txBody>
      </p:sp>
      <p:sp>
        <p:nvSpPr>
          <p:cNvPr id="13" name="Rectangle 58">
            <a:extLst>
              <a:ext uri="{FF2B5EF4-FFF2-40B4-BE49-F238E27FC236}">
                <a16:creationId xmlns:a16="http://schemas.microsoft.com/office/drawing/2014/main" id="{E6BE9B15-1A88-8B40-B108-0A9E5AA1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776" y="1029816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Input: </a:t>
            </a:r>
            <a:r>
              <a:rPr lang="en-US" altLang="en-US" sz="2400" b="1" dirty="0">
                <a:solidFill>
                  <a:srgbClr val="0000CC"/>
                </a:solidFill>
              </a:rPr>
              <a:t>x</a:t>
            </a:r>
          </a:p>
        </p:txBody>
      </p:sp>
      <p:sp>
        <p:nvSpPr>
          <p:cNvPr id="14" name="Rectangle 59">
            <a:extLst>
              <a:ext uri="{FF2B5EF4-FFF2-40B4-BE49-F238E27FC236}">
                <a16:creationId xmlns:a16="http://schemas.microsoft.com/office/drawing/2014/main" id="{923530C6-1C02-6B45-863C-29B1DACF0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576" y="1052736"/>
            <a:ext cx="1828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Function: </a:t>
            </a:r>
            <a:r>
              <a:rPr lang="en-US" altLang="en-US" sz="2400" b="1" dirty="0">
                <a:solidFill>
                  <a:srgbClr val="0000CC"/>
                </a:solidFill>
              </a:rPr>
              <a:t>f</a:t>
            </a:r>
          </a:p>
        </p:txBody>
      </p:sp>
      <p:sp>
        <p:nvSpPr>
          <p:cNvPr id="15" name="Line 69">
            <a:extLst>
              <a:ext uri="{FF2B5EF4-FFF2-40B4-BE49-F238E27FC236}">
                <a16:creationId xmlns:a16="http://schemas.microsoft.com/office/drawing/2014/main" id="{6D611F65-E5B6-5944-A666-C81B223AF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0776" y="2544688"/>
            <a:ext cx="220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6" name="Line 73">
            <a:extLst>
              <a:ext uri="{FF2B5EF4-FFF2-40B4-BE49-F238E27FC236}">
                <a16:creationId xmlns:a16="http://schemas.microsoft.com/office/drawing/2014/main" id="{6D8EA497-FBB0-A242-9A82-D389070FA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4576" y="3382888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7" name="Rectangle 74">
            <a:extLst>
              <a:ext uri="{FF2B5EF4-FFF2-40B4-BE49-F238E27FC236}">
                <a16:creationId xmlns:a16="http://schemas.microsoft.com/office/drawing/2014/main" id="{52890D4A-EA94-1E48-85DF-1F448FC73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9376" y="2925688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(f(x))</a:t>
            </a:r>
          </a:p>
        </p:txBody>
      </p:sp>
      <p:sp>
        <p:nvSpPr>
          <p:cNvPr id="18" name="Rectangle 87">
            <a:extLst>
              <a:ext uri="{FF2B5EF4-FFF2-40B4-BE49-F238E27FC236}">
                <a16:creationId xmlns:a16="http://schemas.microsoft.com/office/drawing/2014/main" id="{C8AE3B0B-2A9B-7A48-9F48-1DAA5B01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776" y="2011288"/>
            <a:ext cx="1641475" cy="53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defRPr/>
            </a:pPr>
            <a:r>
              <a:rPr lang="en-US" altLang="en-US" sz="2400" b="1" dirty="0" err="1">
                <a:solidFill>
                  <a:srgbClr val="0000CC"/>
                </a:solidFill>
              </a:rPr>
              <a:t>Enc</a:t>
            </a:r>
            <a:r>
              <a:rPr lang="en-US" altLang="en-US" sz="2400" dirty="0">
                <a:solidFill>
                  <a:srgbClr val="0000CC"/>
                </a:solidFill>
              </a:rPr>
              <a:t>(</a:t>
            </a:r>
            <a:r>
              <a:rPr lang="en-US" altLang="en-US" sz="2400" dirty="0" err="1">
                <a:solidFill>
                  <a:srgbClr val="0000CC"/>
                </a:solidFill>
              </a:rPr>
              <a:t>sk,x</a:t>
            </a:r>
            <a:r>
              <a:rPr lang="en-US" altLang="en-US" sz="2400" dirty="0">
                <a:solidFill>
                  <a:srgbClr val="0000CC"/>
                </a:solidFill>
              </a:rPr>
              <a:t>) </a:t>
            </a:r>
          </a:p>
        </p:txBody>
      </p:sp>
      <p:sp>
        <p:nvSpPr>
          <p:cNvPr id="19" name="Rectangle 63">
            <a:extLst>
              <a:ext uri="{FF2B5EF4-FFF2-40B4-BE49-F238E27FC236}">
                <a16:creationId xmlns:a16="http://schemas.microsoft.com/office/drawing/2014/main" id="{43C267AC-29D1-6C46-B0FC-43BCDD5706AD}"/>
              </a:ext>
            </a:extLst>
          </p:cNvPr>
          <p:cNvSpPr txBox="1">
            <a:spLocks noChangeArrowheads="1"/>
          </p:cNvSpPr>
          <p:nvPr/>
        </p:nvSpPr>
        <p:spPr>
          <a:xfrm>
            <a:off x="1919536" y="4509120"/>
            <a:ext cx="8316416" cy="115138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800" b="1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Idea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Cambria Math" panose="02040503050406030204" pitchFamily="18" charset="0"/>
                <a:cs typeface="American Typewriter" charset="0"/>
              </a:rPr>
              <a:t>: “Succinct Interactive Proofs”. [Kilian92]</a:t>
            </a:r>
            <a:endParaRPr lang="en-US" sz="2400" dirty="0">
              <a:solidFill>
                <a:srgbClr val="000000"/>
              </a:solidFill>
              <a:latin typeface="Arial"/>
              <a:ea typeface="American Typewriter" charset="0"/>
              <a:cs typeface="American Typewriter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C4BC37-9ECE-8049-A6E4-1B8F1587F27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87" b="57188"/>
          <a:stretch/>
        </p:blipFill>
        <p:spPr>
          <a:xfrm>
            <a:off x="8456258" y="1444154"/>
            <a:ext cx="635562" cy="8290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2AF3C6-77EF-374B-88D7-A776AD16004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880" b="57188"/>
          <a:stretch/>
        </p:blipFill>
        <p:spPr>
          <a:xfrm>
            <a:off x="7619315" y="1515418"/>
            <a:ext cx="626770" cy="8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1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26667</TotalTime>
  <Words>2573</Words>
  <Application>Microsoft Macintosh PowerPoint</Application>
  <PresentationFormat>Widescreen</PresentationFormat>
  <Paragraphs>453</Paragraphs>
  <Slides>41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Gulim</vt:lpstr>
      <vt:lpstr>New York</vt:lpstr>
      <vt:lpstr>Aptos</vt:lpstr>
      <vt:lpstr>Aptos Display</vt:lpstr>
      <vt:lpstr>Arial</vt:lpstr>
      <vt:lpstr>Calibri</vt:lpstr>
      <vt:lpstr>Cambria Math</vt:lpstr>
      <vt:lpstr>Comic Sans MS</vt:lpstr>
      <vt:lpstr>Gill Sans MT</vt:lpstr>
      <vt:lpstr>Office Theme</vt:lpstr>
      <vt:lpstr>Purdue CS555: Cryptography Lecture 23   https://65610.csail.mit.edu/2024/lec/l08-fhe.pdf</vt:lpstr>
      <vt:lpstr>OWF and PRG</vt:lpstr>
      <vt:lpstr>Basic (Secret-key) Encryption</vt:lpstr>
      <vt:lpstr>Homomorphic Encryption</vt:lpstr>
      <vt:lpstr>Application 1. Secure Outsourcing</vt:lpstr>
      <vt:lpstr>Application 2. Secure 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Aside: Binary Decomposition</vt:lpstr>
      <vt:lpstr>PowerPoint Presentation</vt:lpstr>
      <vt:lpstr>PowerPoint Presentation</vt:lpstr>
      <vt:lpstr>Side Note: Public Key GSW</vt:lpstr>
      <vt:lpstr>Homomorphic Circuit Evaluation</vt:lpstr>
      <vt:lpstr>PowerPoint Presentation</vt:lpstr>
      <vt:lpstr>PowerPoint Presentation</vt:lpstr>
      <vt:lpstr>Bootstrapping: How</vt:lpstr>
      <vt:lpstr>Bootstrapping, Concretely</vt:lpstr>
      <vt:lpstr>Bootstrapping, Concretely</vt:lpstr>
      <vt:lpstr>Wrap Up: Bootstrapping</vt:lpstr>
      <vt:lpstr>Wrap Up: Bootstrapping</vt:lpstr>
      <vt:lpstr>Wrap Up: Bootstrapping</vt:lpstr>
      <vt:lpstr>Major Open Problem</vt:lpstr>
      <vt:lpstr>Subsequent Work: FHE in Practice</vt:lpstr>
      <vt:lpstr>FHE Bounty #1: </vt:lpstr>
      <vt:lpstr>FHE Bounty #1: Why Circular Security? </vt:lpstr>
      <vt:lpstr>FHE Bounty #2: </vt:lpstr>
      <vt:lpstr>FHE Bounty #3: FHE ≈ as efficient as plaintext computation.</vt:lpstr>
      <vt:lpstr>Unresolved Issue 1: Function Privacy</vt:lpstr>
      <vt:lpstr>Unresolved Issue 1: Function Privacy</vt:lpstr>
      <vt:lpstr>Unresolved Issue 2: Malicious Client</vt:lpstr>
      <vt:lpstr>Unresolved Issue 3: Malicious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CS555: Cryptography Lecture 3 </dc:title>
  <dc:creator>Hanshen Xiao</dc:creator>
  <cp:lastModifiedBy>Hanshen Xiao</cp:lastModifiedBy>
  <cp:revision>30</cp:revision>
  <dcterms:created xsi:type="dcterms:W3CDTF">2025-08-25T19:13:43Z</dcterms:created>
  <dcterms:modified xsi:type="dcterms:W3CDTF">2025-11-18T23:32:02Z</dcterms:modified>
</cp:coreProperties>
</file>